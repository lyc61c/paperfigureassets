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39f0f26af84db6" /><Relationship Type="http://schemas.openxmlformats.org/officeDocument/2006/relationships/extended-properties" Target="/docProps/app.xml" Id="Rec09eaa402c740ac" /><Relationship Type="http://schemas.openxmlformats.org/officeDocument/2006/relationships/officeDocument" Target="/ppt/presentation.xml" Id="R591ab8aa67d147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07f560c8e5458d"/>
  </p:sldMasterIdLst>
  <p:notesMasterIdLst>
    <p:notesMasterId xmlns:r="http://schemas.openxmlformats.org/officeDocument/2006/relationships" r:id="Rb605b93ae9ce492d"/>
  </p:notesMasterIdLst>
  <p:sldIdLst>
    <p:sldId xmlns:r="http://schemas.openxmlformats.org/officeDocument/2006/relationships" id="256" r:id="Rfef961f5aeb84718"/>
  </p:sldIdLst>
  <p:sldSz cx="15887700" cy="5486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fe399fa640450d" /><Relationship Type="http://schemas.openxmlformats.org/officeDocument/2006/relationships/slideMaster" Target="/ppt/slideMasters/slideMaster1.xml" Id="R4c07f560c8e5458d" /><Relationship Type="http://schemas.openxmlformats.org/officeDocument/2006/relationships/notesMaster" Target="/ppt/notesMasters/notesMaster1.xml" Id="Rb605b93ae9ce492d" /><Relationship Type="http://schemas.openxmlformats.org/officeDocument/2006/relationships/presProps" Target="/ppt/presProps.xml" Id="R56129c65106a47c1" /><Relationship Type="http://schemas.openxmlformats.org/officeDocument/2006/relationships/tableStyles" Target="/ppt/tableStyles.xml" Id="R45fa2f3530b34350" /><Relationship Type="http://schemas.openxmlformats.org/officeDocument/2006/relationships/slide" Target="/ppt/slides/slide1.xml" Id="Rfef961f5aeb847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00b97628864d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618f6756764f4f" /><Relationship Type="http://schemas.openxmlformats.org/officeDocument/2006/relationships/notesMaster" Target="/ppt/notesMasters/notesMaster1.xml" Id="Ra4917cd0753c48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GPT-4o evaluation pipeline</a:t>
            </a:r>
          </a:p>
          <a:p xmlns:a="http://schemas.openxmlformats.org/drawingml/2006/main">
            <a:r>
              <a:t>Source: https://arxiv.org/abs/2410.09732v2</a:t>
            </a:r>
          </a:p>
          <a:p xmlns:a="http://schemas.openxmlformats.org/drawingml/2006/main">
            <a:r>
              <a:t>Approved image: fig12_gpt4o_evaluation_pipeline.png; SHA-256: 501a6e99fcbd2c6e6c7982e5cb51557cad5112343f9ae88684af0dfa96752938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(7), whose internal pixels are not editable.</a:t>
            </a:r>
          </a:p>
          <a:p xmlns:a="http://schemas.openxmlformats.org/drawingml/2006/main">
            <a:r>
              <a:t>Font substitution: source PDF families mapped to Times New Roman, Calibri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82b7160b9b416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97bf36fa7e4a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622fe73c18411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2250ff4f5744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d23590d343487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e5256c0dff49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92FA66-86A1-4AA7-A7DB-19F9F86D14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88770" y="2072640"/>
            <a:ext cx="1271016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8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BEBF665-C68A-4157-A126-3E7192F21A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83155" y="3017520"/>
            <a:ext cx="1112139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6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FF6BA52-E5EE-4B55-B309-4DDB076AE9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88770" y="2286000"/>
            <a:ext cx="127101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3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29140E-B26A-4343-9A42-183129A801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3683" y="426720"/>
            <a:ext cx="14100334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D6550F2-3FD8-4E8D-89BF-19DF2C1ACC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3683" y="1524000"/>
            <a:ext cx="14100334" cy="341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28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1pPr>
            <a:lvl2pPr marL="4267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2pPr>
            <a:lvl3pPr marL="6705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3pPr>
            <a:lvl4pPr marL="9144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4pPr>
            <a:lvl5pPr marL="115824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5pPr>
            <a:lvl6pPr marL="14020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6pPr>
            <a:lvl7pPr marL="16459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7pPr>
            <a:lvl8pPr marL="18897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8pPr>
            <a:lvl9pPr marL="21336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DD2B0D-61D9-47E9-A676-CE1876056A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3683" y="426720"/>
            <a:ext cx="14100334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B4E9A0-FB9F-40B1-8961-020E03C8FA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3683" y="1524000"/>
            <a:ext cx="6553676" cy="341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28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1pPr>
            <a:lvl2pPr marL="4267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2pPr>
            <a:lvl3pPr marL="6705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3pPr>
            <a:lvl4pPr marL="9144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4pPr>
            <a:lvl5pPr marL="115824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5pPr>
            <a:lvl6pPr marL="14020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6pPr>
            <a:lvl7pPr marL="16459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7pPr>
            <a:lvl8pPr marL="18897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8pPr>
            <a:lvl9pPr marL="21336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3098E9D-EF03-47B6-822C-1123C998F2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40341" y="1524000"/>
            <a:ext cx="6553676" cy="341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28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1pPr>
            <a:lvl2pPr marL="4267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2pPr>
            <a:lvl3pPr marL="6705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3pPr>
            <a:lvl4pPr marL="9144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4pPr>
            <a:lvl5pPr marL="115824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5pPr>
            <a:lvl6pPr marL="14020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6pPr>
            <a:lvl7pPr marL="16459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7pPr>
            <a:lvl8pPr marL="18897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8pPr>
            <a:lvl9pPr marL="21336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A6FB41-10AC-4F7A-B979-16E6284B52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3683" y="426720"/>
            <a:ext cx="14100334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3D036B-A233-463D-8CAA-31FC1E746C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3683" y="1524000"/>
            <a:ext cx="6553676" cy="341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28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1pPr>
            <a:lvl2pPr marL="4267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2pPr>
            <a:lvl3pPr marL="6705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3pPr>
            <a:lvl4pPr marL="9144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4pPr>
            <a:lvl5pPr marL="115824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5pPr>
            <a:lvl6pPr marL="14020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6pPr>
            <a:lvl7pPr marL="16459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7pPr>
            <a:lvl8pPr marL="18897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8pPr>
            <a:lvl9pPr marL="21336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48846bcb304c33" /><Relationship Type="http://schemas.openxmlformats.org/officeDocument/2006/relationships/slideLayout" Target="/ppt/slideLayouts/slideLayout1.xml" Id="Rc51c42d7b44e4c9d" /><Relationship Type="http://schemas.openxmlformats.org/officeDocument/2006/relationships/slideLayout" Target="/ppt/slideLayouts/slideLayout2.xml" Id="Rd6cb02be5f5d4e19" /><Relationship Type="http://schemas.openxmlformats.org/officeDocument/2006/relationships/slideLayout" Target="/ppt/slideLayouts/slideLayout3.xml" Id="R4533a21a96eb4212" /><Relationship Type="http://schemas.openxmlformats.org/officeDocument/2006/relationships/slideLayout" Target="/ppt/slideLayouts/slideLayout4.xml" Id="R3e0610013c1f4144" /><Relationship Type="http://schemas.openxmlformats.org/officeDocument/2006/relationships/slideLayout" Target="/ppt/slideLayouts/slideLayout5.xml" Id="R7a5f59779c824cd7" /><Relationship Type="http://schemas.openxmlformats.org/officeDocument/2006/relationships/slideLayout" Target="/ppt/slideLayouts/slideLayout6.xml" Id="R7efcc7bb070c42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1c42d7b44e4c9d"/>
    <p:sldLayoutId xmlns:r="http://schemas.openxmlformats.org/officeDocument/2006/relationships" id="2147483650" r:id="Rd6cb02be5f5d4e19"/>
    <p:sldLayoutId xmlns:r="http://schemas.openxmlformats.org/officeDocument/2006/relationships" id="2147483651" r:id="R4533a21a96eb4212"/>
    <p:sldLayoutId xmlns:r="http://schemas.openxmlformats.org/officeDocument/2006/relationships" id="2147483652" r:id="R3e0610013c1f4144"/>
    <p:sldLayoutId xmlns:r="http://schemas.openxmlformats.org/officeDocument/2006/relationships" id="2147483653" r:id="R7a5f59779c824cd7"/>
    <p:sldLayoutId xmlns:r="http://schemas.openxmlformats.org/officeDocument/2006/relationships" id="2147483654" r:id="R7efcc7bb070c42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d205cb88364716" /><Relationship Type="http://schemas.openxmlformats.org/officeDocument/2006/relationships/image" Target="/ppt/media/image.png" Id="R5e6f864941394f5d" /><Relationship Type="http://schemas.openxmlformats.org/officeDocument/2006/relationships/image" Target="/ppt/media/image2.png" Id="R3fc8f1a6ea3b4377" /><Relationship Type="http://schemas.openxmlformats.org/officeDocument/2006/relationships/image" Target="/ppt/media/image3.png" Id="R4621941231b74074" /><Relationship Type="http://schemas.openxmlformats.org/officeDocument/2006/relationships/image" Target="/ppt/media/image4.png" Id="Rd79ff1a0b7064630" /><Relationship Type="http://schemas.openxmlformats.org/officeDocument/2006/relationships/image" Target="/ppt/media/image5.png" Id="R132da69015f740bb" /><Relationship Type="http://schemas.openxmlformats.org/officeDocument/2006/relationships/image" Target="/ppt/media/image6.png" Id="R109101a2153b4228" /><Relationship Type="http://schemas.openxmlformats.org/officeDocument/2006/relationships/image" Target="/ppt/media/image7.png" Id="Rc04d8f3481864dc5" /><Relationship Type="http://schemas.openxmlformats.org/officeDocument/2006/relationships/notesSlide" Target="/ppt/notesSlides/notesSlide1.xml" Id="R88ce250a44fa48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Task and rubric panel">
            <a:extLst xmlns:a="http://schemas.openxmlformats.org/drawingml/2006/main">
              <a:ext uri="{FF2B5EF4-FFF2-40B4-BE49-F238E27FC236}">
                <a16:creationId xmlns:a16="http://schemas.microsoft.com/office/drawing/2014/main" id="{49E2037C-2E20-41DF-9859-178F5BCC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3514725" cy="5219700"/>
          </a:xfrm>
          <a:custGeom xmlns:a="http://schemas.openxmlformats.org/drawingml/2006/main">
            <a:pathLst>
              <a:path w="3514725" h="5219700">
                <a:moveTo>
                  <a:pt x="161925" y="0"/>
                </a:moveTo>
                <a:lnTo>
                  <a:pt x="3352800" y="0"/>
                </a:lnTo>
                <a:cubicBezTo>
                  <a:pt x="3442229" y="0"/>
                  <a:pt x="3514725" y="72496"/>
                  <a:pt x="3514725" y="161925"/>
                </a:cubicBezTo>
                <a:lnTo>
                  <a:pt x="3514725" y="5057775"/>
                </a:lnTo>
                <a:cubicBezTo>
                  <a:pt x="3514725" y="5147204"/>
                  <a:pt x="3442229" y="5219700"/>
                  <a:pt x="3352800" y="5219700"/>
                </a:cubicBezTo>
                <a:lnTo>
                  <a:pt x="161925" y="5219700"/>
                </a:lnTo>
                <a:cubicBezTo>
                  <a:pt x="72496" y="5219700"/>
                  <a:pt x="0" y="5147204"/>
                  <a:pt x="0" y="5057775"/>
                </a:cubicBezTo>
                <a:lnTo>
                  <a:pt x="0" y="161925"/>
                </a:lnTo>
                <a:cubicBezTo>
                  <a:pt x="0" y="72496"/>
                  <a:pt x="72496" y="0"/>
                  <a:pt x="161925" y="0"/>
                </a:cubicBezTo>
                <a:close/>
              </a:path>
            </a:pathLst>
          </a:custGeom>
          <a:solidFill xmlns:a="http://schemas.openxmlformats.org/drawingml/2006/main">
            <a:srgbClr val="FFF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valuator pipeline panel">
            <a:extLst xmlns:a="http://schemas.openxmlformats.org/drawingml/2006/main">
              <a:ext uri="{FF2B5EF4-FFF2-40B4-BE49-F238E27FC236}">
                <a16:creationId xmlns:a16="http://schemas.microsoft.com/office/drawing/2014/main" id="{AE096971-3F87-4B43-B153-92C38F35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3350"/>
            <a:ext cx="6934200" cy="5219700"/>
          </a:xfrm>
          <a:custGeom xmlns:a="http://schemas.openxmlformats.org/drawingml/2006/main">
            <a:pathLst>
              <a:path w="6934200" h="5219700">
                <a:moveTo>
                  <a:pt x="209550" y="0"/>
                </a:moveTo>
                <a:lnTo>
                  <a:pt x="6724650" y="0"/>
                </a:lnTo>
                <a:cubicBezTo>
                  <a:pt x="6840381" y="0"/>
                  <a:pt x="6934200" y="93819"/>
                  <a:pt x="6934200" y="209550"/>
                </a:cubicBezTo>
                <a:lnTo>
                  <a:pt x="6934200" y="5010150"/>
                </a:lnTo>
                <a:cubicBezTo>
                  <a:pt x="6934200" y="5125881"/>
                  <a:pt x="6840381" y="5219700"/>
                  <a:pt x="6724650" y="5219700"/>
                </a:cubicBezTo>
                <a:lnTo>
                  <a:pt x="209550" y="5219700"/>
                </a:lnTo>
                <a:cubicBezTo>
                  <a:pt x="93819" y="5219700"/>
                  <a:pt x="0" y="5125881"/>
                  <a:pt x="0" y="50101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 xmlns:a="http://schemas.openxmlformats.org/drawingml/2006/main">
            <a:srgbClr val="FBF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tailed evaluation feedback panel">
            <a:extLst xmlns:a="http://schemas.openxmlformats.org/drawingml/2006/main">
              <a:ext uri="{FF2B5EF4-FFF2-40B4-BE49-F238E27FC236}">
                <a16:creationId xmlns:a16="http://schemas.microsoft.com/office/drawing/2014/main" id="{F0E3B2D1-0F42-4EE5-913C-2BCDE21C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333625"/>
            <a:ext cx="5000625" cy="3028950"/>
          </a:xfrm>
          <a:custGeom xmlns:a="http://schemas.openxmlformats.org/drawingml/2006/main">
            <a:pathLst>
              <a:path w="5000625" h="3028950">
                <a:moveTo>
                  <a:pt x="142875" y="0"/>
                </a:moveTo>
                <a:lnTo>
                  <a:pt x="4857750" y="0"/>
                </a:lnTo>
                <a:cubicBezTo>
                  <a:pt x="4936658" y="0"/>
                  <a:pt x="5000625" y="63967"/>
                  <a:pt x="5000625" y="142875"/>
                </a:cubicBezTo>
                <a:lnTo>
                  <a:pt x="5000625" y="2886075"/>
                </a:lnTo>
                <a:cubicBezTo>
                  <a:pt x="5000625" y="2964983"/>
                  <a:pt x="4936658" y="3028950"/>
                  <a:pt x="4857750" y="3028950"/>
                </a:cubicBezTo>
                <a:lnTo>
                  <a:pt x="142875" y="3028950"/>
                </a:lnTo>
                <a:cubicBezTo>
                  <a:pt x="63967" y="3028950"/>
                  <a:pt x="0" y="2964983"/>
                  <a:pt x="0" y="28860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DCAB5-138E-46B8-8089-4003FCB72B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f864941394f5d"/>
          <a:stretch xmlns:a="http://schemas.openxmlformats.org/drawingml/2006/main"/>
        </p:blipFill>
        <p:spPr>
          <a:xfrm xmlns:a="http://schemas.openxmlformats.org/drawingml/2006/main">
            <a:off x="11058525" y="104775"/>
            <a:ext cx="1914525" cy="19145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6A710-CC58-4B18-8AD8-AED185A37C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8f1a6ea3b4377"/>
          <a:stretch xmlns:a="http://schemas.openxmlformats.org/drawingml/2006/main"/>
        </p:blipFill>
        <p:spPr>
          <a:xfrm xmlns:a="http://schemas.openxmlformats.org/drawingml/2006/main">
            <a:off x="13430250" y="104775"/>
            <a:ext cx="1905000" cy="1914525"/>
          </a:xfrm>
          <a:prstGeom xmlns:a="http://schemas.openxmlformats.org/drawingml/2006/main" prst="rect">
            <a:avLst/>
          </a:prstGeom>
        </p:spPr>
      </p:pic>
      <p:sp>
        <p:nvSpPr>
          <p:cNvPr id="6" name="Task Description heading">
            <a:extLst xmlns:a="http://schemas.openxmlformats.org/drawingml/2006/main">
              <a:ext uri="{FF2B5EF4-FFF2-40B4-BE49-F238E27FC236}">
                <a16:creationId xmlns:a16="http://schemas.microsoft.com/office/drawing/2014/main" id="{CFF76F37-B21B-4E26-B540-D6166DCF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" y="171450"/>
            <a:ext cx="385381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rPr>
              <a:t>Task Description:</a:t>
            </a:r>
          </a:p>
        </p:txBody>
      </p:sp>
      <p:sp>
        <p:nvSpPr>
          <p:cNvPr id="7" name="Task description line 0">
            <a:extLst xmlns:a="http://schemas.openxmlformats.org/drawingml/2006/main">
              <a:ext uri="{FF2B5EF4-FFF2-40B4-BE49-F238E27FC236}">
                <a16:creationId xmlns:a16="http://schemas.microsoft.com/office/drawing/2014/main" id="{662389C6-3AE2-4764-83AB-D4AB71F0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581025"/>
            <a:ext cx="483393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858585"/>
                </a:solidFill>
                <a:latin typeface="Calibri"/>
                <a:ea typeface="Calibri"/>
                <a:cs typeface="Calibri"/>
              </a:rPr>
              <a:t>We request your assistance in</a:t>
            </a:r>
          </a:p>
        </p:txBody>
      </p:sp>
      <p:sp>
        <p:nvSpPr>
          <p:cNvPr id="8" name="Task description line 1">
            <a:extLst xmlns:a="http://schemas.openxmlformats.org/drawingml/2006/main">
              <a:ext uri="{FF2B5EF4-FFF2-40B4-BE49-F238E27FC236}">
                <a16:creationId xmlns:a16="http://schemas.microsoft.com/office/drawing/2014/main" id="{B9D8BCCB-5573-44E9-A2E1-E9806B1B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866775"/>
            <a:ext cx="483393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858585"/>
                </a:solidFill>
                <a:latin typeface="Calibri"/>
                <a:ea typeface="Calibri"/>
                <a:cs typeface="Calibri"/>
              </a:rPr>
              <a:t>evaluating the response of an</a:t>
            </a:r>
          </a:p>
        </p:txBody>
      </p:sp>
      <p:sp>
        <p:nvSpPr>
          <p:cNvPr id="9" name="Task description line 2">
            <a:extLst xmlns:a="http://schemas.openxmlformats.org/drawingml/2006/main">
              <a:ext uri="{FF2B5EF4-FFF2-40B4-BE49-F238E27FC236}">
                <a16:creationId xmlns:a16="http://schemas.microsoft.com/office/drawing/2014/main" id="{BF03F338-2F5D-470C-9CFB-E42BBEBC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1152525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858585"/>
                </a:solidFill>
                <a:latin typeface="Calibri"/>
                <a:ea typeface="Calibri"/>
                <a:cs typeface="Calibri"/>
              </a:rPr>
              <a:t>AI assistant to the question ...</a:t>
            </a:r>
          </a:p>
        </p:txBody>
      </p:sp>
      <p:sp>
        <p:nvSpPr>
          <p:cNvPr id="10" name="Evaluation dimensions heading">
            <a:extLst xmlns:a="http://schemas.openxmlformats.org/drawingml/2006/main">
              <a:ext uri="{FF2B5EF4-FFF2-40B4-BE49-F238E27FC236}">
                <a16:creationId xmlns:a16="http://schemas.microsoft.com/office/drawing/2014/main" id="{19D52BBA-FB3B-4EB7-8E58-BBE9B27A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" y="1495425"/>
            <a:ext cx="498729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rPr>
              <a:t>Evaluation Dimensions:</a:t>
            </a:r>
          </a:p>
        </p:txBody>
      </p:sp>
      <p:sp>
        <p:nvSpPr>
          <p:cNvPr id="11" name="Rubric bullet 0">
            <a:extLst xmlns:a="http://schemas.openxmlformats.org/drawingml/2006/main">
              <a:ext uri="{FF2B5EF4-FFF2-40B4-BE49-F238E27FC236}">
                <a16:creationId xmlns:a16="http://schemas.microsoft.com/office/drawing/2014/main" id="{45253A6D-A0E7-4C0C-91CC-08EF4E34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00250"/>
            <a:ext cx="161925" cy="209550"/>
          </a:xfrm>
          <a:custGeom xmlns:a="http://schemas.openxmlformats.org/drawingml/2006/main">
            <a:pathLst>
              <a:path w="161925" h="209550">
                <a:moveTo>
                  <a:pt x="0" y="0"/>
                </a:moveTo>
                <a:lnTo>
                  <a:pt x="161925" y="104775"/>
                </a:lnTo>
                <a:lnTo>
                  <a:pt x="0" y="209550"/>
                </a:lnTo>
                <a:lnTo>
                  <a:pt x="47625" y="1047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12" name="Rubric dimension 0">
            <a:extLst xmlns:a="http://schemas.openxmlformats.org/drawingml/2006/main">
              <a:ext uri="{FF2B5EF4-FFF2-40B4-BE49-F238E27FC236}">
                <a16:creationId xmlns:a16="http://schemas.microsoft.com/office/drawing/2014/main" id="{756FCD1D-808E-462E-9F9E-4C496386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1952625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Global Score ;</a:t>
            </a:r>
          </a:p>
        </p:txBody>
      </p:sp>
      <p:sp>
        <p:nvSpPr>
          <p:cNvPr id="13" name="Rubric bullet 1">
            <a:extLst xmlns:a="http://schemas.openxmlformats.org/drawingml/2006/main">
              <a:ext uri="{FF2B5EF4-FFF2-40B4-BE49-F238E27FC236}">
                <a16:creationId xmlns:a16="http://schemas.microsoft.com/office/drawing/2014/main" id="{FA653939-8182-4C3B-A7BF-CBDEE888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09825"/>
            <a:ext cx="161925" cy="209550"/>
          </a:xfrm>
          <a:custGeom xmlns:a="http://schemas.openxmlformats.org/drawingml/2006/main">
            <a:pathLst>
              <a:path w="161925" h="209550">
                <a:moveTo>
                  <a:pt x="0" y="0"/>
                </a:moveTo>
                <a:lnTo>
                  <a:pt x="161925" y="104775"/>
                </a:lnTo>
                <a:lnTo>
                  <a:pt x="0" y="209550"/>
                </a:lnTo>
                <a:lnTo>
                  <a:pt x="47625" y="1047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14" name="Rubric dimension 1">
            <a:extLst xmlns:a="http://schemas.openxmlformats.org/drawingml/2006/main">
              <a:ext uri="{FF2B5EF4-FFF2-40B4-BE49-F238E27FC236}">
                <a16:creationId xmlns:a16="http://schemas.microsoft.com/office/drawing/2014/main" id="{8155612E-5DE9-41B1-979C-55A6B737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23622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Completeness ;</a:t>
            </a:r>
          </a:p>
        </p:txBody>
      </p:sp>
      <p:sp>
        <p:nvSpPr>
          <p:cNvPr id="15" name="Rubric bullet 2">
            <a:extLst xmlns:a="http://schemas.openxmlformats.org/drawingml/2006/main">
              <a:ext uri="{FF2B5EF4-FFF2-40B4-BE49-F238E27FC236}">
                <a16:creationId xmlns:a16="http://schemas.microsoft.com/office/drawing/2014/main" id="{78FCA889-6797-4152-A74E-7CC62467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19400"/>
            <a:ext cx="161925" cy="209550"/>
          </a:xfrm>
          <a:custGeom xmlns:a="http://schemas.openxmlformats.org/drawingml/2006/main">
            <a:pathLst>
              <a:path w="161925" h="209550">
                <a:moveTo>
                  <a:pt x="0" y="0"/>
                </a:moveTo>
                <a:lnTo>
                  <a:pt x="161925" y="104775"/>
                </a:lnTo>
                <a:lnTo>
                  <a:pt x="0" y="209550"/>
                </a:lnTo>
                <a:lnTo>
                  <a:pt x="47625" y="1047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16" name="Rubric dimension 2">
            <a:extLst xmlns:a="http://schemas.openxmlformats.org/drawingml/2006/main">
              <a:ext uri="{FF2B5EF4-FFF2-40B4-BE49-F238E27FC236}">
                <a16:creationId xmlns:a16="http://schemas.microsoft.com/office/drawing/2014/main" id="{E5FC322C-F05D-44EA-9306-8701EEF7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2771775"/>
            <a:ext cx="2600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Correctness ;</a:t>
            </a:r>
          </a:p>
        </p:txBody>
      </p:sp>
      <p:sp>
        <p:nvSpPr>
          <p:cNvPr id="17" name="Rubric bullet 3">
            <a:extLst xmlns:a="http://schemas.openxmlformats.org/drawingml/2006/main">
              <a:ext uri="{FF2B5EF4-FFF2-40B4-BE49-F238E27FC236}">
                <a16:creationId xmlns:a16="http://schemas.microsoft.com/office/drawing/2014/main" id="{06F5EBCF-E17E-4BE6-AEE1-6009F90D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28975"/>
            <a:ext cx="161925" cy="209550"/>
          </a:xfrm>
          <a:custGeom xmlns:a="http://schemas.openxmlformats.org/drawingml/2006/main">
            <a:pathLst>
              <a:path w="161925" h="209550">
                <a:moveTo>
                  <a:pt x="0" y="0"/>
                </a:moveTo>
                <a:lnTo>
                  <a:pt x="161925" y="104775"/>
                </a:lnTo>
                <a:lnTo>
                  <a:pt x="0" y="209550"/>
                </a:lnTo>
                <a:lnTo>
                  <a:pt x="47625" y="1047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18" name="Rubric dimension 3">
            <a:extLst xmlns:a="http://schemas.openxmlformats.org/drawingml/2006/main">
              <a:ext uri="{FF2B5EF4-FFF2-40B4-BE49-F238E27FC236}">
                <a16:creationId xmlns:a16="http://schemas.microsoft.com/office/drawing/2014/main" id="{E0B47452-B79C-43EE-8232-A124B042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1813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Plausibility ;</a:t>
            </a:r>
          </a:p>
        </p:txBody>
      </p:sp>
      <p:sp>
        <p:nvSpPr>
          <p:cNvPr id="19" name="Scoring range heading">
            <a:extLst xmlns:a="http://schemas.openxmlformats.org/drawingml/2006/main">
              <a:ext uri="{FF2B5EF4-FFF2-40B4-BE49-F238E27FC236}">
                <a16:creationId xmlns:a16="http://schemas.microsoft.com/office/drawing/2014/main" id="{878528F8-E4F9-4828-AD91-3E7733CF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3590925"/>
            <a:ext cx="317373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rPr>
              <a:t>Scoring Range:</a:t>
            </a:r>
          </a:p>
        </p:txBody>
      </p:sp>
      <p:sp>
        <p:nvSpPr>
          <p:cNvPr id="20" name="Scoring rubric first line">
            <a:extLst xmlns:a="http://schemas.openxmlformats.org/drawingml/2006/main">
              <a:ext uri="{FF2B5EF4-FFF2-40B4-BE49-F238E27FC236}">
                <a16:creationId xmlns:a16="http://schemas.microsoft.com/office/drawing/2014/main" id="{5CD1F563-C5F2-449C-AC85-59F2848F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4076700"/>
            <a:ext cx="580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1 - Poor 2 - Fair 3 - Average</a:t>
            </a:r>
          </a:p>
        </p:txBody>
      </p:sp>
      <p:sp>
        <p:nvSpPr>
          <p:cNvPr id="21" name="Scoring rubric second line">
            <a:extLst xmlns:a="http://schemas.openxmlformats.org/drawingml/2006/main">
              <a:ext uri="{FF2B5EF4-FFF2-40B4-BE49-F238E27FC236}">
                <a16:creationId xmlns:a16="http://schemas.microsoft.com/office/drawing/2014/main" id="{B124F08D-9EC5-4658-8E03-C87DB8A1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4438650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4 - Good 5 - Excellent</a:t>
            </a:r>
          </a:p>
        </p:txBody>
      </p:sp>
      <p:sp>
        <p:nvSpPr>
          <p:cNvPr id="22" name="Example heading">
            <a:extLst xmlns:a="http://schemas.openxmlformats.org/drawingml/2006/main">
              <a:ext uri="{FF2B5EF4-FFF2-40B4-BE49-F238E27FC236}">
                <a16:creationId xmlns:a16="http://schemas.microsoft.com/office/drawing/2014/main" id="{9849B279-DA9D-442F-9344-121AFE95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4791075"/>
            <a:ext cx="272034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rPr>
              <a:t>Example: ...</a:t>
            </a:r>
          </a:p>
        </p:txBody>
      </p:sp>
      <p:sp>
        <p:nvSpPr>
          <p:cNvPr id="23" name="Instructions label">
            <a:extLst xmlns:a="http://schemas.openxmlformats.org/drawingml/2006/main">
              <a:ext uri="{FF2B5EF4-FFF2-40B4-BE49-F238E27FC236}">
                <a16:creationId xmlns:a16="http://schemas.microsoft.com/office/drawing/2014/main" id="{8DBFBB85-A9AF-484A-9E68-27C13522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514350"/>
            <a:ext cx="272034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Instructions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A2364F-D081-4F99-B235-1A889EBAD4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1941231b74074"/>
          <a:stretch xmlns:a="http://schemas.openxmlformats.org/drawingml/2006/main"/>
        </p:blipFill>
        <p:spPr>
          <a:xfrm xmlns:a="http://schemas.openxmlformats.org/drawingml/2006/main">
            <a:off x="4219575" y="962025"/>
            <a:ext cx="752475" cy="962025"/>
          </a:xfrm>
          <a:prstGeom xmlns:a="http://schemas.openxmlformats.org/drawingml/2006/main" prst="rect">
            <a:avLst/>
          </a:prstGeom>
        </p:spPr>
      </p:pic>
      <p:sp>
        <p:nvSpPr>
          <p:cNvPr id="25" name="Instructions to GPT-4o arrow">
            <a:extLst xmlns:a="http://schemas.openxmlformats.org/drawingml/2006/main">
              <a:ext uri="{FF2B5EF4-FFF2-40B4-BE49-F238E27FC236}">
                <a16:creationId xmlns:a16="http://schemas.microsoft.com/office/drawing/2014/main" id="{C5D4D11D-B118-46E6-8B9C-47CF8DB8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162050"/>
            <a:ext cx="1085850" cy="438150"/>
          </a:xfrm>
          <a:custGeom xmlns:a="http://schemas.openxmlformats.org/drawingml/2006/main">
            <a:pathLst>
              <a:path w="1085850" h="438150">
                <a:moveTo>
                  <a:pt x="0" y="114300"/>
                </a:moveTo>
                <a:lnTo>
                  <a:pt x="838200" y="114300"/>
                </a:lnTo>
                <a:lnTo>
                  <a:pt x="838200" y="0"/>
                </a:lnTo>
                <a:lnTo>
                  <a:pt x="1085850" y="219075"/>
                </a:lnTo>
                <a:lnTo>
                  <a:pt x="838200" y="438150"/>
                </a:lnTo>
                <a:lnTo>
                  <a:pt x="838200" y="323850"/>
                </a:lnTo>
                <a:lnTo>
                  <a:pt x="0" y="3238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BFAFF"/>
              </a:gs>
              <a:gs pos="85000">
                <a:srgbClr val="3F3C7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FB350D-04FE-47BD-AB03-433F02187C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ff1a0b7064630"/>
          <a:stretch xmlns:a="http://schemas.openxmlformats.org/drawingml/2006/main"/>
        </p:blipFill>
        <p:spPr>
          <a:xfrm xmlns:a="http://schemas.openxmlformats.org/drawingml/2006/main">
            <a:off x="6534150" y="619125"/>
            <a:ext cx="1066800" cy="1104900"/>
          </a:xfrm>
          <a:prstGeom xmlns:a="http://schemas.openxmlformats.org/drawingml/2006/main" prst="rect">
            <a:avLst/>
          </a:prstGeom>
        </p:spPr>
      </p:pic>
      <p:sp>
        <p:nvSpPr>
          <p:cNvPr id="27" name="GPT-4o label">
            <a:extLst xmlns:a="http://schemas.openxmlformats.org/drawingml/2006/main">
              <a:ext uri="{FF2B5EF4-FFF2-40B4-BE49-F238E27FC236}">
                <a16:creationId xmlns:a16="http://schemas.microsoft.com/office/drawing/2014/main" id="{30313E99-CE9B-4385-94DA-8559ACE3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5100" y="1809750"/>
            <a:ext cx="136017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GPT-4o</a:t>
            </a:r>
          </a:p>
        </p:txBody>
      </p:sp>
      <p:sp>
        <p:nvSpPr>
          <p:cNvPr id="28" name="Evaluator label">
            <a:extLst xmlns:a="http://schemas.openxmlformats.org/drawingml/2006/main">
              <a:ext uri="{FF2B5EF4-FFF2-40B4-BE49-F238E27FC236}">
                <a16:creationId xmlns:a16="http://schemas.microsoft.com/office/drawing/2014/main" id="{93001822-191F-4C86-84A1-D9F98D7F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2228850"/>
            <a:ext cx="204025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Evaluator</a:t>
            </a:r>
          </a:p>
        </p:txBody>
      </p:sp>
      <p:sp>
        <p:nvSpPr>
          <p:cNvPr id="29" name="GPT-4o to Score arrow">
            <a:extLst xmlns:a="http://schemas.openxmlformats.org/drawingml/2006/main">
              <a:ext uri="{FF2B5EF4-FFF2-40B4-BE49-F238E27FC236}">
                <a16:creationId xmlns:a16="http://schemas.microsoft.com/office/drawing/2014/main" id="{D94C4775-D8FA-4E09-87F4-642D0387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104900"/>
            <a:ext cx="1162050" cy="685800"/>
          </a:xfrm>
          <a:custGeom xmlns:a="http://schemas.openxmlformats.org/drawingml/2006/main">
            <a:pathLst>
              <a:path w="1162050" h="685800">
                <a:moveTo>
                  <a:pt x="0" y="171450"/>
                </a:moveTo>
                <a:lnTo>
                  <a:pt x="704850" y="171450"/>
                </a:lnTo>
                <a:lnTo>
                  <a:pt x="704850" y="0"/>
                </a:lnTo>
                <a:lnTo>
                  <a:pt x="1162050" y="333375"/>
                </a:lnTo>
                <a:lnTo>
                  <a:pt x="704850" y="685800"/>
                </a:lnTo>
                <a:lnTo>
                  <a:pt x="704850" y="504825"/>
                </a:lnTo>
                <a:lnTo>
                  <a:pt x="0" y="5048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BFAFF"/>
              </a:gs>
              <a:gs pos="85000">
                <a:srgbClr val="8C747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A9F6A0-A802-4EC4-86B2-7DDA2D46A0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da69015f740bb"/>
          <a:stretch xmlns:a="http://schemas.openxmlformats.org/drawingml/2006/main"/>
        </p:blipFill>
        <p:spPr>
          <a:xfrm xmlns:a="http://schemas.openxmlformats.org/drawingml/2006/main">
            <a:off x="9210675" y="742950"/>
            <a:ext cx="866775" cy="933450"/>
          </a:xfrm>
          <a:prstGeom xmlns:a="http://schemas.openxmlformats.org/drawingml/2006/main" prst="rect">
            <a:avLst/>
          </a:prstGeom>
        </p:spPr>
      </p:pic>
      <p:sp>
        <p:nvSpPr>
          <p:cNvPr id="31" name="Score label">
            <a:extLst xmlns:a="http://schemas.openxmlformats.org/drawingml/2006/main">
              <a:ext uri="{FF2B5EF4-FFF2-40B4-BE49-F238E27FC236}">
                <a16:creationId xmlns:a16="http://schemas.microsoft.com/office/drawing/2014/main" id="{7B1E1AE2-6C6C-4DB2-BCE2-5B4A3BB8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8775" y="1714500"/>
            <a:ext cx="113347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Score</a:t>
            </a:r>
          </a:p>
        </p:txBody>
      </p:sp>
      <p:sp>
        <p:nvSpPr>
          <p:cNvPr id="32" name="Data label">
            <a:extLst xmlns:a="http://schemas.openxmlformats.org/drawingml/2006/main">
              <a:ext uri="{FF2B5EF4-FFF2-40B4-BE49-F238E27FC236}">
                <a16:creationId xmlns:a16="http://schemas.microsoft.com/office/drawing/2014/main" id="{001C4774-182F-4694-A956-731A08DC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3457575"/>
            <a:ext cx="90678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</a:t>
            </a:r>
          </a:p>
        </p:txBody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273ADE-1005-488D-8A27-92B2DFA51B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101a2153b4228"/>
          <a:stretch xmlns:a="http://schemas.openxmlformats.org/drawingml/2006/main"/>
        </p:blipFill>
        <p:spPr>
          <a:xfrm xmlns:a="http://schemas.openxmlformats.org/drawingml/2006/main">
            <a:off x="4019550" y="3924300"/>
            <a:ext cx="1028700" cy="866775"/>
          </a:xfrm>
          <a:prstGeom xmlns:a="http://schemas.openxmlformats.org/drawingml/2006/main" prst="rect">
            <a:avLst/>
          </a:prstGeom>
        </p:spPr>
      </p:pic>
      <p:sp>
        <p:nvSpPr>
          <p:cNvPr id="34" name="Data to Evaluator diagonal arrow">
            <a:extLst xmlns:a="http://schemas.openxmlformats.org/drawingml/2006/main">
              <a:ext uri="{FF2B5EF4-FFF2-40B4-BE49-F238E27FC236}">
                <a16:creationId xmlns:a16="http://schemas.microsoft.com/office/drawing/2014/main" id="{1A9E5A67-4DC6-40DC-BB7C-7C853273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352675"/>
            <a:ext cx="1019175" cy="904875"/>
          </a:xfrm>
          <a:custGeom xmlns:a="http://schemas.openxmlformats.org/drawingml/2006/main">
            <a:pathLst>
              <a:path w="1019175" h="904875">
                <a:moveTo>
                  <a:pt x="0" y="838200"/>
                </a:moveTo>
                <a:lnTo>
                  <a:pt x="714375" y="161925"/>
                </a:lnTo>
                <a:lnTo>
                  <a:pt x="628650" y="0"/>
                </a:lnTo>
                <a:lnTo>
                  <a:pt x="1019175" y="9525"/>
                </a:lnTo>
                <a:lnTo>
                  <a:pt x="904875" y="314325"/>
                </a:lnTo>
                <a:lnTo>
                  <a:pt x="819150" y="228600"/>
                </a:lnTo>
                <a:lnTo>
                  <a:pt x="142875" y="9048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BFAFF"/>
              </a:gs>
              <a:gs pos="80000">
                <a:srgbClr val="3F3C7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5" name="Answer label">
            <a:extLst xmlns:a="http://schemas.openxmlformats.org/drawingml/2006/main">
              <a:ext uri="{FF2B5EF4-FFF2-40B4-BE49-F238E27FC236}">
                <a16:creationId xmlns:a16="http://schemas.microsoft.com/office/drawing/2014/main" id="{5F8C6EF3-9713-4E51-A9A1-7EF0FFEE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050" y="3771900"/>
            <a:ext cx="136017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Answer</a:t>
            </a:r>
          </a:p>
        </p:txBody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4C2F61-AC81-429F-9873-8C8365F660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d8f3481864dc5"/>
          <a:stretch xmlns:a="http://schemas.openxmlformats.org/drawingml/2006/main"/>
        </p:blipFill>
        <p:spPr>
          <a:xfrm xmlns:a="http://schemas.openxmlformats.org/drawingml/2006/main">
            <a:off x="6591300" y="4219575"/>
            <a:ext cx="1047750" cy="857250"/>
          </a:xfrm>
          <a:prstGeom xmlns:a="http://schemas.openxmlformats.org/drawingml/2006/main" prst="rect">
            <a:avLst/>
          </a:prstGeom>
        </p:spPr>
      </p:pic>
      <p:sp>
        <p:nvSpPr>
          <p:cNvPr id="37" name="Answer to Evaluator arrow">
            <a:extLst xmlns:a="http://schemas.openxmlformats.org/drawingml/2006/main">
              <a:ext uri="{FF2B5EF4-FFF2-40B4-BE49-F238E27FC236}">
                <a16:creationId xmlns:a16="http://schemas.microsoft.com/office/drawing/2014/main" id="{2481CBB3-5F26-4400-96B4-9ECB623C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638425"/>
            <a:ext cx="466725" cy="1133475"/>
          </a:xfrm>
          <a:custGeom xmlns:a="http://schemas.openxmlformats.org/drawingml/2006/main">
            <a:pathLst>
              <a:path w="466725" h="1133475">
                <a:moveTo>
                  <a:pt x="123825" y="1133475"/>
                </a:moveTo>
                <a:lnTo>
                  <a:pt x="123825" y="257175"/>
                </a:lnTo>
                <a:lnTo>
                  <a:pt x="0" y="257175"/>
                </a:lnTo>
                <a:lnTo>
                  <a:pt x="228600" y="0"/>
                </a:lnTo>
                <a:lnTo>
                  <a:pt x="466725" y="257175"/>
                </a:lnTo>
                <a:lnTo>
                  <a:pt x="333375" y="257175"/>
                </a:lnTo>
                <a:lnTo>
                  <a:pt x="333375" y="11334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BFAFF"/>
              </a:gs>
              <a:gs pos="85000">
                <a:srgbClr val="3F3C7E"/>
              </a:gs>
            </a:gsLst>
            <a:lin ang="162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8" name="Final score rounded box">
            <a:extLst xmlns:a="http://schemas.openxmlformats.org/drawingml/2006/main">
              <a:ext uri="{FF2B5EF4-FFF2-40B4-BE49-F238E27FC236}">
                <a16:creationId xmlns:a16="http://schemas.microsoft.com/office/drawing/2014/main" id="{D2984B54-F1A8-44C0-8F3F-ABA4873D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190750"/>
            <a:ext cx="2562225" cy="3019425"/>
          </a:xfrm>
          <a:custGeom xmlns:a="http://schemas.openxmlformats.org/drawingml/2006/main">
            <a:pathLst>
              <a:path w="2562225" h="3019425">
                <a:moveTo>
                  <a:pt x="238125" y="0"/>
                </a:moveTo>
                <a:lnTo>
                  <a:pt x="2324100" y="0"/>
                </a:lnTo>
                <a:cubicBezTo>
                  <a:pt x="2455613" y="0"/>
                  <a:pt x="2562225" y="106612"/>
                  <a:pt x="2562225" y="238125"/>
                </a:cubicBezTo>
                <a:lnTo>
                  <a:pt x="2562225" y="2781300"/>
                </a:lnTo>
                <a:cubicBezTo>
                  <a:pt x="2562225" y="2912813"/>
                  <a:pt x="2455613" y="3019425"/>
                  <a:pt x="2324100" y="3019425"/>
                </a:cubicBezTo>
                <a:lnTo>
                  <a:pt x="238125" y="3019425"/>
                </a:lnTo>
                <a:cubicBezTo>
                  <a:pt x="106612" y="3019425"/>
                  <a:pt x="0" y="2912813"/>
                  <a:pt x="0" y="2781300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 xmlns:a="http://schemas.openxmlformats.org/drawingml/2006/main">
            <a:srgbClr val="FBFAFF"/>
          </a:solidFill>
          <a:ln xmlns:a="http://schemas.openxmlformats.org/drawingml/2006/main" w="25718">
            <a:solidFill>
              <a:srgbClr val="7B78A1"/>
            </a:solidFill>
            <a:prstDash val="solid"/>
          </a:ln>
        </p:spPr>
      </p:sp>
      <p:sp>
        <p:nvSpPr>
          <p:cNvPr id="39" name="Final scoring heading">
            <a:extLst xmlns:a="http://schemas.openxmlformats.org/drawingml/2006/main">
              <a:ext uri="{FF2B5EF4-FFF2-40B4-BE49-F238E27FC236}">
                <a16:creationId xmlns:a16="http://schemas.microsoft.com/office/drawing/2014/main" id="{E1D4A50F-1F24-48CB-A9BD-974013E1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2324100"/>
            <a:ext cx="317373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3F3C7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3F3C7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3F3C7E"/>
                </a:solidFill>
                <a:latin typeface="Times New Roman"/>
                <a:ea typeface="Times New Roman"/>
                <a:cs typeface="Times New Roman"/>
              </a:rPr>
              <a:t>Final Scoring:</a:t>
            </a:r>
          </a:p>
        </p:txBody>
      </p:sp>
      <p:sp>
        <p:nvSpPr>
          <p:cNvPr id="40" name="Score values">
            <a:extLst xmlns:a="http://schemas.openxmlformats.org/drawingml/2006/main">
              <a:ext uri="{FF2B5EF4-FFF2-40B4-BE49-F238E27FC236}">
                <a16:creationId xmlns:a16="http://schemas.microsoft.com/office/drawing/2014/main" id="{574CDC71-1AE9-4F19-B0F8-C75011B5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4825" y="2724150"/>
            <a:ext cx="350043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8B9FB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8B9FB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8B9FB7"/>
                </a:solidFill>
                <a:latin typeface="Times New Roman"/>
                <a:ea typeface="Times New Roman"/>
                <a:cs typeface="Times New Roman"/>
              </a:rPr>
              <a:t>(4-4-4-5)   Total: 17</a:t>
            </a:r>
          </a:p>
        </p:txBody>
      </p:sp>
      <p:sp>
        <p:nvSpPr>
          <p:cNvPr id="41" name="Reason heading">
            <a:extLst xmlns:a="http://schemas.openxmlformats.org/drawingml/2006/main">
              <a:ext uri="{FF2B5EF4-FFF2-40B4-BE49-F238E27FC236}">
                <a16:creationId xmlns:a16="http://schemas.microsoft.com/office/drawing/2014/main" id="{31524623-E884-47E6-966E-0A4E4A84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3019425"/>
            <a:ext cx="158686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3F3C7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3F3C7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3F3C7E"/>
                </a:solidFill>
                <a:latin typeface="Times New Roman"/>
                <a:ea typeface="Times New Roman"/>
                <a:cs typeface="Times New Roman"/>
              </a:rPr>
              <a:t>Reason:</a:t>
            </a:r>
          </a:p>
        </p:txBody>
      </p:sp>
      <p:sp>
        <p:nvSpPr>
          <p:cNvPr id="42" name="Final reason 0">
            <a:extLst xmlns:a="http://schemas.openxmlformats.org/drawingml/2006/main">
              <a:ext uri="{FF2B5EF4-FFF2-40B4-BE49-F238E27FC236}">
                <a16:creationId xmlns:a16="http://schemas.microsoft.com/office/drawing/2014/main" id="{9C916762-45DA-4A8B-804A-9F5782FD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3390900"/>
            <a:ext cx="3987165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Overall, the image appears</a:t>
            </a:r>
          </a:p>
        </p:txBody>
      </p:sp>
      <p:sp>
        <p:nvSpPr>
          <p:cNvPr id="43" name="Final reason 1">
            <a:extLst xmlns:a="http://schemas.openxmlformats.org/drawingml/2006/main">
              <a:ext uri="{FF2B5EF4-FFF2-40B4-BE49-F238E27FC236}">
                <a16:creationId xmlns:a16="http://schemas.microsoft.com/office/drawing/2014/main" id="{409DFBD4-353E-41C6-8DB5-6DAD9E08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3657600"/>
            <a:ext cx="3833813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inauthentic primarily due</a:t>
            </a:r>
          </a:p>
        </p:txBody>
      </p:sp>
      <p:sp>
        <p:nvSpPr>
          <p:cNvPr id="44" name="Final reason 2">
            <a:extLst xmlns:a="http://schemas.openxmlformats.org/drawingml/2006/main">
              <a:ext uri="{FF2B5EF4-FFF2-40B4-BE49-F238E27FC236}">
                <a16:creationId xmlns:a16="http://schemas.microsoft.com/office/drawing/2014/main" id="{738CB5FF-C820-4423-9051-1A6D2CF6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3924300"/>
            <a:ext cx="3833813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to slight distortions and</a:t>
            </a:r>
          </a:p>
        </p:txBody>
      </p:sp>
      <p:sp>
        <p:nvSpPr>
          <p:cNvPr id="45" name="Final reason 3">
            <a:extLst xmlns:a="http://schemas.openxmlformats.org/drawingml/2006/main">
              <a:ext uri="{FF2B5EF4-FFF2-40B4-BE49-F238E27FC236}">
                <a16:creationId xmlns:a16="http://schemas.microsoft.com/office/drawing/2014/main" id="{B112E232-37F4-40F0-98A9-4741167D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4191000"/>
            <a:ext cx="368046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unnatural poses that are</a:t>
            </a:r>
          </a:p>
        </p:txBody>
      </p:sp>
      <p:sp>
        <p:nvSpPr>
          <p:cNvPr id="46" name="Final reason 4">
            <a:extLst xmlns:a="http://schemas.openxmlformats.org/drawingml/2006/main">
              <a:ext uri="{FF2B5EF4-FFF2-40B4-BE49-F238E27FC236}">
                <a16:creationId xmlns:a16="http://schemas.microsoft.com/office/drawing/2014/main" id="{EA9B4543-EF9B-42DA-86D0-5E83EC1E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4457700"/>
            <a:ext cx="4140518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often characteristic of AI-</a:t>
            </a:r>
          </a:p>
        </p:txBody>
      </p:sp>
      <p:sp>
        <p:nvSpPr>
          <p:cNvPr id="47" name="Final reason 5">
            <a:extLst xmlns:a="http://schemas.openxmlformats.org/drawingml/2006/main">
              <a:ext uri="{FF2B5EF4-FFF2-40B4-BE49-F238E27FC236}">
                <a16:creationId xmlns:a16="http://schemas.microsoft.com/office/drawing/2014/main" id="{CC2797DE-B6A6-45C8-B679-AEE200C7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4724400"/>
            <a:ext cx="2760345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generated images …</a:t>
            </a:r>
          </a:p>
        </p:txBody>
      </p:sp>
      <p:sp>
        <p:nvSpPr>
          <p:cNvPr id="48" name="Reference Image label">
            <a:extLst xmlns:a="http://schemas.openxmlformats.org/drawingml/2006/main">
              <a:ext uri="{FF2B5EF4-FFF2-40B4-BE49-F238E27FC236}">
                <a16:creationId xmlns:a16="http://schemas.microsoft.com/office/drawing/2014/main" id="{0412C818-21CC-4DA2-AAAD-46487E38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2019300"/>
            <a:ext cx="28003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Reference Image</a:t>
            </a:r>
          </a:p>
        </p:txBody>
      </p:sp>
      <p:sp>
        <p:nvSpPr>
          <p:cNvPr id="49" name="Synthetic Image label">
            <a:extLst xmlns:a="http://schemas.openxmlformats.org/drawingml/2006/main">
              <a:ext uri="{FF2B5EF4-FFF2-40B4-BE49-F238E27FC236}">
                <a16:creationId xmlns:a16="http://schemas.microsoft.com/office/drawing/2014/main" id="{712A3D4C-4732-4EBC-BD5C-1196B8E2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54075" y="2038350"/>
            <a:ext cx="28003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Synthetic Image</a:t>
            </a:r>
          </a:p>
        </p:txBody>
      </p:sp>
      <p:sp>
        <p:nvSpPr>
          <p:cNvPr id="50" name="Feedback heading 0">
            <a:extLst xmlns:a="http://schemas.openxmlformats.org/drawingml/2006/main">
              <a:ext uri="{FF2B5EF4-FFF2-40B4-BE49-F238E27FC236}">
                <a16:creationId xmlns:a16="http://schemas.microsoft.com/office/drawing/2014/main" id="{0948E6D6-B70D-41A6-8B68-0D6B9740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8025" y="2343150"/>
            <a:ext cx="350043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0A29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A29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0A295D"/>
                </a:solidFill>
                <a:latin typeface="Times New Roman"/>
                <a:ea typeface="Times New Roman"/>
                <a:cs typeface="Times New Roman"/>
              </a:rPr>
              <a:t>Global Score (4-Good)</a:t>
            </a:r>
          </a:p>
        </p:txBody>
      </p:sp>
      <p:sp>
        <p:nvSpPr>
          <p:cNvPr id="51" name="Feedback first line 0">
            <a:extLst xmlns:a="http://schemas.openxmlformats.org/drawingml/2006/main">
              <a:ext uri="{FF2B5EF4-FFF2-40B4-BE49-F238E27FC236}">
                <a16:creationId xmlns:a16="http://schemas.microsoft.com/office/drawing/2014/main" id="{391F3C23-6577-44B3-B41E-9C3CFA86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15950" y="2362200"/>
            <a:ext cx="396049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: The assistant effectively</a:t>
            </a:r>
          </a:p>
        </p:txBody>
      </p:sp>
      <p:sp>
        <p:nvSpPr>
          <p:cNvPr id="52" name="Feedback continuation 0 0">
            <a:extLst xmlns:a="http://schemas.openxmlformats.org/drawingml/2006/main">
              <a:ext uri="{FF2B5EF4-FFF2-40B4-BE49-F238E27FC236}">
                <a16:creationId xmlns:a16="http://schemas.microsoft.com/office/drawing/2014/main" id="{4020C777-570A-4C37-8872-B56E44D4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8025" y="2590800"/>
            <a:ext cx="762762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captured the overall visual inconsistencies, such as</a:t>
            </a:r>
          </a:p>
        </p:txBody>
      </p:sp>
      <p:sp>
        <p:nvSpPr>
          <p:cNvPr id="53" name="Feedback continuation 0 1">
            <a:extLst xmlns:a="http://schemas.openxmlformats.org/drawingml/2006/main">
              <a:ext uri="{FF2B5EF4-FFF2-40B4-BE49-F238E27FC236}">
                <a16:creationId xmlns:a16="http://schemas.microsoft.com/office/drawing/2014/main" id="{6C171D5B-0797-49F3-A31E-CE2D1F60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8025" y="2790825"/>
            <a:ext cx="557403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unnatural poses and lighting issues, …</a:t>
            </a:r>
          </a:p>
        </p:txBody>
      </p:sp>
      <p:sp>
        <p:nvSpPr>
          <p:cNvPr id="54" name="Feedback heading 1">
            <a:extLst xmlns:a="http://schemas.openxmlformats.org/drawingml/2006/main">
              <a:ext uri="{FF2B5EF4-FFF2-40B4-BE49-F238E27FC236}">
                <a16:creationId xmlns:a16="http://schemas.microsoft.com/office/drawing/2014/main" id="{532B2A67-49A1-4E3B-AF0F-C6BD38C6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8025" y="3028950"/>
            <a:ext cx="350043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8DAFE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8DAFE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8DAFE2"/>
                </a:solidFill>
                <a:latin typeface="Times New Roman"/>
                <a:ea typeface="Times New Roman"/>
                <a:cs typeface="Times New Roman"/>
              </a:rPr>
              <a:t>Completeness (4-Good)</a:t>
            </a:r>
          </a:p>
        </p:txBody>
      </p:sp>
      <p:sp>
        <p:nvSpPr>
          <p:cNvPr id="55" name="Feedback first line 1">
            <a:extLst xmlns:a="http://schemas.openxmlformats.org/drawingml/2006/main">
              <a:ext uri="{FF2B5EF4-FFF2-40B4-BE49-F238E27FC236}">
                <a16:creationId xmlns:a16="http://schemas.microsoft.com/office/drawing/2014/main" id="{2CFC5E44-6DC1-4C3B-8C4F-496B4257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44550" y="3048000"/>
            <a:ext cx="381381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: The assistant identified</a:t>
            </a:r>
          </a:p>
        </p:txBody>
      </p:sp>
      <p:sp>
        <p:nvSpPr>
          <p:cNvPr id="56" name="Feedback continuation 1 0">
            <a:extLst xmlns:a="http://schemas.openxmlformats.org/drawingml/2006/main">
              <a:ext uri="{FF2B5EF4-FFF2-40B4-BE49-F238E27FC236}">
                <a16:creationId xmlns:a16="http://schemas.microsoft.com/office/drawing/2014/main" id="{D617D666-EB2A-4C5E-A736-D3A49391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8025" y="3276600"/>
            <a:ext cx="748093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most of the regions marked by the human annotators,</a:t>
            </a:r>
          </a:p>
        </p:txBody>
      </p:sp>
      <p:sp>
        <p:nvSpPr>
          <p:cNvPr id="57" name="Feedback continuation 1 1">
            <a:extLst xmlns:a="http://schemas.openxmlformats.org/drawingml/2006/main">
              <a:ext uri="{FF2B5EF4-FFF2-40B4-BE49-F238E27FC236}">
                <a16:creationId xmlns:a16="http://schemas.microsoft.com/office/drawing/2014/main" id="{28B715EC-6A0D-4BB8-A645-2AAB4901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8025" y="3476625"/>
            <a:ext cx="689419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including the athlete’s pose, racket and hand …</a:t>
            </a:r>
          </a:p>
        </p:txBody>
      </p:sp>
      <p:sp>
        <p:nvSpPr>
          <p:cNvPr id="58" name="Feedback heading 2">
            <a:extLst xmlns:a="http://schemas.openxmlformats.org/drawingml/2006/main">
              <a:ext uri="{FF2B5EF4-FFF2-40B4-BE49-F238E27FC236}">
                <a16:creationId xmlns:a16="http://schemas.microsoft.com/office/drawing/2014/main" id="{FA8D6FCD-E58F-4433-B3AE-3A6E1662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8025" y="37147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8FCD3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8FCD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8FCD3C"/>
                </a:solidFill>
                <a:latin typeface="Times New Roman"/>
                <a:ea typeface="Times New Roman"/>
                <a:cs typeface="Times New Roman"/>
              </a:rPr>
              <a:t>Correctness (4-Good)</a:t>
            </a:r>
          </a:p>
        </p:txBody>
      </p:sp>
      <p:sp>
        <p:nvSpPr>
          <p:cNvPr id="59" name="Feedback first line 2">
            <a:extLst xmlns:a="http://schemas.openxmlformats.org/drawingml/2006/main">
              <a:ext uri="{FF2B5EF4-FFF2-40B4-BE49-F238E27FC236}">
                <a16:creationId xmlns:a16="http://schemas.microsoft.com/office/drawing/2014/main" id="{C2932A9F-5EAD-402A-8E7E-B8034F0D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20700" y="3733800"/>
            <a:ext cx="44005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: The assistant’s explanations</a:t>
            </a:r>
          </a:p>
        </p:txBody>
      </p:sp>
      <p:sp>
        <p:nvSpPr>
          <p:cNvPr id="60" name="Feedback continuation 2 0">
            <a:extLst xmlns:a="http://schemas.openxmlformats.org/drawingml/2006/main">
              <a:ext uri="{FF2B5EF4-FFF2-40B4-BE49-F238E27FC236}">
                <a16:creationId xmlns:a16="http://schemas.microsoft.com/office/drawing/2014/main" id="{0E1B9E3F-9DDF-4A3A-BDAE-6811AF8F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8025" y="3962400"/>
            <a:ext cx="792099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were mostly aligned with the annotations. It correctly</a:t>
            </a:r>
          </a:p>
        </p:txBody>
      </p:sp>
      <p:sp>
        <p:nvSpPr>
          <p:cNvPr id="61" name="Feedback continuation 2 1">
            <a:extLst xmlns:a="http://schemas.openxmlformats.org/drawingml/2006/main">
              <a:ext uri="{FF2B5EF4-FFF2-40B4-BE49-F238E27FC236}">
                <a16:creationId xmlns:a16="http://schemas.microsoft.com/office/drawing/2014/main" id="{55F73EFA-FC3D-4D4E-8BC3-D3846ACE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8025" y="4162425"/>
            <a:ext cx="865441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identified issues with …  However, it did not fully capture</a:t>
            </a:r>
          </a:p>
        </p:txBody>
      </p:sp>
      <p:sp>
        <p:nvSpPr>
          <p:cNvPr id="62" name="Feedback continuation 2 2">
            <a:extLst xmlns:a="http://schemas.openxmlformats.org/drawingml/2006/main">
              <a:ext uri="{FF2B5EF4-FFF2-40B4-BE49-F238E27FC236}">
                <a16:creationId xmlns:a16="http://schemas.microsoft.com/office/drawing/2014/main" id="{C86FC60F-A5C8-4353-95B3-BC4596C0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8025" y="4362450"/>
            <a:ext cx="645414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the blending issues with the shoe and sock …</a:t>
            </a:r>
          </a:p>
        </p:txBody>
      </p:sp>
      <p:sp>
        <p:nvSpPr>
          <p:cNvPr id="63" name="Feedback heading 3">
            <a:extLst xmlns:a="http://schemas.openxmlformats.org/drawingml/2006/main">
              <a:ext uri="{FF2B5EF4-FFF2-40B4-BE49-F238E27FC236}">
                <a16:creationId xmlns:a16="http://schemas.microsoft.com/office/drawing/2014/main" id="{66327D9C-0CD5-41A2-9B62-06F949F4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8025" y="4572000"/>
            <a:ext cx="433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00C25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0C25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00C253"/>
                </a:solidFill>
                <a:latin typeface="Times New Roman"/>
                <a:ea typeface="Times New Roman"/>
                <a:cs typeface="Times New Roman"/>
              </a:rPr>
              <a:t>Plausibility (5-Excellent)</a:t>
            </a:r>
          </a:p>
        </p:txBody>
      </p:sp>
      <p:sp>
        <p:nvSpPr>
          <p:cNvPr id="64" name="Feedback first line 3">
            <a:extLst xmlns:a="http://schemas.openxmlformats.org/drawingml/2006/main">
              <a:ext uri="{FF2B5EF4-FFF2-40B4-BE49-F238E27FC236}">
                <a16:creationId xmlns:a16="http://schemas.microsoft.com/office/drawing/2014/main" id="{9A336A2A-69D9-4A18-B3AA-D202D811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44550" y="4591050"/>
            <a:ext cx="337375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: The assistant did not</a:t>
            </a:r>
          </a:p>
        </p:txBody>
      </p:sp>
      <p:sp>
        <p:nvSpPr>
          <p:cNvPr id="65" name="Feedback continuation 3 0">
            <a:extLst xmlns:a="http://schemas.openxmlformats.org/drawingml/2006/main">
              <a:ext uri="{FF2B5EF4-FFF2-40B4-BE49-F238E27FC236}">
                <a16:creationId xmlns:a16="http://schemas.microsoft.com/office/drawing/2014/main" id="{49C410E6-0CA2-4EF2-AB91-9AE84029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8025" y="4819650"/>
            <a:ext cx="836104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incorrectly identify authentic regions as inauthentic. It</a:t>
            </a:r>
          </a:p>
        </p:txBody>
      </p:sp>
      <p:sp>
        <p:nvSpPr>
          <p:cNvPr id="66" name="Feedback continuation 3 1">
            <a:extLst xmlns:a="http://schemas.openxmlformats.org/drawingml/2006/main">
              <a:ext uri="{FF2B5EF4-FFF2-40B4-BE49-F238E27FC236}">
                <a16:creationId xmlns:a16="http://schemas.microsoft.com/office/drawing/2014/main" id="{6EA62139-E8F3-45BB-AC59-2772CF0A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8025" y="5019675"/>
            <a:ext cx="704088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also avoided adding regions beyond those marked.</a:t>
            </a:r>
          </a:p>
        </p:txBody>
      </p:sp>
    </p:spTree>
    <p:extLst>
      <p:ext uri="{BB962C8B-B14F-4D97-AF65-F5344CB8AC3E}">
        <p14:creationId xmlns:p14="http://schemas.microsoft.com/office/powerpoint/2010/main" val="6787880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2026-10-18T11:18:36.0830000Z</dcterms:created>
  <dcterms:modified xsi:type="dcterms:W3CDTF">2026-10-18T11:18:36.0830000Z</dcterms:modified>
</coreProperties>
</file>