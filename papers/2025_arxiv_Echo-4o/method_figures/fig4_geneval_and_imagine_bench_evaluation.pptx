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a1427c7fba4a0c" /><Relationship Type="http://schemas.openxmlformats.org/officeDocument/2006/relationships/extended-properties" Target="/docProps/app.xml" Id="R3cff5cc22a544ea3" /><Relationship Type="http://schemas.openxmlformats.org/officeDocument/2006/relationships/officeDocument" Target="/ppt/presentation.xml" Id="R34022925a5cd4f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418dd303bc47f9"/>
  </p:sldMasterIdLst>
  <p:notesMasterIdLst>
    <p:notesMasterId xmlns:r="http://schemas.openxmlformats.org/officeDocument/2006/relationships" r:id="R531fcad0310449a9"/>
  </p:notesMasterIdLst>
  <p:sldIdLst>
    <p:sldId xmlns:r="http://schemas.openxmlformats.org/officeDocument/2006/relationships" id="256" r:id="Rbfd79eb3cd4a414f"/>
  </p:sldIdLst>
  <p:sldSz cx="19507200" cy="100679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9987c046e649e2" /><Relationship Type="http://schemas.openxmlformats.org/officeDocument/2006/relationships/slideMaster" Target="/ppt/slideMasters/slideMaster1.xml" Id="R18418dd303bc47f9" /><Relationship Type="http://schemas.openxmlformats.org/officeDocument/2006/relationships/notesMaster" Target="/ppt/notesMasters/notesMaster1.xml" Id="R531fcad0310449a9" /><Relationship Type="http://schemas.openxmlformats.org/officeDocument/2006/relationships/presProps" Target="/ppt/presProps.xml" Id="R231da290c7134f79" /><Relationship Type="http://schemas.openxmlformats.org/officeDocument/2006/relationships/tableStyles" Target="/ppt/tableStyles.xml" Id="Rd8100e18eeda4b7f" /><Relationship Type="http://schemas.openxmlformats.org/officeDocument/2006/relationships/slide" Target="/ppt/slides/slide1.xml" Id="Rbfd79eb3cd4a41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cbca3b689b4c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b7e6102553455f" /><Relationship Type="http://schemas.openxmlformats.org/officeDocument/2006/relationships/notesMaster" Target="/ppt/notesMasters/notesMaster1.xml" Id="Refadab18fafb42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reconstruction, not author-provided PowerPoint.</a:t>
            </a:r>
          </a:p>
          <a:p xmlns:a="http://schemas.openxmlformats.org/drawingml/2006/main">
            <a:r>
              <a:t>GenEval++ and Imagine-Bench Evaluation</a:t>
            </a:r>
          </a:p>
          <a:p xmlns:a="http://schemas.openxmlformats.org/drawingml/2006/main">
            <a:r>
              <a:t>Source: https://arxiv.org/abs/2508.09987v1</a:t>
            </a:r>
          </a:p>
          <a:p xmlns:a="http://schemas.openxmlformats.org/drawingml/2006/main">
            <a:r>
              <a:t>Approved image: fig4_geneval_and_imagine_bench_evaluation.png; SHA-256: 455d5d9353b8fd0b7b7cb8edc81b90152a40bd9d232dde49884771eb4a3b76a4</a:t>
            </a:r>
          </a:p>
          <a:p xmlns:a="http://schemas.openxmlformats.org/drawingml/2006/main">
            <a:r>
              <a:t>Readable diagram labels and vector geometry are native editable PowerPoint objects. Arrow paths are not endpoint-bound connectors and plot paths are not data-bound charts. Photos and complex local illustrations remain independent raster objects (7), whose internal pixels are not editable.</a:t>
            </a:r>
          </a:p>
          <a:p xmlns:a="http://schemas.openxmlformats.org/drawingml/2006/main">
            <a:r>
              <a:t>Font substitution: flattened source artwork rebuilt with Comic Sans MS, Arial (installed Windows fonts). Gradients, shadows, 3-D bar shading and freehand strokes are approximate. This is a reconstruction,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roundtrip,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248a7dc2948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4b06cdd694e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2df865d534d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bcb7669424d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03aef3254f4e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a5de4f1c404e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E6EC6D-E76C-4A04-ABBE-6D10792DCB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50720" y="3803438"/>
            <a:ext cx="15605760" cy="1454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1741EC-FBE2-4EC1-B749-C271575493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926080" y="5537359"/>
            <a:ext cx="13655040" cy="1118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328307-0DB8-48AA-9C1E-B007DF49CB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50720" y="4194969"/>
            <a:ext cx="15605760" cy="1677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16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47AFDB-9415-46D2-91F6-473014FBA8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783061"/>
            <a:ext cx="17312640" cy="1230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84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757654-4E0D-4ACD-A0DC-494154C9CA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2796646"/>
            <a:ext cx="17312640" cy="6264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35598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1pPr>
            <a:lvl2pPr marL="783061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2pPr>
            <a:lvl3pPr marL="1230524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3pPr>
            <a:lvl4pPr marL="1677988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4pPr>
            <a:lvl5pPr marL="2125451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5pPr>
            <a:lvl6pPr marL="2572914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6pPr>
            <a:lvl7pPr marL="3020377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7pPr>
            <a:lvl8pPr marL="3467841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8pPr>
            <a:lvl9pPr marL="3915304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90AA0F-C6C0-48A4-8B29-540BBE4569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783061"/>
            <a:ext cx="17312640" cy="1230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84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A4591F-AA61-45F1-991D-D9B3E2B760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2796646"/>
            <a:ext cx="8046720" cy="6264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35598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1pPr>
            <a:lvl2pPr marL="783061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2pPr>
            <a:lvl3pPr marL="1230524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3pPr>
            <a:lvl4pPr marL="1677988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4pPr>
            <a:lvl5pPr marL="2125451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5pPr>
            <a:lvl6pPr marL="2572914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6pPr>
            <a:lvl7pPr marL="3020377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7pPr>
            <a:lvl8pPr marL="3467841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8pPr>
            <a:lvl9pPr marL="3915304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FF4817-3597-42A9-8A49-935703BB0C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363200" y="2796646"/>
            <a:ext cx="8046720" cy="6264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35598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1pPr>
            <a:lvl2pPr marL="783061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2pPr>
            <a:lvl3pPr marL="1230524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3pPr>
            <a:lvl4pPr marL="1677988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4pPr>
            <a:lvl5pPr marL="2125451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5pPr>
            <a:lvl6pPr marL="2572914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6pPr>
            <a:lvl7pPr marL="3020377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7pPr>
            <a:lvl8pPr marL="3467841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8pPr>
            <a:lvl9pPr marL="3915304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36529A-AA5E-479D-824C-3D953381DC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783061"/>
            <a:ext cx="17312640" cy="1230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84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BFB48F-275D-4BB9-A05C-EE4DF52525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2796646"/>
            <a:ext cx="8046720" cy="6264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35598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1pPr>
            <a:lvl2pPr marL="783061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2pPr>
            <a:lvl3pPr marL="1230524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3pPr>
            <a:lvl4pPr marL="1677988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4pPr>
            <a:lvl5pPr marL="2125451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5pPr>
            <a:lvl6pPr marL="2572914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6pPr>
            <a:lvl7pPr marL="3020377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7pPr>
            <a:lvl8pPr marL="3467841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8pPr>
            <a:lvl9pPr marL="3915304" indent="-335597">
              <a:lnSpc>
                <a:spcPct val="110000"/>
              </a:lnSpc>
              <a:spcBef>
                <a:spcPts val="0"/>
              </a:spcBef>
              <a:spcAft>
                <a:spcPts val="176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bf418312104b3b" /><Relationship Type="http://schemas.openxmlformats.org/officeDocument/2006/relationships/slideLayout" Target="/ppt/slideLayouts/slideLayout1.xml" Id="R1b970dfc1aa7417d" /><Relationship Type="http://schemas.openxmlformats.org/officeDocument/2006/relationships/slideLayout" Target="/ppt/slideLayouts/slideLayout2.xml" Id="R707dc0adc52c4d7a" /><Relationship Type="http://schemas.openxmlformats.org/officeDocument/2006/relationships/slideLayout" Target="/ppt/slideLayouts/slideLayout3.xml" Id="R7f3940242d5c410c" /><Relationship Type="http://schemas.openxmlformats.org/officeDocument/2006/relationships/slideLayout" Target="/ppt/slideLayouts/slideLayout4.xml" Id="Rc8b9180f0f94493d" /><Relationship Type="http://schemas.openxmlformats.org/officeDocument/2006/relationships/slideLayout" Target="/ppt/slideLayouts/slideLayout5.xml" Id="R5c80e29fec8f4642" /><Relationship Type="http://schemas.openxmlformats.org/officeDocument/2006/relationships/slideLayout" Target="/ppt/slideLayouts/slideLayout6.xml" Id="R8a0cec5f5e7246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970dfc1aa7417d"/>
    <p:sldLayoutId xmlns:r="http://schemas.openxmlformats.org/officeDocument/2006/relationships" id="2147483650" r:id="R707dc0adc52c4d7a"/>
    <p:sldLayoutId xmlns:r="http://schemas.openxmlformats.org/officeDocument/2006/relationships" id="2147483651" r:id="R7f3940242d5c410c"/>
    <p:sldLayoutId xmlns:r="http://schemas.openxmlformats.org/officeDocument/2006/relationships" id="2147483652" r:id="Rc8b9180f0f94493d"/>
    <p:sldLayoutId xmlns:r="http://schemas.openxmlformats.org/officeDocument/2006/relationships" id="2147483653" r:id="R5c80e29fec8f4642"/>
    <p:sldLayoutId xmlns:r="http://schemas.openxmlformats.org/officeDocument/2006/relationships" id="2147483654" r:id="R8a0cec5f5e7246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6ef7484c2143e2" /><Relationship Type="http://schemas.openxmlformats.org/officeDocument/2006/relationships/image" Target="/ppt/media/image.png" Id="R7bef5ab8d2084ffe" /><Relationship Type="http://schemas.openxmlformats.org/officeDocument/2006/relationships/image" Target="/ppt/media/image2.png" Id="R4a68f2a3828149e4" /><Relationship Type="http://schemas.openxmlformats.org/officeDocument/2006/relationships/image" Target="/ppt/media/image3.png" Id="R3712ebbd90dd4245" /><Relationship Type="http://schemas.openxmlformats.org/officeDocument/2006/relationships/image" Target="/ppt/media/image4.png" Id="Rc5ca368eb47f4e26" /><Relationship Type="http://schemas.openxmlformats.org/officeDocument/2006/relationships/image" Target="/ppt/media/image5.png" Id="Read7c49e90994487" /><Relationship Type="http://schemas.openxmlformats.org/officeDocument/2006/relationships/image" Target="/ppt/media/image6.png" Id="Rd26da00973dc4912" /><Relationship Type="http://schemas.openxmlformats.org/officeDocument/2006/relationships/image" Target="/ppt/media/image7.png" Id="Rc8228c7083b54016" /><Relationship Type="http://schemas.openxmlformats.org/officeDocument/2006/relationships/notesSlide" Target="/ppt/notesSlides/notesSlide1.xml" Id="Rfbad537b7bc84b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4" name="Existing GenEval heading marker">
            <a:extLst xmlns:a="http://schemas.openxmlformats.org/drawingml/2006/main">
              <a:ext uri="{FF2B5EF4-FFF2-40B4-BE49-F238E27FC236}">
                <a16:creationId xmlns:a16="http://schemas.microsoft.com/office/drawing/2014/main" id="{537F67FB-7F79-4CCA-AD9A-23A13C78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3350"/>
            <a:ext cx="180975" cy="685800"/>
          </a:xfrm>
          <a:custGeom xmlns:a="http://schemas.openxmlformats.org/drawingml/2006/main">
            <a:pathLst>
              <a:path w="180975" h="685800">
                <a:moveTo>
                  <a:pt x="85725" y="0"/>
                </a:moveTo>
                <a:lnTo>
                  <a:pt x="95250" y="0"/>
                </a:lnTo>
                <a:cubicBezTo>
                  <a:pt x="142595" y="0"/>
                  <a:pt x="180975" y="38380"/>
                  <a:pt x="180975" y="85725"/>
                </a:cubicBezTo>
                <a:lnTo>
                  <a:pt x="180975" y="600075"/>
                </a:lnTo>
                <a:cubicBezTo>
                  <a:pt x="180975" y="647420"/>
                  <a:pt x="142595" y="685800"/>
                  <a:pt x="95250" y="685800"/>
                </a:cubicBezTo>
                <a:lnTo>
                  <a:pt x="85725" y="685800"/>
                </a:lnTo>
                <a:cubicBezTo>
                  <a:pt x="38380" y="685800"/>
                  <a:pt x="0" y="647420"/>
                  <a:pt x="0" y="6000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4A858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" name="Existing GenEval">
            <a:extLst xmlns:a="http://schemas.openxmlformats.org/drawingml/2006/main">
              <a:ext uri="{FF2B5EF4-FFF2-40B4-BE49-F238E27FC236}">
                <a16:creationId xmlns:a16="http://schemas.microsoft.com/office/drawing/2014/main" id="{119A1F7E-A792-42C6-9B7B-52255B32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114300"/>
            <a:ext cx="5334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50" b="1" i="0">
                <a:solidFill>
                  <a:srgbClr val="4A858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4A8585"/>
                </a:solidFill>
                <a:latin typeface="Comic Sans MS"/>
                <a:ea typeface="Comic Sans MS"/>
                <a:cs typeface="Comic Sans MS"/>
              </a:defRPr>
            </a:pPr>
            <a:r>
              <a:rPr sz="4050" b="1" i="0">
                <a:solidFill>
                  <a:srgbClr val="4A8585"/>
                </a:solidFill>
                <a:latin typeface="Comic Sans MS"/>
                <a:ea typeface="Comic Sans MS"/>
                <a:cs typeface="Comic Sans MS"/>
              </a:rPr>
              <a:t>Existing GenEval</a:t>
            </a:r>
          </a:p>
        </p:txBody>
      </p:sp>
      <p:sp>
        <p:nvSpPr>
          <p:cNvPr id="3" name="GenEval ++ heading marker">
            <a:extLst xmlns:a="http://schemas.openxmlformats.org/drawingml/2006/main">
              <a:ext uri="{FF2B5EF4-FFF2-40B4-BE49-F238E27FC236}">
                <a16:creationId xmlns:a16="http://schemas.microsoft.com/office/drawing/2014/main" id="{DEA493B5-FDEB-4919-8201-EF226BD1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42875"/>
            <a:ext cx="180975" cy="685800"/>
          </a:xfrm>
          <a:custGeom xmlns:a="http://schemas.openxmlformats.org/drawingml/2006/main">
            <a:pathLst>
              <a:path w="180975" h="685800">
                <a:moveTo>
                  <a:pt x="85725" y="0"/>
                </a:moveTo>
                <a:lnTo>
                  <a:pt x="95250" y="0"/>
                </a:lnTo>
                <a:cubicBezTo>
                  <a:pt x="142595" y="0"/>
                  <a:pt x="180975" y="38380"/>
                  <a:pt x="180975" y="85725"/>
                </a:cubicBezTo>
                <a:lnTo>
                  <a:pt x="180975" y="600075"/>
                </a:lnTo>
                <a:cubicBezTo>
                  <a:pt x="180975" y="647420"/>
                  <a:pt x="142595" y="685800"/>
                  <a:pt x="95250" y="685800"/>
                </a:cubicBezTo>
                <a:lnTo>
                  <a:pt x="85725" y="685800"/>
                </a:lnTo>
                <a:cubicBezTo>
                  <a:pt x="38380" y="685800"/>
                  <a:pt x="0" y="647420"/>
                  <a:pt x="0" y="6000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006DA7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GenEval ++">
            <a:extLst xmlns:a="http://schemas.openxmlformats.org/drawingml/2006/main">
              <a:ext uri="{FF2B5EF4-FFF2-40B4-BE49-F238E27FC236}">
                <a16:creationId xmlns:a16="http://schemas.microsoft.com/office/drawing/2014/main" id="{2A5CBA5B-EA54-4907-A65A-9B22EC84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123825"/>
            <a:ext cx="5334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pPr>
            <a:r>
              <a:rPr sz="40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rPr>
              <a:t>GenEval ++</a:t>
            </a:r>
          </a:p>
        </p:txBody>
      </p:sp>
      <p:sp>
        <p:nvSpPr>
          <p:cNvPr id="5" name="Imagine-Bench heading marker">
            <a:extLst xmlns:a="http://schemas.openxmlformats.org/drawingml/2006/main">
              <a:ext uri="{FF2B5EF4-FFF2-40B4-BE49-F238E27FC236}">
                <a16:creationId xmlns:a16="http://schemas.microsoft.com/office/drawing/2014/main" id="{89F3EB70-3B47-48E4-9E29-ABC88BEF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180975" cy="685800"/>
          </a:xfrm>
          <a:custGeom xmlns:a="http://schemas.openxmlformats.org/drawingml/2006/main">
            <a:pathLst>
              <a:path w="180975" h="685800">
                <a:moveTo>
                  <a:pt x="85725" y="0"/>
                </a:moveTo>
                <a:lnTo>
                  <a:pt x="95250" y="0"/>
                </a:lnTo>
                <a:cubicBezTo>
                  <a:pt x="142595" y="0"/>
                  <a:pt x="180975" y="38380"/>
                  <a:pt x="180975" y="85725"/>
                </a:cubicBezTo>
                <a:lnTo>
                  <a:pt x="180975" y="600075"/>
                </a:lnTo>
                <a:cubicBezTo>
                  <a:pt x="180975" y="647420"/>
                  <a:pt x="142595" y="685800"/>
                  <a:pt x="95250" y="685800"/>
                </a:cubicBezTo>
                <a:lnTo>
                  <a:pt x="85725" y="685800"/>
                </a:lnTo>
                <a:cubicBezTo>
                  <a:pt x="38380" y="685800"/>
                  <a:pt x="0" y="647420"/>
                  <a:pt x="0" y="6000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6F339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" name="Imagine-Bench">
            <a:extLst xmlns:a="http://schemas.openxmlformats.org/drawingml/2006/main">
              <a:ext uri="{FF2B5EF4-FFF2-40B4-BE49-F238E27FC236}">
                <a16:creationId xmlns:a16="http://schemas.microsoft.com/office/drawing/2014/main" id="{43710D4D-AF52-4486-B99D-A8D018D1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6210300"/>
            <a:ext cx="5334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40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Imagine-Bench</a:t>
            </a:r>
          </a:p>
        </p:txBody>
      </p:sp>
      <p:sp>
        <p:nvSpPr>
          <p:cNvPr id="7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B4E8663-D9F9-45B6-B23F-D6F8DD53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7A4A2CF-D669-460B-A04C-FB2702E2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0ACF249-26DF-4435-8667-4DD99CDC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57AF11A-D1FB-4D13-AA97-8C8A9347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57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28C5CF9-0836-40E1-B420-8A9F995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000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77805A0-FB6C-41B3-A033-4D0F8C2C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7143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BF65B66-AAA0-4D3D-ABDD-66722ADF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8286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3A67CCB-8E76-4F98-909C-4AD6B0EF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429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CFA0721-0CD3-4D9B-9D30-DFA0634E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0572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DEC5BC7-00E2-4104-9A2C-C80A54E4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1715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17C6149-C0B6-493A-BC8B-5F594D8D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858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A904A1D-1E45-4A91-8665-6A459C08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01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D7A5F2D-4E81-4F55-9EB6-8CF43951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144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2842C2B-7207-44E8-9739-49C64D7E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287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C4E07B7-EEB2-49CB-A7A0-396ACD6D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430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316E2C4-3BC3-4552-84A7-E75E0523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3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689FAB2-5EFF-41F6-853C-25A9A884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9442774-4734-41B3-A41A-07FA5481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859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87A1159-4029-446E-9877-539C2CAE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02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23B15D2-8B9A-480C-8AAB-6D9B45E8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145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2C15501-B832-4286-96F1-18F93202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288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96A27B6-45F6-4A88-8312-7B77C7AE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431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7DB8889-227D-4F2C-8424-C9E321D7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574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0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C2FBF03-15CA-4840-A5D5-60629E68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717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1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F69306C-DF60-4785-8112-C52E77B9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860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2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8165285-A1E4-4DC1-907A-6AAFD792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003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3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BD7A0A1-D976-4B24-89E4-DAB6B57B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146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4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31B9CB7-2DF9-4B4E-AC2D-46A8258E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289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5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0079A8F-1F38-4EED-8AE1-B8185FD4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432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6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982B1F3-AC1A-46A1-8DEA-288F2A24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575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7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3D66124-AAD8-430C-822B-22E324C0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718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8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44387D5-FE07-4A42-BC5F-CBDE2F29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861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9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A7B29BB-B009-454D-9404-745901B1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004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0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B1FA406-9FE3-466D-824D-D673D5C7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147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1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2645B48-5D36-4890-95D8-1758942F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290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2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8103267-48B1-442B-97B8-04182417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433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3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C27AE74-223F-4CCC-A281-2385F214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576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4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F3AF1DD-191C-49A3-B160-0C084D3A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719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5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C341471-3FD0-4E64-9596-E2351528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862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6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04CD59A-0B16-4CD3-B0E7-4EFFC6A8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005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7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0B9EEEA-0B69-47A1-A97D-A1FB1E89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148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8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7018AD5-C19E-4408-9F0E-BFB2AF28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291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9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C0127A8-8695-4D35-91EC-D6DC4C8D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434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0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7153E36-93E2-4C0B-94B7-3C770829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577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1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B4DDDAE-3B9E-437B-9B9C-7EAB47EB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720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2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0CE012B-48FC-40D9-B380-5C5EBD4F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863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3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C422B79-9729-4708-93DA-84F4AC56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006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4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D84669B-5B10-45C1-BD28-F620241D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5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32BBA41-FFA7-4AD5-8D99-7D0850F2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292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6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078D2F1-9C79-415B-9805-601C1A82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7435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7" name="Vertic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B4E4E31-D216-4104-A865-4F7B3573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57875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E122330-CDE0-4B65-975A-1FFFCF80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AA29477-398C-455E-837B-181B1590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6F8C896-F957-419B-BFA0-F454E490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41E12A2-8D19-4003-9BEC-98419FA6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EFC0315-3BF2-4011-A324-9385A069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ABE2640-C00B-4867-B83B-1A36BE3E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6D6BF15-4A98-412D-96EF-429AE9F9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FDC4F1E-0B04-452E-98A4-DAD87BA9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C7059A3-4EBE-4E75-BCD5-E07B86AB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1BDFB96-85BB-4F5A-ACD4-0C7D5B86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3F65EE0-DAA2-45F9-A260-18E21D8E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8D62639-92DD-4A80-AD55-513FF83A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D6FC86F-654F-4339-8465-F9D05387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9B723B4-3962-4642-8883-28FD453E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CCCD42D-78F4-4F54-8426-5B81A768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FBAD7A3-FE4D-4AC7-BCEC-21DE6E0D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F7C063B-5AA7-46EC-B833-ECA46C9B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3CB7979-273C-4062-AA13-65A1F62A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CF64F71-6FC9-43A3-9399-FE1ECF1E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4D47BA9-8AEA-479E-8D67-3C24725D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074BB52-5735-4FEA-8D49-2F3913F5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B83D1D1-82A1-4967-9DEF-2826B982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D5D72B1-41DD-4314-9B63-A9D9D8E7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6BBD18E-4B1F-4030-8003-2E5A6F8D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B3DDCB0-75B8-439A-996D-D735DFA0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4AF6B95-D5D0-4896-9797-7BF27DD8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F902735-2277-4A0E-ACD8-AA2940B8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7E4B408-CD6D-4CA8-A953-E84969CD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FD6652C-0D20-4294-8428-E283AC02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2ABAA37-1B44-4E31-A547-51EADBCA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402318F-5E16-4C24-8088-CB5B8E65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6FDBB68-5F04-4E58-8C5A-E8A63C70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26D8DBC-3140-45FC-B8BA-5D49410A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7E46AAD-33F8-4B98-B6B0-B263B865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D153C08-EB0B-437A-B3FB-0DE26F70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7B020A9-CC53-494D-AD05-AD2FAF4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B703A4F-69F1-4B0F-8044-98AB8CA4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3D63D76-08E8-46CE-A306-2AE36417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F4CFD5E-8E23-4A19-88F5-8C523C7A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B04FFF3-FBFF-44E1-B197-AE76F204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BE5C78F-7F8D-4DDB-8432-9198A2ED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952E1E6-4B40-4FB0-A2EF-94A8A005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3A7831D-94CC-486F-B426-9A25B3DF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04E15F3-706B-430E-AB62-19707BC2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B2B12FE-4E00-4292-AF6F-DF8551B0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34CBEB6-B2B2-45F0-9285-56431C62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033486F-6502-4FAD-8E35-C0D4083D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CEB1C2D-1CE8-4864-A165-6799840B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177008C-6D68-42F5-9C1C-E9979EA3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604C883-E46F-47D4-B9D8-ABAB3CF4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A8995EF-DF9C-4E4E-8094-9ACA63FE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512D4E0-D99C-4DD9-8776-B65AB0F5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CE4E50A-F6AE-4CEC-B67F-E8BAA2A7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4603746-40F4-4A1C-91A7-CE9DF4EA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9B228D9-4501-4195-9A22-DB64E4B1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5C91FED-5FD6-43D6-8501-9D9979FE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F3605D7-527D-4DC2-81F7-41E96F9C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DA87C00-9D26-47CA-89B1-93193FF3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1DDA845-9EBB-48CB-81BA-AD042AA8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222E9CC-E67B-436B-96F3-BD90C0BC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4B68E0D-0AF8-4C96-991F-4C932249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5135294-E382-4468-9DB8-61B1EFE0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83C9B74-2489-45E3-B758-2D77EFE7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3918DE4-389E-4633-9F27-DD73FF3D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25B595E-C0DD-4CD3-9D8E-A17E28DA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B248EA3-CBC1-490D-87C9-D3A46B78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D660E3E-1859-4CAF-9DC8-C32C37EA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810287E-FC8F-4ADC-938E-70E17AEF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1CA50C3-8A76-4715-BAAC-502BC2FF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6F7B3D7-62CF-401D-B699-4565C607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515BC9F-88C9-4E1E-B736-0DC20EE4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F28912C-5610-4AD0-BF27-06B3A14D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8AF01FE-1302-4132-AD43-22CCB337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2C1000F-03BB-4C9F-B87E-AC9D7CD1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DD078A9-5A35-4FC7-8E18-BB58C6B6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AE19F80-57F1-46A4-A45A-C51E5965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09D8B29-4515-45CA-B3B8-6CED367E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580BB0D-4862-4EF6-B67B-82A9C821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118A4CA-EB6D-476D-A873-BA41A6BC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A2F44C5-5B8E-412D-B362-5D122913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C3CF6C9-38AE-4A4F-AE4A-05D91F58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9758E2C-DE4B-4075-A8F4-CB22952B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619E992-A854-4693-8FE9-194235FA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A5792CB-12F3-4A36-9925-EFB11E0F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94E793C-98CB-4CF7-9241-6C181AC2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37F9AF5-015E-4601-80E6-BDE763BB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E29D67D-E15B-46B7-A4A2-FFD8F036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2D86BA0-A91D-4CBA-956B-5BF08D4F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C627542-02FE-4719-B95E-8D41E1EF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5B8390A-B7A9-4582-8287-19FFB74D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C957A02-D65F-4381-A5AB-390EE759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A0808D8-D01F-4B67-9FEA-6C3A0952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AE1B8DA-2139-44B1-8AE3-1BC8F48F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EFBFD69-66D7-461D-B20F-4EB8DF8F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64DBADD0-3D77-425E-8BA0-E00D9D78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7240F51-B6DC-4117-990E-09D770B9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BF63218-E48F-4819-BBE1-C94D2978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6A7047E-A55B-4008-9904-C1B3B827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45AD035-1C7A-43DC-B937-36CA06A3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2A80870-08B1-44A9-8D58-4DAD01B2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0F876CD-8444-4672-8622-9C8D6B14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78EA445-2A3C-4EF9-85A3-AE44BC2B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C84F142-96EC-4AD4-9B2D-CFB8B449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E55367C-20EA-4CB5-B98F-2AB0711A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0FFD064-D6CB-45D6-A1A8-9A584A71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F31EEE7-7120-4088-8BEC-6E10A548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6E7EF9A-DE6A-49E4-9574-C3742BEE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F7A67B7-EE07-41E3-B589-1948EC24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B6D3893-9102-46DB-84AA-4797FBD5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F650772-018B-4647-A7FE-61B03817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A3591E3-A7B9-45EE-91D2-CF9A9142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00DD0F5-E676-457C-BF35-07455E25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09BEE05-AAFB-4748-95F3-6FEDA1D5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537C89C-7C16-4A34-B8D3-FF3AA53F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7D492B0-3B7E-47B7-9B2D-F021EBF2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11D8491-6D0C-4C40-A37B-D9BAD988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D25920B-06FF-4E2F-B585-90CD11EE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8C06298-52A1-49F8-8D01-686E7EE4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4A17C1D-2266-4B31-95D7-77E4B0FF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1A21FB7-D84A-4C6E-A098-35816FF9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2EEF4CE-887A-4E1B-9915-2275AE12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99109B2-2806-45EE-83ED-7FEC6F53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19EE7BB9-A56B-42C4-92A7-9F86E618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323DBFF-1213-4C43-8FEA-6A2A217B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F566F64-EB61-43E6-B56A-7D0B322B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DCCB7D3-0137-4A07-93BB-864C5B51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9EA39BC-4F9F-433D-B6C8-ECE4AD59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7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F546E92-6D3C-4662-878B-8FEE2163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A333040-91C5-4AAD-A631-D5616530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3319EE89-0C7F-47E5-BECC-14F15D5A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D6F6566-05A4-4713-8DB2-3B30EDBD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46879E8-655B-47CC-9411-10837E44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9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C7278F3-91E7-4668-BBBA-99E30F02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258931C-C9E4-4D28-A810-DDE3B265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F185D0D-1375-4A02-BFA3-0ECF47C1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1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8650C53-47C8-4707-B125-0CF55874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39D2634-0F93-476B-A403-BE5D4B70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0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B214579-85C0-453C-995B-05CBDDDE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952C192-26AA-4182-B6E7-7A785A50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FFBAD73-E272-4335-9FA3-48485CEC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60D8DA2-B7CF-41BE-A002-96CBB280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7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BE528DA-C903-457F-BCF4-52C189CE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2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4B8637A-B864-4752-AB88-DEDB7AF2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446C3240-C1C1-41A2-A965-4FB14325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BDD9191-1500-4090-B7E1-94D7B233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4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822C417-7F4F-4A6B-B630-2694B58C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D38B126-7059-464A-9364-8F68B0E8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3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A9F36AF0-77D7-4605-BC49-FEABC23C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7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43A0399-EDFF-4B2C-916C-53C6C5A7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786ACA6-D3E8-48DF-80DF-3EA4611D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7C7E951-9308-4DC2-8BA3-20302B46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0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DDF4FB51-86E8-463E-A661-DE85C1F8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9469B2EA-97C5-46C8-B2D7-9C3E6B17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90978EE-9B90-4D87-A2E7-9AF87A13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C2EFD27-85DD-4C4B-867F-08DE7232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026E305-1121-42C3-9A8A-6E926EE2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02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E79C86CA-882F-4D89-B3C5-9F9C6E07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6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2A2D5467-F3C4-4FD4-BD5C-99F2438F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0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441B33B-C224-45AB-8E30-FD3815B5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CA6F3C5-86E4-450A-9A0E-C3629F0E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9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8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934E5A2-4724-4C5F-B38F-9310AA36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37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9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C8EFA0FD-7077-427A-B317-F5A6B4E5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80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0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5B5CB02B-54BB-441A-9D65-087C75A2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23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1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F0A64C9-87D5-4E1E-AAD8-DBBC7ECB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2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88556E01-C71A-4846-ACA5-94717D01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09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3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B0E7D7CB-68A0-4498-B139-83AC4594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52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4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FD7FE61A-0B20-4AF4-9D28-35554FCE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95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5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7151F6C5-1748-45A7-88DD-6024E29C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38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6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656DE74-5E66-49D3-9B47-D4D2E0AA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1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7" name="Horizontal dotted separation">
            <a:extLst xmlns:a="http://schemas.openxmlformats.org/drawingml/2006/main">
              <a:ext uri="{FF2B5EF4-FFF2-40B4-BE49-F238E27FC236}">
                <a16:creationId xmlns:a16="http://schemas.microsoft.com/office/drawing/2014/main" id="{0C389CCE-1D0B-4C96-AAAF-E1149689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2425" y="5962650"/>
            <a:ext cx="47625" cy="47625"/>
          </a:xfrm>
          <a:custGeom xmlns:a="http://schemas.openxmlformats.org/drawingml/2006/main">
            <a:pathLst>
              <a:path w="47625" h="47625">
                <a:moveTo>
                  <a:pt x="47625" y="23813"/>
                </a:moveTo>
                <a:cubicBezTo>
                  <a:pt x="47625" y="36964"/>
                  <a:pt x="36964" y="47625"/>
                  <a:pt x="23813" y="47625"/>
                </a:cubicBezTo>
                <a:cubicBezTo>
                  <a:pt x="10661" y="47625"/>
                  <a:pt x="0" y="36964"/>
                  <a:pt x="0" y="23813"/>
                </a:cubicBezTo>
                <a:cubicBezTo>
                  <a:pt x="0" y="10661"/>
                  <a:pt x="10661" y="0"/>
                  <a:pt x="23813" y="0"/>
                </a:cubicBezTo>
                <a:cubicBezTo>
                  <a:pt x="36964" y="0"/>
                  <a:pt x="47625" y="10661"/>
                  <a:pt x="47625" y="23813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19050">
            <a:noFill/>
            <a:prstDash val="solid"/>
          </a:ln>
        </p:spPr>
      </p:sp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EEB4BDFD-9650-4B9C-965E-293AA12CCA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f5ab8d2084ffe"/>
          <a:stretch xmlns:a="http://schemas.openxmlformats.org/drawingml/2006/main"/>
        </p:blipFill>
        <p:spPr>
          <a:xfrm xmlns:a="http://schemas.openxmlformats.org/drawingml/2006/main">
            <a:off x="430551" y="1047750"/>
            <a:ext cx="1920199" cy="1895475"/>
          </a:xfrm>
          <a:prstGeom xmlns:a="http://schemas.openxmlformats.org/drawingml/2006/main" prst="rect">
            <a:avLst/>
          </a:prstGeom>
        </p:spPr>
      </p:pic>
      <p:sp>
        <p:nvSpPr>
          <p:cNvPr id="229" name="Hotdog frame">
            <a:extLst xmlns:a="http://schemas.openxmlformats.org/drawingml/2006/main">
              <a:ext uri="{FF2B5EF4-FFF2-40B4-BE49-F238E27FC236}">
                <a16:creationId xmlns:a16="http://schemas.microsoft.com/office/drawing/2014/main" id="{5D6F5B36-5404-47AF-96E0-9F895F13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9650"/>
            <a:ext cx="2019300" cy="2009775"/>
          </a:xfrm>
          <a:custGeom xmlns:a="http://schemas.openxmlformats.org/drawingml/2006/main">
            <a:pathLst>
              <a:path w="2019300" h="2009775">
                <a:moveTo>
                  <a:pt x="152400" y="0"/>
                </a:moveTo>
                <a:lnTo>
                  <a:pt x="1866900" y="0"/>
                </a:lnTo>
                <a:cubicBezTo>
                  <a:pt x="1951068" y="0"/>
                  <a:pt x="2019300" y="68232"/>
                  <a:pt x="2019300" y="152400"/>
                </a:cubicBezTo>
                <a:lnTo>
                  <a:pt x="2019300" y="1857375"/>
                </a:lnTo>
                <a:cubicBezTo>
                  <a:pt x="2019300" y="1941543"/>
                  <a:pt x="1951068" y="2009775"/>
                  <a:pt x="1866900" y="2009775"/>
                </a:cubicBezTo>
                <a:lnTo>
                  <a:pt x="152400" y="2009775"/>
                </a:lnTo>
                <a:cubicBezTo>
                  <a:pt x="68232" y="2009775"/>
                  <a:pt x="0" y="1941543"/>
                  <a:pt x="0" y="185737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1B6B2"/>
            </a:solidFill>
            <a:prstDash val="solid"/>
          </a:ln>
        </p:spPr>
      </p:sp>
      <p:sp>
        <p:nvSpPr>
          <p:cNvPr id="230" name="MaskFormer classifier">
            <a:extLst xmlns:a="http://schemas.openxmlformats.org/drawingml/2006/main">
              <a:ext uri="{FF2B5EF4-FFF2-40B4-BE49-F238E27FC236}">
                <a16:creationId xmlns:a16="http://schemas.microsoft.com/office/drawing/2014/main" id="{56F0A836-998A-4E60-87C9-8569E541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66850"/>
            <a:ext cx="1447800" cy="1066800"/>
          </a:xfrm>
          <a:custGeom xmlns:a="http://schemas.openxmlformats.org/drawingml/2006/main">
            <a:pathLst>
              <a:path w="1447800" h="1066800">
                <a:moveTo>
                  <a:pt x="0" y="738188"/>
                </a:moveTo>
                <a:lnTo>
                  <a:pt x="914400" y="738188"/>
                </a:lnTo>
                <a:lnTo>
                  <a:pt x="914400" y="1066800"/>
                </a:lnTo>
                <a:lnTo>
                  <a:pt x="1447800" y="533400"/>
                </a:lnTo>
                <a:lnTo>
                  <a:pt x="914400" y="0"/>
                </a:lnTo>
                <a:lnTo>
                  <a:pt x="914400" y="328613"/>
                </a:lnTo>
                <a:lnTo>
                  <a:pt x="0" y="328613"/>
                </a:lnTo>
                <a:close/>
              </a:path>
            </a:pathLst>
          </a:custGeom>
          <a:solidFill xmlns:a="http://schemas.openxmlformats.org/drawingml/2006/main">
            <a:srgbClr val="B8D7D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1" name="MaskFormer">
            <a:extLst xmlns:a="http://schemas.openxmlformats.org/drawingml/2006/main">
              <a:ext uri="{FF2B5EF4-FFF2-40B4-BE49-F238E27FC236}">
                <a16:creationId xmlns:a16="http://schemas.microsoft.com/office/drawing/2014/main" id="{0A8FD6E5-AD25-48D0-B321-00218380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1847850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1">
                <a:solidFill>
                  <a:srgbClr val="4A858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1">
                <a:solidFill>
                  <a:srgbClr val="4A8585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1" i="1">
                <a:solidFill>
                  <a:srgbClr val="4A8585"/>
                </a:solidFill>
                <a:latin typeface="Comic Sans MS"/>
                <a:ea typeface="Comic Sans MS"/>
                <a:cs typeface="Comic Sans MS"/>
              </a:rPr>
              <a:t>MaskFormer</a:t>
            </a:r>
          </a:p>
        </p:txBody>
      </p:sp>
      <p:sp>
        <p:nvSpPr>
          <p:cNvPr id="232" name="Not">
            <a:extLst xmlns:a="http://schemas.openxmlformats.org/drawingml/2006/main">
              <a:ext uri="{FF2B5EF4-FFF2-40B4-BE49-F238E27FC236}">
                <a16:creationId xmlns:a16="http://schemas.microsoft.com/office/drawing/2014/main" id="{421D8524-A348-41F2-A10F-5850F5BF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1228725"/>
            <a:ext cx="1209675" cy="626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5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Not</a:t>
            </a:r>
          </a:p>
        </p:txBody>
      </p:sp>
      <p:sp>
        <p:nvSpPr>
          <p:cNvPr id="233" name="Hotdog">
            <a:extLst xmlns:a="http://schemas.openxmlformats.org/drawingml/2006/main">
              <a:ext uri="{FF2B5EF4-FFF2-40B4-BE49-F238E27FC236}">
                <a16:creationId xmlns:a16="http://schemas.microsoft.com/office/drawing/2014/main" id="{C812B538-B8FA-4364-BF53-E85F5EEB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1762125"/>
            <a:ext cx="2028825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Hotdog</a:t>
            </a:r>
          </a:p>
        </p:txBody>
      </p:sp>
      <p:sp>
        <p:nvSpPr>
          <p:cNvPr id="234" name="Classifier rejection X">
            <a:extLst xmlns:a="http://schemas.openxmlformats.org/drawingml/2006/main">
              <a:ext uri="{FF2B5EF4-FFF2-40B4-BE49-F238E27FC236}">
                <a16:creationId xmlns:a16="http://schemas.microsoft.com/office/drawing/2014/main" id="{0FA8A1CF-5D10-41F3-B157-BDF7D575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038350"/>
            <a:ext cx="666750" cy="695325"/>
          </a:xfrm>
          <a:custGeom xmlns:a="http://schemas.openxmlformats.org/drawingml/2006/main">
            <a:pathLst>
              <a:path w="666750" h="695325">
                <a:moveTo>
                  <a:pt x="0" y="142875"/>
                </a:moveTo>
                <a:lnTo>
                  <a:pt x="142875" y="0"/>
                </a:lnTo>
                <a:lnTo>
                  <a:pt x="304800" y="171450"/>
                </a:lnTo>
                <a:lnTo>
                  <a:pt x="476250" y="0"/>
                </a:lnTo>
                <a:lnTo>
                  <a:pt x="647700" y="142875"/>
                </a:lnTo>
                <a:lnTo>
                  <a:pt x="485775" y="323850"/>
                </a:lnTo>
                <a:lnTo>
                  <a:pt x="666750" y="523875"/>
                </a:lnTo>
                <a:lnTo>
                  <a:pt x="504825" y="685800"/>
                </a:lnTo>
                <a:lnTo>
                  <a:pt x="314325" y="504825"/>
                </a:lnTo>
                <a:lnTo>
                  <a:pt x="142875" y="695325"/>
                </a:lnTo>
                <a:lnTo>
                  <a:pt x="0" y="542925"/>
                </a:lnTo>
                <a:lnTo>
                  <a:pt x="161925" y="352425"/>
                </a:lnTo>
                <a:close/>
              </a:path>
            </a:pathLst>
          </a:custGeom>
          <a:solidFill xmlns:a="http://schemas.openxmlformats.org/drawingml/2006/main">
            <a:srgbClr val="FF505A"/>
          </a:solidFill>
          <a:ln xmlns:a="http://schemas.openxmlformats.org/drawingml/2006/main" w="28575">
            <a:solidFill>
              <a:srgbClr val="202020"/>
            </a:solidFill>
            <a:prstDash val="solid"/>
          </a:ln>
        </p:spPr>
      </p:sp>
      <p:sp>
        <p:nvSpPr>
          <p:cNvPr id="235" name="Inaccurate">
            <a:extLst xmlns:a="http://schemas.openxmlformats.org/drawingml/2006/main">
              <a:ext uri="{FF2B5EF4-FFF2-40B4-BE49-F238E27FC236}">
                <a16:creationId xmlns:a16="http://schemas.microsoft.com/office/drawing/2014/main" id="{0AD98ACA-1778-4500-A1B5-1720E894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075" y="31718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BE050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BE0505"/>
                </a:solidFill>
                <a:latin typeface="Comic Sans MS"/>
                <a:ea typeface="Comic Sans MS"/>
                <a:cs typeface="Comic Sans MS"/>
              </a:defRPr>
            </a:pPr>
            <a:r>
              <a:rPr sz="3000" b="1" i="0">
                <a:solidFill>
                  <a:srgbClr val="BE0505"/>
                </a:solidFill>
                <a:latin typeface="Comic Sans MS"/>
                <a:ea typeface="Comic Sans MS"/>
                <a:cs typeface="Comic Sans MS"/>
              </a:rPr>
              <a:t>Inaccurate</a:t>
            </a:r>
          </a:p>
        </p:txBody>
      </p:sp>
      <p:sp>
        <p:nvSpPr>
          <p:cNvPr id="236" name="&quot;a photo of a">
            <a:extLst xmlns:a="http://schemas.openxmlformats.org/drawingml/2006/main">
              <a:ext uri="{FF2B5EF4-FFF2-40B4-BE49-F238E27FC236}">
                <a16:creationId xmlns:a16="http://schemas.microsoft.com/office/drawing/2014/main" id="{B63360F9-15E3-4E01-8B19-6FAD20D2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3124200"/>
            <a:ext cx="28765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4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"a photo of a</a:t>
            </a:r>
          </a:p>
        </p:txBody>
      </p:sp>
      <p:sp>
        <p:nvSpPr>
          <p:cNvPr id="237" name="green hotdog&quot;">
            <a:extLst xmlns:a="http://schemas.openxmlformats.org/drawingml/2006/main">
              <a:ext uri="{FF2B5EF4-FFF2-40B4-BE49-F238E27FC236}">
                <a16:creationId xmlns:a16="http://schemas.microsoft.com/office/drawing/2014/main" id="{91FAC530-31D4-4F53-8A8C-DD14FF3E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" y="3543300"/>
            <a:ext cx="290512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4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green hotdog"</a:t>
            </a:r>
          </a:p>
        </p:txBody>
      </p:sp>
      <p:sp>
        <p:nvSpPr>
          <p:cNvPr id="238" name="Indicator saturation label background">
            <a:extLst xmlns:a="http://schemas.openxmlformats.org/drawingml/2006/main">
              <a:ext uri="{FF2B5EF4-FFF2-40B4-BE49-F238E27FC236}">
                <a16:creationId xmlns:a16="http://schemas.microsoft.com/office/drawing/2014/main" id="{1EBF0CA9-8447-4094-99C8-560792E9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048125"/>
            <a:ext cx="5029200" cy="619125"/>
          </a:xfrm>
          <a:custGeom xmlns:a="http://schemas.openxmlformats.org/drawingml/2006/main">
            <a:pathLst>
              <a:path w="5029200" h="619125">
                <a:moveTo>
                  <a:pt x="309563" y="0"/>
                </a:moveTo>
                <a:lnTo>
                  <a:pt x="4719638" y="0"/>
                </a:lnTo>
                <a:cubicBezTo>
                  <a:pt x="4890604" y="0"/>
                  <a:pt x="5029200" y="138596"/>
                  <a:pt x="5029200" y="309563"/>
                </a:cubicBezTo>
                <a:lnTo>
                  <a:pt x="5029200" y="309563"/>
                </a:lnTo>
                <a:cubicBezTo>
                  <a:pt x="5029200" y="480529"/>
                  <a:pt x="4890604" y="619125"/>
                  <a:pt x="4719638" y="619125"/>
                </a:cubicBezTo>
                <a:lnTo>
                  <a:pt x="309563" y="619125"/>
                </a:lnTo>
                <a:cubicBezTo>
                  <a:pt x="138596" y="619125"/>
                  <a:pt x="0" y="480529"/>
                  <a:pt x="0" y="309563"/>
                </a:cubicBezTo>
                <a:lnTo>
                  <a:pt x="0" y="309563"/>
                </a:lnTo>
                <a:cubicBezTo>
                  <a:pt x="0" y="138596"/>
                  <a:pt x="138596" y="0"/>
                  <a:pt x="309563" y="0"/>
                </a:cubicBezTo>
                <a:close/>
              </a:path>
            </a:pathLst>
          </a:custGeom>
          <a:solidFill xmlns:a="http://schemas.openxmlformats.org/drawingml/2006/main">
            <a:srgbClr val="E4F3F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39" name="Indicator saturation">
            <a:extLst xmlns:a="http://schemas.openxmlformats.org/drawingml/2006/main">
              <a:ext uri="{FF2B5EF4-FFF2-40B4-BE49-F238E27FC236}">
                <a16:creationId xmlns:a16="http://schemas.microsoft.com/office/drawing/2014/main" id="{D23945C4-22A5-4B93-AD81-9B18CC79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" y="4067175"/>
            <a:ext cx="4800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 i="0">
                <a:solidFill>
                  <a:srgbClr val="4A858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4A8585"/>
                </a:solidFill>
                <a:latin typeface="Comic Sans MS"/>
                <a:ea typeface="Comic Sans MS"/>
                <a:cs typeface="Comic Sans MS"/>
              </a:defRPr>
            </a:pPr>
            <a:r>
              <a:rPr sz="3150" b="1" i="0">
                <a:solidFill>
                  <a:srgbClr val="4A8585"/>
                </a:solidFill>
                <a:latin typeface="Comic Sans MS"/>
                <a:ea typeface="Comic Sans MS"/>
                <a:cs typeface="Comic Sans MS"/>
              </a:rPr>
              <a:t>Indicator saturation</a:t>
            </a:r>
          </a:p>
        </p:txBody>
      </p:sp>
      <p:sp>
        <p:nvSpPr>
          <p:cNvPr id="240" name="&quot;a photo of a cow&quot;">
            <a:extLst xmlns:a="http://schemas.openxmlformats.org/drawingml/2006/main">
              <a:ext uri="{FF2B5EF4-FFF2-40B4-BE49-F238E27FC236}">
                <a16:creationId xmlns:a16="http://schemas.microsoft.com/office/drawing/2014/main" id="{63D9B1C8-8FA6-4B50-B1A1-477DD591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943475"/>
            <a:ext cx="3324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6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"a photo of a cow"</a:t>
            </a:r>
          </a:p>
        </p:txBody>
      </p:sp>
      <p:sp>
        <p:nvSpPr>
          <p:cNvPr id="241" name="TOO EASY !!">
            <a:extLst xmlns:a="http://schemas.openxmlformats.org/drawingml/2006/main">
              <a:ext uri="{FF2B5EF4-FFF2-40B4-BE49-F238E27FC236}">
                <a16:creationId xmlns:a16="http://schemas.microsoft.com/office/drawing/2014/main" id="{DC50234F-6A24-4DDE-815D-F7936F93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4886325"/>
            <a:ext cx="2771775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 i="0">
                <a:solidFill>
                  <a:srgbClr val="C8191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C81919"/>
                </a:solidFill>
                <a:latin typeface="Comic Sans MS"/>
                <a:ea typeface="Comic Sans MS"/>
                <a:cs typeface="Comic Sans MS"/>
              </a:defRPr>
            </a:pPr>
            <a:r>
              <a:rPr sz="3300" b="1" i="0">
                <a:solidFill>
                  <a:srgbClr val="C81919"/>
                </a:solidFill>
                <a:latin typeface="Comic Sans MS"/>
                <a:ea typeface="Comic Sans MS"/>
                <a:cs typeface="Comic Sans MS"/>
              </a:rPr>
              <a:t>TOO EASY !!</a:t>
            </a:r>
          </a:p>
        </p:txBody>
      </p:sp>
      <p:sp>
        <p:nvSpPr>
          <p:cNvPr id="242" name="&quot;a photo of a fork and a book&quot;">
            <a:extLst xmlns:a="http://schemas.openxmlformats.org/drawingml/2006/main">
              <a:ext uri="{FF2B5EF4-FFF2-40B4-BE49-F238E27FC236}">
                <a16:creationId xmlns:a16="http://schemas.microsoft.com/office/drawing/2014/main" id="{66124E41-94DF-4E72-98B6-FB3D677B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410200"/>
            <a:ext cx="5924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6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"a photo of a fork and a book"</a:t>
            </a:r>
          </a:p>
        </p:txBody>
      </p:sp>
      <p:sp>
        <p:nvSpPr>
          <p:cNvPr id="243" name="GenEval instruction frame">
            <a:extLst xmlns:a="http://schemas.openxmlformats.org/drawingml/2006/main">
              <a:ext uri="{FF2B5EF4-FFF2-40B4-BE49-F238E27FC236}">
                <a16:creationId xmlns:a16="http://schemas.microsoft.com/office/drawing/2014/main" id="{2FB2DA2B-2A04-403A-9C4B-493DC2D5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247775"/>
            <a:ext cx="3267075" cy="1943100"/>
          </a:xfrm>
          <a:custGeom xmlns:a="http://schemas.openxmlformats.org/drawingml/2006/main">
            <a:pathLst>
              <a:path w="3267075" h="1943100">
                <a:moveTo>
                  <a:pt x="152400" y="0"/>
                </a:moveTo>
                <a:lnTo>
                  <a:pt x="3114675" y="0"/>
                </a:lnTo>
                <a:cubicBezTo>
                  <a:pt x="3198843" y="0"/>
                  <a:pt x="3267075" y="68232"/>
                  <a:pt x="3267075" y="152400"/>
                </a:cubicBezTo>
                <a:lnTo>
                  <a:pt x="3267075" y="1790700"/>
                </a:lnTo>
                <a:cubicBezTo>
                  <a:pt x="3267075" y="1874868"/>
                  <a:pt x="3198843" y="1943100"/>
                  <a:pt x="3114675" y="1943100"/>
                </a:cubicBezTo>
                <a:lnTo>
                  <a:pt x="152400" y="1943100"/>
                </a:lnTo>
                <a:cubicBezTo>
                  <a:pt x="68232" y="1943100"/>
                  <a:pt x="0" y="1874868"/>
                  <a:pt x="0" y="17907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6DA7"/>
            </a:solidFill>
            <a:prstDash val="solid"/>
          </a:ln>
        </p:spPr>
      </p:sp>
      <p:sp>
        <p:nvSpPr>
          <p:cNvPr id="244" name="&quot;A photo of two">
            <a:extLst xmlns:a="http://schemas.openxmlformats.org/drawingml/2006/main">
              <a:ext uri="{FF2B5EF4-FFF2-40B4-BE49-F238E27FC236}">
                <a16:creationId xmlns:a16="http://schemas.microsoft.com/office/drawing/2014/main" id="{3C249B31-6DE8-4CD7-A6EA-D612725B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1409700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"A photo of two</a:t>
            </a:r>
          </a:p>
        </p:txBody>
      </p:sp>
      <p:sp>
        <p:nvSpPr>
          <p:cNvPr id="245" name="purple cell phones">
            <a:extLst xmlns:a="http://schemas.openxmlformats.org/drawingml/2006/main">
              <a:ext uri="{FF2B5EF4-FFF2-40B4-BE49-F238E27FC236}">
                <a16:creationId xmlns:a16="http://schemas.microsoft.com/office/drawing/2014/main" id="{A10E54D5-5E39-4209-95F6-5A36C5C1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1866900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purple cell phones</a:t>
            </a:r>
          </a:p>
        </p:txBody>
      </p:sp>
      <p:sp>
        <p:nvSpPr>
          <p:cNvPr id="246" name="and three red">
            <a:extLst xmlns:a="http://schemas.openxmlformats.org/drawingml/2006/main">
              <a:ext uri="{FF2B5EF4-FFF2-40B4-BE49-F238E27FC236}">
                <a16:creationId xmlns:a16="http://schemas.microsoft.com/office/drawing/2014/main" id="{09F256DB-C241-4455-A18D-9875DBB7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2324100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 three red</a:t>
            </a:r>
          </a:p>
        </p:txBody>
      </p:sp>
      <p:sp>
        <p:nvSpPr>
          <p:cNvPr id="247" name="frisbees&quot;">
            <a:extLst xmlns:a="http://schemas.openxmlformats.org/drawingml/2006/main">
              <a:ext uri="{FF2B5EF4-FFF2-40B4-BE49-F238E27FC236}">
                <a16:creationId xmlns:a16="http://schemas.microsoft.com/office/drawing/2014/main" id="{4CFB1863-2AA0-4C85-8205-CB833EB4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2781300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92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frisbees"</a:t>
            </a:r>
          </a:p>
        </p:txBody>
      </p:sp>
      <p:sp>
        <p:nvSpPr>
          <p:cNvPr id="248" name="Text Instruction label background">
            <a:extLst xmlns:a="http://schemas.openxmlformats.org/drawingml/2006/main">
              <a:ext uri="{FF2B5EF4-FFF2-40B4-BE49-F238E27FC236}">
                <a16:creationId xmlns:a16="http://schemas.microsoft.com/office/drawing/2014/main" id="{28E7853D-0BFC-4673-9F47-CAB82DD8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3314700" cy="504825"/>
          </a:xfrm>
          <a:custGeom xmlns:a="http://schemas.openxmlformats.org/drawingml/2006/main">
            <a:pathLst>
              <a:path w="3314700" h="504825">
                <a:moveTo>
                  <a:pt x="252413" y="0"/>
                </a:moveTo>
                <a:lnTo>
                  <a:pt x="3062288" y="0"/>
                </a:lnTo>
                <a:cubicBezTo>
                  <a:pt x="3201691" y="0"/>
                  <a:pt x="3314700" y="113009"/>
                  <a:pt x="3314700" y="252413"/>
                </a:cubicBezTo>
                <a:lnTo>
                  <a:pt x="3314700" y="252413"/>
                </a:lnTo>
                <a:cubicBezTo>
                  <a:pt x="3314700" y="391816"/>
                  <a:pt x="3201691" y="504825"/>
                  <a:pt x="3062288" y="504825"/>
                </a:cubicBezTo>
                <a:lnTo>
                  <a:pt x="252413" y="504825"/>
                </a:lnTo>
                <a:cubicBezTo>
                  <a:pt x="113009" y="504825"/>
                  <a:pt x="0" y="391816"/>
                  <a:pt x="0" y="252413"/>
                </a:cubicBezTo>
                <a:lnTo>
                  <a:pt x="0" y="252413"/>
                </a:lnTo>
                <a:cubicBezTo>
                  <a:pt x="0" y="113009"/>
                  <a:pt x="113009" y="0"/>
                  <a:pt x="252413" y="0"/>
                </a:cubicBezTo>
                <a:close/>
              </a:path>
            </a:pathLst>
          </a:custGeom>
          <a:solidFill xmlns:a="http://schemas.openxmlformats.org/drawingml/2006/main">
            <a:srgbClr val="E8F4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9" name="Text Instruction">
            <a:extLst xmlns:a="http://schemas.openxmlformats.org/drawingml/2006/main">
              <a:ext uri="{FF2B5EF4-FFF2-40B4-BE49-F238E27FC236}">
                <a16:creationId xmlns:a16="http://schemas.microsoft.com/office/drawing/2014/main" id="{30B73E22-EDAF-4E20-A832-3ADF5A78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3371850"/>
            <a:ext cx="3086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75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475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pPr>
            <a:r>
              <a:rPr sz="2475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rPr>
              <a:t>Text Instruction</a:t>
            </a:r>
          </a:p>
        </p:txBody>
      </p:sp>
      <p:sp>
        <p:nvSpPr>
          <p:cNvPr id="250" name="Instruction to evaluator">
            <a:extLst xmlns:a="http://schemas.openxmlformats.org/drawingml/2006/main">
              <a:ext uri="{FF2B5EF4-FFF2-40B4-BE49-F238E27FC236}">
                <a16:creationId xmlns:a16="http://schemas.microsoft.com/office/drawing/2014/main" id="{BA56EA31-BD34-482E-8581-31A572D5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28775"/>
            <a:ext cx="581025" cy="800100"/>
          </a:xfrm>
          <a:custGeom xmlns:a="http://schemas.openxmlformats.org/drawingml/2006/main">
            <a:pathLst>
              <a:path w="581025" h="800100">
                <a:moveTo>
                  <a:pt x="0" y="600075"/>
                </a:moveTo>
                <a:lnTo>
                  <a:pt x="180975" y="600075"/>
                </a:lnTo>
                <a:lnTo>
                  <a:pt x="180975" y="800100"/>
                </a:lnTo>
                <a:lnTo>
                  <a:pt x="581025" y="400050"/>
                </a:lnTo>
                <a:lnTo>
                  <a:pt x="180975" y="0"/>
                </a:lnTo>
                <a:lnTo>
                  <a:pt x="180975" y="200025"/>
                </a:lnTo>
                <a:lnTo>
                  <a:pt x="0" y="200025"/>
                </a:lnTo>
                <a:close/>
              </a:path>
            </a:pathLst>
          </a:custGeom>
          <a:solidFill xmlns:a="http://schemas.openxmlformats.org/drawingml/2006/main">
            <a:srgbClr val="8BC7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1" name="GPT 4.1 evaluator module native soft shadow">
            <a:extLst xmlns:a="http://schemas.openxmlformats.org/drawingml/2006/main">
              <a:ext uri="{FF2B5EF4-FFF2-40B4-BE49-F238E27FC236}">
                <a16:creationId xmlns:a16="http://schemas.microsoft.com/office/drawing/2014/main" id="{612F18E4-982B-41C9-895F-62C70425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409700"/>
            <a:ext cx="1695450" cy="2076450"/>
          </a:xfrm>
          <a:custGeom xmlns:a="http://schemas.openxmlformats.org/drawingml/2006/main">
            <a:pathLst>
              <a:path w="1695450" h="2076450">
                <a:moveTo>
                  <a:pt x="152400" y="0"/>
                </a:moveTo>
                <a:lnTo>
                  <a:pt x="1543050" y="0"/>
                </a:lnTo>
                <a:cubicBezTo>
                  <a:pt x="1627218" y="0"/>
                  <a:pt x="1695450" y="68232"/>
                  <a:pt x="1695450" y="152400"/>
                </a:cubicBezTo>
                <a:lnTo>
                  <a:pt x="1695450" y="1924050"/>
                </a:lnTo>
                <a:cubicBezTo>
                  <a:pt x="1695450" y="2008218"/>
                  <a:pt x="1627218" y="2076450"/>
                  <a:pt x="1543050" y="2076450"/>
                </a:cubicBezTo>
                <a:lnTo>
                  <a:pt x="152400" y="2076450"/>
                </a:lnTo>
                <a:cubicBezTo>
                  <a:pt x="68232" y="2076450"/>
                  <a:pt x="0" y="2008218"/>
                  <a:pt x="0" y="19240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2" name="GPT 4.1 evaluator module">
            <a:extLst xmlns:a="http://schemas.openxmlformats.org/drawingml/2006/main">
              <a:ext uri="{FF2B5EF4-FFF2-40B4-BE49-F238E27FC236}">
                <a16:creationId xmlns:a16="http://schemas.microsoft.com/office/drawing/2014/main" id="{4E0044A4-EDDA-4BAD-83DB-760CFCAF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362075"/>
            <a:ext cx="1695450" cy="2076450"/>
          </a:xfrm>
          <a:custGeom xmlns:a="http://schemas.openxmlformats.org/drawingml/2006/main">
            <a:pathLst>
              <a:path w="1695450" h="2076450">
                <a:moveTo>
                  <a:pt x="152400" y="0"/>
                </a:moveTo>
                <a:lnTo>
                  <a:pt x="1543050" y="0"/>
                </a:lnTo>
                <a:cubicBezTo>
                  <a:pt x="1627218" y="0"/>
                  <a:pt x="1695450" y="68232"/>
                  <a:pt x="1695450" y="152400"/>
                </a:cubicBezTo>
                <a:lnTo>
                  <a:pt x="1695450" y="1924050"/>
                </a:lnTo>
                <a:cubicBezTo>
                  <a:pt x="1695450" y="2008218"/>
                  <a:pt x="1627218" y="2076450"/>
                  <a:pt x="1543050" y="2076450"/>
                </a:cubicBezTo>
                <a:lnTo>
                  <a:pt x="152400" y="2076450"/>
                </a:lnTo>
                <a:cubicBezTo>
                  <a:pt x="68232" y="2076450"/>
                  <a:pt x="0" y="2008218"/>
                  <a:pt x="0" y="19240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F5FF"/>
            </a:solidFill>
            <a:prstDash val="solid"/>
          </a:ln>
        </p:spPr>
      </p:sp>
      <p:pic>
        <p:nvPic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74352DA6-D47F-40F3-B79B-D6E2166293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8f2a3828149e4"/>
          <a:stretch xmlns:a="http://schemas.openxmlformats.org/drawingml/2006/main"/>
        </p:blipFill>
        <p:spPr>
          <a:xfrm xmlns:a="http://schemas.openxmlformats.org/drawingml/2006/main">
            <a:off x="11077575" y="1479207"/>
            <a:ext cx="914400" cy="889686"/>
          </a:xfrm>
          <a:prstGeom xmlns:a="http://schemas.openxmlformats.org/drawingml/2006/main" prst="rect">
            <a:avLst/>
          </a:prstGeom>
        </p:spPr>
      </p:pic>
      <p:sp>
        <p:nvSpPr>
          <p:cNvPr id="254" name="GPT-4.1">
            <a:extLst xmlns:a="http://schemas.openxmlformats.org/drawingml/2006/main">
              <a:ext uri="{FF2B5EF4-FFF2-40B4-BE49-F238E27FC236}">
                <a16:creationId xmlns:a16="http://schemas.microsoft.com/office/drawing/2014/main" id="{147BD3C9-C504-4F0C-B597-0A02180C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2552700"/>
            <a:ext cx="161925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3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GPT-4.1</a:t>
            </a:r>
          </a:p>
        </p:txBody>
      </p:sp>
      <p:sp>
        <p:nvSpPr>
          <p:cNvPr id="255" name="Evaluator">
            <a:extLst xmlns:a="http://schemas.openxmlformats.org/drawingml/2006/main">
              <a:ext uri="{FF2B5EF4-FFF2-40B4-BE49-F238E27FC236}">
                <a16:creationId xmlns:a16="http://schemas.microsoft.com/office/drawing/2014/main" id="{B82D95EC-AE2B-4214-B815-D8BA7E57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298132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Evaluator</a:t>
            </a:r>
          </a:p>
        </p:txBody>
      </p:sp>
      <p:sp>
        <p:nvSpPr>
          <p:cNvPr id="256" name="Evaluator to checklist">
            <a:extLst xmlns:a="http://schemas.openxmlformats.org/drawingml/2006/main">
              <a:ext uri="{FF2B5EF4-FFF2-40B4-BE49-F238E27FC236}">
                <a16:creationId xmlns:a16="http://schemas.microsoft.com/office/drawing/2014/main" id="{4703313D-91C7-4790-9E8B-F7BA9365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275" y="1628775"/>
            <a:ext cx="561975" cy="800100"/>
          </a:xfrm>
          <a:custGeom xmlns:a="http://schemas.openxmlformats.org/drawingml/2006/main">
            <a:pathLst>
              <a:path w="561975" h="800100">
                <a:moveTo>
                  <a:pt x="0" y="600075"/>
                </a:moveTo>
                <a:lnTo>
                  <a:pt x="161925" y="600075"/>
                </a:lnTo>
                <a:lnTo>
                  <a:pt x="161925" y="800100"/>
                </a:lnTo>
                <a:lnTo>
                  <a:pt x="561975" y="400050"/>
                </a:lnTo>
                <a:lnTo>
                  <a:pt x="161925" y="0"/>
                </a:lnTo>
                <a:lnTo>
                  <a:pt x="161925" y="200025"/>
                </a:lnTo>
                <a:lnTo>
                  <a:pt x="0" y="200025"/>
                </a:lnTo>
                <a:close/>
              </a:path>
            </a:pathLst>
          </a:custGeom>
          <a:solidFill xmlns:a="http://schemas.openxmlformats.org/drawingml/2006/main">
            <a:srgbClr val="8AC7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7" name="Checklist label background">
            <a:extLst xmlns:a="http://schemas.openxmlformats.org/drawingml/2006/main">
              <a:ext uri="{FF2B5EF4-FFF2-40B4-BE49-F238E27FC236}">
                <a16:creationId xmlns:a16="http://schemas.microsoft.com/office/drawing/2014/main" id="{F7099F7E-9D59-49FB-B330-B3CAE125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971550"/>
            <a:ext cx="2524125" cy="666750"/>
          </a:xfrm>
          <a:custGeom xmlns:a="http://schemas.openxmlformats.org/drawingml/2006/main">
            <a:pathLst>
              <a:path w="2524125" h="666750">
                <a:moveTo>
                  <a:pt x="333375" y="0"/>
                </a:moveTo>
                <a:lnTo>
                  <a:pt x="2190750" y="0"/>
                </a:lnTo>
                <a:cubicBezTo>
                  <a:pt x="2374868" y="0"/>
                  <a:pt x="2524125" y="149257"/>
                  <a:pt x="2524125" y="333375"/>
                </a:cubicBezTo>
                <a:lnTo>
                  <a:pt x="2524125" y="333375"/>
                </a:lnTo>
                <a:cubicBezTo>
                  <a:pt x="2524125" y="517493"/>
                  <a:pt x="2374868" y="666750"/>
                  <a:pt x="2190750" y="666750"/>
                </a:cubicBezTo>
                <a:lnTo>
                  <a:pt x="333375" y="666750"/>
                </a:lnTo>
                <a:cubicBezTo>
                  <a:pt x="149257" y="666750"/>
                  <a:pt x="0" y="517493"/>
                  <a:pt x="0" y="333375"/>
                </a:cubicBezTo>
                <a:lnTo>
                  <a:pt x="0" y="333375"/>
                </a:lnTo>
                <a:cubicBezTo>
                  <a:pt x="0" y="149257"/>
                  <a:pt x="149257" y="0"/>
                  <a:pt x="333375" y="0"/>
                </a:cubicBezTo>
                <a:close/>
              </a:path>
            </a:pathLst>
          </a:custGeom>
          <a:solidFill xmlns:a="http://schemas.openxmlformats.org/drawingml/2006/main">
            <a:srgbClr val="EAF5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8" name="Checklist">
            <a:extLst xmlns:a="http://schemas.openxmlformats.org/drawingml/2006/main">
              <a:ext uri="{FF2B5EF4-FFF2-40B4-BE49-F238E27FC236}">
                <a16:creationId xmlns:a16="http://schemas.microsoft.com/office/drawing/2014/main" id="{0DD73511-9B94-4AB7-BB00-BF414341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1650" y="990600"/>
            <a:ext cx="22955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pPr>
            <a:r>
              <a:rPr sz="31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rPr>
              <a:t>Checklist</a:t>
            </a:r>
          </a:p>
        </p:txBody>
      </p:sp>
      <p:pic>
        <p:nvPic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FF728DB-CCCC-4036-8793-A60C573205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2ebbd90dd4245"/>
          <a:stretch xmlns:a="http://schemas.openxmlformats.org/drawingml/2006/main"/>
        </p:blipFill>
        <p:spPr>
          <a:xfrm xmlns:a="http://schemas.openxmlformats.org/drawingml/2006/main">
            <a:off x="16973550" y="326048"/>
            <a:ext cx="2143125" cy="2110154"/>
          </a:xfrm>
          <a:prstGeom xmlns:a="http://schemas.openxmlformats.org/drawingml/2006/main" prst="rect">
            <a:avLst/>
          </a:prstGeom>
        </p:spPr>
      </p:pic>
      <p:sp>
        <p:nvSpPr>
          <p:cNvPr id="260" name="Phone photo frame">
            <a:extLst xmlns:a="http://schemas.openxmlformats.org/drawingml/2006/main">
              <a:ext uri="{FF2B5EF4-FFF2-40B4-BE49-F238E27FC236}">
                <a16:creationId xmlns:a16="http://schemas.microsoft.com/office/drawing/2014/main" id="{2E6D6598-B928-4256-8D77-E3A4971F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5925" y="276225"/>
            <a:ext cx="2238375" cy="2228850"/>
          </a:xfrm>
          <a:custGeom xmlns:a="http://schemas.openxmlformats.org/drawingml/2006/main">
            <a:pathLst>
              <a:path w="2238375" h="2228850">
                <a:moveTo>
                  <a:pt x="161925" y="0"/>
                </a:moveTo>
                <a:lnTo>
                  <a:pt x="2076450" y="0"/>
                </a:lnTo>
                <a:cubicBezTo>
                  <a:pt x="2165879" y="0"/>
                  <a:pt x="2238375" y="72496"/>
                  <a:pt x="2238375" y="161925"/>
                </a:cubicBezTo>
                <a:lnTo>
                  <a:pt x="2238375" y="2066925"/>
                </a:lnTo>
                <a:cubicBezTo>
                  <a:pt x="2238375" y="2156354"/>
                  <a:pt x="2165879" y="2228850"/>
                  <a:pt x="2076450" y="2228850"/>
                </a:cubicBezTo>
                <a:lnTo>
                  <a:pt x="161925" y="2228850"/>
                </a:lnTo>
                <a:cubicBezTo>
                  <a:pt x="72496" y="2228850"/>
                  <a:pt x="0" y="2156354"/>
                  <a:pt x="0" y="2066925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6DA7"/>
            </a:solidFill>
            <a:prstDash val="solid"/>
          </a:ln>
        </p:spPr>
      </p:sp>
      <p:sp>
        <p:nvSpPr>
          <p:cNvPr id="261" name="Checklist status">
            <a:extLst xmlns:a="http://schemas.openxmlformats.org/drawingml/2006/main">
              <a:ext uri="{FF2B5EF4-FFF2-40B4-BE49-F238E27FC236}">
                <a16:creationId xmlns:a16="http://schemas.microsoft.com/office/drawing/2014/main" id="{229D777B-5275-44E5-84C2-F0CAA6FC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2028825"/>
            <a:ext cx="295275" cy="295275"/>
          </a:xfrm>
          <a:custGeom xmlns:a="http://schemas.openxmlformats.org/drawingml/2006/main">
            <a:pathLst>
              <a:path w="295275" h="295275">
                <a:moveTo>
                  <a:pt x="295275" y="147638"/>
                </a:moveTo>
                <a:cubicBezTo>
                  <a:pt x="295275" y="229175"/>
                  <a:pt x="229175" y="295275"/>
                  <a:pt x="147638" y="295275"/>
                </a:cubicBezTo>
                <a:cubicBezTo>
                  <a:pt x="66100" y="295275"/>
                  <a:pt x="0" y="229175"/>
                  <a:pt x="0" y="147638"/>
                </a:cubicBezTo>
                <a:cubicBezTo>
                  <a:pt x="0" y="66100"/>
                  <a:pt x="66100" y="0"/>
                  <a:pt x="147638" y="0"/>
                </a:cubicBezTo>
                <a:cubicBezTo>
                  <a:pt x="229175" y="0"/>
                  <a:pt x="295275" y="66100"/>
                  <a:pt x="295275" y="147638"/>
                </a:cubicBezTo>
                <a:close/>
              </a:path>
            </a:pathLst>
          </a:custGeom>
          <a:solidFill xmlns:a="http://schemas.openxmlformats.org/drawingml/2006/main">
            <a:srgbClr val="00CB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2" name="✓">
            <a:extLst xmlns:a="http://schemas.openxmlformats.org/drawingml/2006/main">
              <a:ext uri="{FF2B5EF4-FFF2-40B4-BE49-F238E27FC236}">
                <a16:creationId xmlns:a16="http://schemas.microsoft.com/office/drawing/2014/main" id="{9F95E66E-91BF-4E54-83DA-D6B0CAF8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5925" y="2009775"/>
            <a:ext cx="2381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3" name="Object classes">
            <a:extLst xmlns:a="http://schemas.openxmlformats.org/drawingml/2006/main">
              <a:ext uri="{FF2B5EF4-FFF2-40B4-BE49-F238E27FC236}">
                <a16:creationId xmlns:a16="http://schemas.microsoft.com/office/drawing/2014/main" id="{CEA2B44F-5CD5-48EE-B19D-8071CAD6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1971675"/>
            <a:ext cx="6057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 classes</a:t>
            </a:r>
          </a:p>
        </p:txBody>
      </p:sp>
      <p:sp>
        <p:nvSpPr>
          <p:cNvPr id="264" name="Checklist status">
            <a:extLst xmlns:a="http://schemas.openxmlformats.org/drawingml/2006/main">
              <a:ext uri="{FF2B5EF4-FFF2-40B4-BE49-F238E27FC236}">
                <a16:creationId xmlns:a16="http://schemas.microsoft.com/office/drawing/2014/main" id="{ED2FE3A4-5490-4ACE-B448-66B3CCF4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2628900"/>
            <a:ext cx="295275" cy="295275"/>
          </a:xfrm>
          <a:custGeom xmlns:a="http://schemas.openxmlformats.org/drawingml/2006/main">
            <a:pathLst>
              <a:path w="295275" h="295275">
                <a:moveTo>
                  <a:pt x="295275" y="147638"/>
                </a:moveTo>
                <a:cubicBezTo>
                  <a:pt x="295275" y="229175"/>
                  <a:pt x="229175" y="295275"/>
                  <a:pt x="147638" y="295275"/>
                </a:cubicBezTo>
                <a:cubicBezTo>
                  <a:pt x="66100" y="295275"/>
                  <a:pt x="0" y="229175"/>
                  <a:pt x="0" y="147638"/>
                </a:cubicBezTo>
                <a:cubicBezTo>
                  <a:pt x="0" y="66100"/>
                  <a:pt x="66100" y="0"/>
                  <a:pt x="147638" y="0"/>
                </a:cubicBezTo>
                <a:cubicBezTo>
                  <a:pt x="229175" y="0"/>
                  <a:pt x="295275" y="66100"/>
                  <a:pt x="295275" y="147638"/>
                </a:cubicBezTo>
                <a:close/>
              </a:path>
            </a:pathLst>
          </a:custGeom>
          <a:solidFill xmlns:a="http://schemas.openxmlformats.org/drawingml/2006/main">
            <a:srgbClr val="F36F6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5" name="×">
            <a:extLst xmlns:a="http://schemas.openxmlformats.org/drawingml/2006/main">
              <a:ext uri="{FF2B5EF4-FFF2-40B4-BE49-F238E27FC236}">
                <a16:creationId xmlns:a16="http://schemas.microsoft.com/office/drawing/2014/main" id="{A09B1331-90C7-44A7-B8AC-4F4D415D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5925" y="2609850"/>
            <a:ext cx="2381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66" name="Counts of each object">
            <a:extLst xmlns:a="http://schemas.openxmlformats.org/drawingml/2006/main">
              <a:ext uri="{FF2B5EF4-FFF2-40B4-BE49-F238E27FC236}">
                <a16:creationId xmlns:a16="http://schemas.microsoft.com/office/drawing/2014/main" id="{958425EC-0A24-4AC1-8603-D3DBDF59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2571750"/>
            <a:ext cx="6057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Counts of each object</a:t>
            </a:r>
          </a:p>
        </p:txBody>
      </p:sp>
      <p:sp>
        <p:nvSpPr>
          <p:cNvPr id="267" name="Checklist status">
            <a:extLst xmlns:a="http://schemas.openxmlformats.org/drawingml/2006/main">
              <a:ext uri="{FF2B5EF4-FFF2-40B4-BE49-F238E27FC236}">
                <a16:creationId xmlns:a16="http://schemas.microsoft.com/office/drawing/2014/main" id="{B08558C9-BC53-4C0D-8320-291818E6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3228975"/>
            <a:ext cx="295275" cy="295275"/>
          </a:xfrm>
          <a:custGeom xmlns:a="http://schemas.openxmlformats.org/drawingml/2006/main">
            <a:pathLst>
              <a:path w="295275" h="295275">
                <a:moveTo>
                  <a:pt x="295275" y="147638"/>
                </a:moveTo>
                <a:cubicBezTo>
                  <a:pt x="295275" y="229175"/>
                  <a:pt x="229175" y="295275"/>
                  <a:pt x="147638" y="295275"/>
                </a:cubicBezTo>
                <a:cubicBezTo>
                  <a:pt x="66100" y="295275"/>
                  <a:pt x="0" y="229175"/>
                  <a:pt x="0" y="147638"/>
                </a:cubicBezTo>
                <a:cubicBezTo>
                  <a:pt x="0" y="66100"/>
                  <a:pt x="66100" y="0"/>
                  <a:pt x="147638" y="0"/>
                </a:cubicBezTo>
                <a:cubicBezTo>
                  <a:pt x="229175" y="0"/>
                  <a:pt x="295275" y="66100"/>
                  <a:pt x="295275" y="147638"/>
                </a:cubicBezTo>
                <a:close/>
              </a:path>
            </a:pathLst>
          </a:custGeom>
          <a:solidFill xmlns:a="http://schemas.openxmlformats.org/drawingml/2006/main">
            <a:srgbClr val="00CB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8" name="✓">
            <a:extLst xmlns:a="http://schemas.openxmlformats.org/drawingml/2006/main">
              <a:ext uri="{FF2B5EF4-FFF2-40B4-BE49-F238E27FC236}">
                <a16:creationId xmlns:a16="http://schemas.microsoft.com/office/drawing/2014/main" id="{46A6C1E6-608D-4C16-94BB-02BE73B0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5925" y="3209925"/>
            <a:ext cx="2381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9" name="Colors of each object">
            <a:extLst xmlns:a="http://schemas.openxmlformats.org/drawingml/2006/main">
              <a:ext uri="{FF2B5EF4-FFF2-40B4-BE49-F238E27FC236}">
                <a16:creationId xmlns:a16="http://schemas.microsoft.com/office/drawing/2014/main" id="{C30D36AB-2D3B-4D57-80A6-FD0D8854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3171825"/>
            <a:ext cx="6057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Colors of each object</a:t>
            </a:r>
          </a:p>
        </p:txBody>
      </p:sp>
      <p:sp>
        <p:nvSpPr>
          <p:cNvPr id="270" name="Checklist status">
            <a:extLst xmlns:a="http://schemas.openxmlformats.org/drawingml/2006/main">
              <a:ext uri="{FF2B5EF4-FFF2-40B4-BE49-F238E27FC236}">
                <a16:creationId xmlns:a16="http://schemas.microsoft.com/office/drawing/2014/main" id="{7E4BC62B-6B92-4470-955D-F2A26AA7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3829050"/>
            <a:ext cx="295275" cy="295275"/>
          </a:xfrm>
          <a:custGeom xmlns:a="http://schemas.openxmlformats.org/drawingml/2006/main">
            <a:pathLst>
              <a:path w="295275" h="295275">
                <a:moveTo>
                  <a:pt x="295275" y="147638"/>
                </a:moveTo>
                <a:cubicBezTo>
                  <a:pt x="295275" y="229175"/>
                  <a:pt x="229175" y="295275"/>
                  <a:pt x="147638" y="295275"/>
                </a:cubicBezTo>
                <a:cubicBezTo>
                  <a:pt x="66100" y="295275"/>
                  <a:pt x="0" y="229175"/>
                  <a:pt x="0" y="147638"/>
                </a:cubicBezTo>
                <a:cubicBezTo>
                  <a:pt x="0" y="66100"/>
                  <a:pt x="66100" y="0"/>
                  <a:pt x="147638" y="0"/>
                </a:cubicBezTo>
                <a:cubicBezTo>
                  <a:pt x="229175" y="0"/>
                  <a:pt x="295275" y="66100"/>
                  <a:pt x="295275" y="147638"/>
                </a:cubicBezTo>
                <a:close/>
              </a:path>
            </a:pathLst>
          </a:custGeom>
          <a:solidFill xmlns:a="http://schemas.openxmlformats.org/drawingml/2006/main">
            <a:srgbClr val="00CB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1" name="✓">
            <a:extLst xmlns:a="http://schemas.openxmlformats.org/drawingml/2006/main">
              <a:ext uri="{FF2B5EF4-FFF2-40B4-BE49-F238E27FC236}">
                <a16:creationId xmlns:a16="http://schemas.microsoft.com/office/drawing/2014/main" id="{9A972AA6-5FD1-4EE2-B927-1A31B45B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5925" y="3810000"/>
            <a:ext cx="2381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2" name="Spatial position within the image">
            <a:extLst xmlns:a="http://schemas.openxmlformats.org/drawingml/2006/main">
              <a:ext uri="{FF2B5EF4-FFF2-40B4-BE49-F238E27FC236}">
                <a16:creationId xmlns:a16="http://schemas.microsoft.com/office/drawing/2014/main" id="{0E2E4CA7-DC06-45A1-98DC-78DDFEAB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3771900"/>
            <a:ext cx="6057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Spatial position within the image</a:t>
            </a:r>
          </a:p>
        </p:txBody>
      </p:sp>
      <p:sp>
        <p:nvSpPr>
          <p:cNvPr id="273" name="Checklist status">
            <a:extLst xmlns:a="http://schemas.openxmlformats.org/drawingml/2006/main">
              <a:ext uri="{FF2B5EF4-FFF2-40B4-BE49-F238E27FC236}">
                <a16:creationId xmlns:a16="http://schemas.microsoft.com/office/drawing/2014/main" id="{D029D9A6-1934-413B-9C7B-3C130878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4429125"/>
            <a:ext cx="295275" cy="295275"/>
          </a:xfrm>
          <a:custGeom xmlns:a="http://schemas.openxmlformats.org/drawingml/2006/main">
            <a:pathLst>
              <a:path w="295275" h="295275">
                <a:moveTo>
                  <a:pt x="295275" y="147638"/>
                </a:moveTo>
                <a:cubicBezTo>
                  <a:pt x="295275" y="229175"/>
                  <a:pt x="229175" y="295275"/>
                  <a:pt x="147638" y="295275"/>
                </a:cubicBezTo>
                <a:cubicBezTo>
                  <a:pt x="66100" y="295275"/>
                  <a:pt x="0" y="229175"/>
                  <a:pt x="0" y="147638"/>
                </a:cubicBezTo>
                <a:cubicBezTo>
                  <a:pt x="0" y="66100"/>
                  <a:pt x="66100" y="0"/>
                  <a:pt x="147638" y="0"/>
                </a:cubicBezTo>
                <a:cubicBezTo>
                  <a:pt x="229175" y="0"/>
                  <a:pt x="295275" y="66100"/>
                  <a:pt x="295275" y="147638"/>
                </a:cubicBezTo>
                <a:close/>
              </a:path>
            </a:pathLst>
          </a:custGeom>
          <a:solidFill xmlns:a="http://schemas.openxmlformats.org/drawingml/2006/main">
            <a:srgbClr val="00CB00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4" name="✓">
            <a:extLst xmlns:a="http://schemas.openxmlformats.org/drawingml/2006/main">
              <a:ext uri="{FF2B5EF4-FFF2-40B4-BE49-F238E27FC236}">
                <a16:creationId xmlns:a16="http://schemas.microsoft.com/office/drawing/2014/main" id="{7C1C8BFA-FFBC-456B-A0E5-6F40DF6A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5925" y="4410075"/>
            <a:ext cx="2381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5" name="Size and relative scale of objects">
            <a:extLst xmlns:a="http://schemas.openxmlformats.org/drawingml/2006/main">
              <a:ext uri="{FF2B5EF4-FFF2-40B4-BE49-F238E27FC236}">
                <a16:creationId xmlns:a16="http://schemas.microsoft.com/office/drawing/2014/main" id="{9857F1DC-C9AA-43EB-A41C-47602975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4371975"/>
            <a:ext cx="6057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Size and relative scale of objects</a:t>
            </a:r>
          </a:p>
        </p:txBody>
      </p:sp>
      <p:sp>
        <p:nvSpPr>
          <p:cNvPr id="276" name="Partial checklist score">
            <a:extLst xmlns:a="http://schemas.openxmlformats.org/drawingml/2006/main">
              <a:ext uri="{FF2B5EF4-FFF2-40B4-BE49-F238E27FC236}">
                <a16:creationId xmlns:a16="http://schemas.microsoft.com/office/drawing/2014/main" id="{66614443-62CC-49AA-A6FB-6B90D32C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5181600"/>
            <a:ext cx="304800" cy="304800"/>
          </a:xfrm>
          <a:custGeom xmlns:a="http://schemas.openxmlformats.org/drawingml/2006/main">
            <a:pathLst>
              <a:path w="304800" h="304800">
                <a:moveTo>
                  <a:pt x="304800" y="152400"/>
                </a:moveTo>
                <a:cubicBezTo>
                  <a:pt x="304800" y="236568"/>
                  <a:pt x="236568" y="304800"/>
                  <a:pt x="152400" y="304800"/>
                </a:cubicBez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ubicBezTo>
                  <a:pt x="236568" y="0"/>
                  <a:pt x="304800" y="68232"/>
                  <a:pt x="304800" y="152400"/>
                </a:cubicBezTo>
                <a:close/>
              </a:path>
            </a:pathLst>
          </a:custGeom>
          <a:solidFill xmlns:a="http://schemas.openxmlformats.org/drawingml/2006/main">
            <a:srgbClr val="00AF5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7" name="One incorrect checklist item">
            <a:extLst xmlns:a="http://schemas.openxmlformats.org/drawingml/2006/main">
              <a:ext uri="{FF2B5EF4-FFF2-40B4-BE49-F238E27FC236}">
                <a16:creationId xmlns:a16="http://schemas.microsoft.com/office/drawing/2014/main" id="{9D91CD04-6865-4D4C-8DA8-0DB60AA7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5181600"/>
            <a:ext cx="144941" cy="152400"/>
          </a:xfrm>
          <a:custGeom xmlns:a="http://schemas.openxmlformats.org/drawingml/2006/main">
            <a:pathLst>
              <a:path w="144941" h="152400">
                <a:moveTo>
                  <a:pt x="0" y="0"/>
                </a:moveTo>
                <a:lnTo>
                  <a:pt x="4787" y="75"/>
                </a:lnTo>
                <a:lnTo>
                  <a:pt x="9569" y="301"/>
                </a:lnTo>
                <a:lnTo>
                  <a:pt x="14342" y="676"/>
                </a:lnTo>
                <a:lnTo>
                  <a:pt x="19101" y="1202"/>
                </a:lnTo>
                <a:lnTo>
                  <a:pt x="23841" y="1876"/>
                </a:lnTo>
                <a:lnTo>
                  <a:pt x="28557" y="2699"/>
                </a:lnTo>
                <a:lnTo>
                  <a:pt x="33245" y="3670"/>
                </a:lnTo>
                <a:lnTo>
                  <a:pt x="37900" y="4788"/>
                </a:lnTo>
                <a:lnTo>
                  <a:pt x="42518" y="6051"/>
                </a:lnTo>
                <a:lnTo>
                  <a:pt x="47094" y="7459"/>
                </a:lnTo>
                <a:lnTo>
                  <a:pt x="51624" y="9010"/>
                </a:lnTo>
                <a:lnTo>
                  <a:pt x="56102" y="10702"/>
                </a:lnTo>
                <a:lnTo>
                  <a:pt x="60525" y="12534"/>
                </a:lnTo>
                <a:lnTo>
                  <a:pt x="64889" y="14504"/>
                </a:lnTo>
                <a:lnTo>
                  <a:pt x="69188" y="16611"/>
                </a:lnTo>
                <a:lnTo>
                  <a:pt x="73419" y="18851"/>
                </a:lnTo>
                <a:lnTo>
                  <a:pt x="77578" y="21223"/>
                </a:lnTo>
                <a:lnTo>
                  <a:pt x="81660" y="23724"/>
                </a:lnTo>
                <a:lnTo>
                  <a:pt x="85662" y="26353"/>
                </a:lnTo>
                <a:lnTo>
                  <a:pt x="89578" y="29106"/>
                </a:lnTo>
                <a:lnTo>
                  <a:pt x="93407" y="31980"/>
                </a:lnTo>
                <a:lnTo>
                  <a:pt x="97143" y="34974"/>
                </a:lnTo>
                <a:lnTo>
                  <a:pt x="100784" y="38083"/>
                </a:lnTo>
                <a:lnTo>
                  <a:pt x="104325" y="41305"/>
                </a:lnTo>
                <a:lnTo>
                  <a:pt x="107763" y="44637"/>
                </a:lnTo>
                <a:lnTo>
                  <a:pt x="111095" y="48075"/>
                </a:lnTo>
                <a:lnTo>
                  <a:pt x="114317" y="51616"/>
                </a:lnTo>
                <a:lnTo>
                  <a:pt x="117426" y="55257"/>
                </a:lnTo>
                <a:lnTo>
                  <a:pt x="120420" y="58993"/>
                </a:lnTo>
                <a:lnTo>
                  <a:pt x="123294" y="62822"/>
                </a:lnTo>
                <a:lnTo>
                  <a:pt x="126047" y="66738"/>
                </a:lnTo>
                <a:lnTo>
                  <a:pt x="128676" y="70740"/>
                </a:lnTo>
                <a:lnTo>
                  <a:pt x="131177" y="74822"/>
                </a:lnTo>
                <a:lnTo>
                  <a:pt x="133549" y="78981"/>
                </a:lnTo>
                <a:lnTo>
                  <a:pt x="135789" y="83212"/>
                </a:lnTo>
                <a:lnTo>
                  <a:pt x="137896" y="87511"/>
                </a:lnTo>
                <a:lnTo>
                  <a:pt x="139866" y="91875"/>
                </a:lnTo>
                <a:lnTo>
                  <a:pt x="141698" y="96298"/>
                </a:lnTo>
                <a:lnTo>
                  <a:pt x="143390" y="100776"/>
                </a:lnTo>
                <a:lnTo>
                  <a:pt x="144941" y="105306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0373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8" name="Incorrect (4/5)">
            <a:extLst xmlns:a="http://schemas.openxmlformats.org/drawingml/2006/main">
              <a:ext uri="{FF2B5EF4-FFF2-40B4-BE49-F238E27FC236}">
                <a16:creationId xmlns:a16="http://schemas.microsoft.com/office/drawing/2014/main" id="{E657AD37-A825-456D-BE8E-42CE17D1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82650" y="5153025"/>
            <a:ext cx="4086225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defRPr>
            </a:pPr>
            <a:r>
              <a:rPr sz="3150" b="1" i="0">
                <a:solidFill>
                  <a:srgbClr val="006DA7"/>
                </a:solidFill>
                <a:latin typeface="Comic Sans MS"/>
                <a:ea typeface="Comic Sans MS"/>
                <a:cs typeface="Comic Sans MS"/>
              </a:rPr>
              <a:t>Incorrect (4/5)</a:t>
            </a:r>
          </a:p>
        </p:txBody>
      </p:sp>
      <p:sp>
        <p:nvSpPr>
          <p:cNvPr id="279" name="Complex Textual Instructions">
            <a:extLst xmlns:a="http://schemas.openxmlformats.org/drawingml/2006/main">
              <a:ext uri="{FF2B5EF4-FFF2-40B4-BE49-F238E27FC236}">
                <a16:creationId xmlns:a16="http://schemas.microsoft.com/office/drawing/2014/main" id="{CAD4CC95-3663-49BA-94D3-67B55C8C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437197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5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Complex Textual Instructions</a:t>
            </a:r>
          </a:p>
        </p:txBody>
      </p:sp>
      <p:sp>
        <p:nvSpPr>
          <p:cNvPr id="280" name="Avoid indicator saturation">
            <a:extLst xmlns:a="http://schemas.openxmlformats.org/drawingml/2006/main">
              <a:ext uri="{FF2B5EF4-FFF2-40B4-BE49-F238E27FC236}">
                <a16:creationId xmlns:a16="http://schemas.microsoft.com/office/drawing/2014/main" id="{7973DC6B-2E11-4180-8B14-EAE06D78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0375" y="513397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5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Avoid indicator saturation</a:t>
            </a:r>
          </a:p>
        </p:txBody>
      </p:sp>
      <p:sp>
        <p:nvSpPr>
          <p:cNvPr id="281" name="Imagine instruction frame">
            <a:extLst xmlns:a="http://schemas.openxmlformats.org/drawingml/2006/main">
              <a:ext uri="{FF2B5EF4-FFF2-40B4-BE49-F238E27FC236}">
                <a16:creationId xmlns:a16="http://schemas.microsoft.com/office/drawing/2014/main" id="{73040ED3-0C56-4ACE-B55F-8E7A6C55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248525"/>
            <a:ext cx="3181350" cy="1895475"/>
          </a:xfrm>
          <a:custGeom xmlns:a="http://schemas.openxmlformats.org/drawingml/2006/main">
            <a:pathLst>
              <a:path w="3181350" h="1895475">
                <a:moveTo>
                  <a:pt x="200025" y="0"/>
                </a:moveTo>
                <a:lnTo>
                  <a:pt x="2981325" y="0"/>
                </a:lnTo>
                <a:cubicBezTo>
                  <a:pt x="3091796" y="0"/>
                  <a:pt x="3181350" y="89554"/>
                  <a:pt x="3181350" y="200025"/>
                </a:cubicBezTo>
                <a:lnTo>
                  <a:pt x="3181350" y="1695450"/>
                </a:lnTo>
                <a:cubicBezTo>
                  <a:pt x="3181350" y="1805921"/>
                  <a:pt x="3091796" y="1895475"/>
                  <a:pt x="2981325" y="1895475"/>
                </a:cubicBezTo>
                <a:lnTo>
                  <a:pt x="200025" y="1895475"/>
                </a:lnTo>
                <a:cubicBezTo>
                  <a:pt x="89554" y="1895475"/>
                  <a:pt x="0" y="1805921"/>
                  <a:pt x="0" y="1695450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F3395"/>
            </a:solidFill>
            <a:prstDash val="solid"/>
          </a:ln>
        </p:spPr>
      </p:sp>
      <p:sp>
        <p:nvSpPr>
          <p:cNvPr id="282" name="&quot;A photo of">
            <a:extLst xmlns:a="http://schemas.openxmlformats.org/drawingml/2006/main">
              <a:ext uri="{FF2B5EF4-FFF2-40B4-BE49-F238E27FC236}">
                <a16:creationId xmlns:a16="http://schemas.microsoft.com/office/drawing/2014/main" id="{D00443AE-CDC1-4DE0-8C8B-1CAF94C4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7439025"/>
            <a:ext cx="2943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"A photo of</a:t>
            </a:r>
          </a:p>
        </p:txBody>
      </p:sp>
      <p:sp>
        <p:nvSpPr>
          <p:cNvPr id="283" name="a square">
            <a:extLst xmlns:a="http://schemas.openxmlformats.org/drawingml/2006/main">
              <a:ext uri="{FF2B5EF4-FFF2-40B4-BE49-F238E27FC236}">
                <a16:creationId xmlns:a16="http://schemas.microsoft.com/office/drawing/2014/main" id="{A6A78AE1-1DF4-4407-AE6F-74C7955B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7972425"/>
            <a:ext cx="2943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square</a:t>
            </a:r>
          </a:p>
        </p:txBody>
      </p:sp>
      <p:sp>
        <p:nvSpPr>
          <p:cNvPr id="284" name="soccer ball&quot;">
            <a:extLst xmlns:a="http://schemas.openxmlformats.org/drawingml/2006/main">
              <a:ext uri="{FF2B5EF4-FFF2-40B4-BE49-F238E27FC236}">
                <a16:creationId xmlns:a16="http://schemas.microsoft.com/office/drawing/2014/main" id="{A6527751-219F-40C4-8916-BA053EA0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8505825"/>
            <a:ext cx="2943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075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soccer ball"</a:t>
            </a:r>
          </a:p>
        </p:txBody>
      </p:sp>
      <p:sp>
        <p:nvSpPr>
          <p:cNvPr id="285" name="Text Instruction label background">
            <a:extLst xmlns:a="http://schemas.openxmlformats.org/drawingml/2006/main">
              <a:ext uri="{FF2B5EF4-FFF2-40B4-BE49-F238E27FC236}">
                <a16:creationId xmlns:a16="http://schemas.microsoft.com/office/drawing/2014/main" id="{91256012-1A5B-4101-B240-A80E106E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334500"/>
            <a:ext cx="3171825" cy="466725"/>
          </a:xfrm>
          <a:custGeom xmlns:a="http://schemas.openxmlformats.org/drawingml/2006/main">
            <a:pathLst>
              <a:path w="3171825" h="466725">
                <a:moveTo>
                  <a:pt x="233363" y="0"/>
                </a:moveTo>
                <a:lnTo>
                  <a:pt x="2938463" y="0"/>
                </a:lnTo>
                <a:cubicBezTo>
                  <a:pt x="3067345" y="0"/>
                  <a:pt x="3171825" y="104480"/>
                  <a:pt x="3171825" y="233363"/>
                </a:cubicBezTo>
                <a:lnTo>
                  <a:pt x="3171825" y="233363"/>
                </a:lnTo>
                <a:cubicBezTo>
                  <a:pt x="3171825" y="362245"/>
                  <a:pt x="3067345" y="466725"/>
                  <a:pt x="2938463" y="466725"/>
                </a:cubicBezTo>
                <a:lnTo>
                  <a:pt x="233363" y="466725"/>
                </a:lnTo>
                <a:cubicBezTo>
                  <a:pt x="104480" y="466725"/>
                  <a:pt x="0" y="362245"/>
                  <a:pt x="0" y="233363"/>
                </a:cubicBezTo>
                <a:lnTo>
                  <a:pt x="0" y="233363"/>
                </a:lnTo>
                <a:cubicBezTo>
                  <a:pt x="0" y="104480"/>
                  <a:pt x="104480" y="0"/>
                  <a:pt x="233363" y="0"/>
                </a:cubicBezTo>
                <a:close/>
              </a:path>
            </a:pathLst>
          </a:custGeom>
          <a:solidFill xmlns:a="http://schemas.openxmlformats.org/drawingml/2006/main">
            <a:srgbClr val="EEE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6" name="Text Instruction">
            <a:extLst xmlns:a="http://schemas.openxmlformats.org/drawingml/2006/main">
              <a:ext uri="{FF2B5EF4-FFF2-40B4-BE49-F238E27FC236}">
                <a16:creationId xmlns:a16="http://schemas.microsoft.com/office/drawing/2014/main" id="{FEB530C9-3A25-4DE9-B5C5-2AAFEAAB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9353550"/>
            <a:ext cx="2943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5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25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Text Instruction</a:t>
            </a:r>
          </a:p>
        </p:txBody>
      </p:sp>
      <p:sp>
        <p:nvSpPr>
          <p:cNvPr id="287" name="Fantasy instruction to generator">
            <a:extLst xmlns:a="http://schemas.openxmlformats.org/drawingml/2006/main">
              <a:ext uri="{FF2B5EF4-FFF2-40B4-BE49-F238E27FC236}">
                <a16:creationId xmlns:a16="http://schemas.microsoft.com/office/drawing/2014/main" id="{1F3060C7-312A-4684-96D5-CCF3AA1A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086725"/>
            <a:ext cx="819150" cy="819150"/>
          </a:xfrm>
          <a:custGeom xmlns:a="http://schemas.openxmlformats.org/drawingml/2006/main">
            <a:pathLst>
              <a:path w="819150" h="819150">
                <a:moveTo>
                  <a:pt x="0" y="614363"/>
                </a:moveTo>
                <a:lnTo>
                  <a:pt x="409575" y="614363"/>
                </a:lnTo>
                <a:lnTo>
                  <a:pt x="409575" y="819150"/>
                </a:lnTo>
                <a:lnTo>
                  <a:pt x="819150" y="409575"/>
                </a:lnTo>
                <a:lnTo>
                  <a:pt x="409575" y="0"/>
                </a:lnTo>
                <a:lnTo>
                  <a:pt x="409575" y="204788"/>
                </a:lnTo>
                <a:lnTo>
                  <a:pt x="0" y="204788"/>
                </a:lnTo>
                <a:close/>
              </a:path>
            </a:pathLst>
          </a:custGeom>
          <a:solidFill xmlns:a="http://schemas.openxmlformats.org/drawingml/2006/main">
            <a:srgbClr val="BCA1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8" name="GPT4o generator module native soft shadow">
            <a:extLst xmlns:a="http://schemas.openxmlformats.org/drawingml/2006/main">
              <a:ext uri="{FF2B5EF4-FFF2-40B4-BE49-F238E27FC236}">
                <a16:creationId xmlns:a16="http://schemas.microsoft.com/office/drawing/2014/main" id="{0A3E5559-C9BC-43A3-BC8F-0C883DA2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810500"/>
            <a:ext cx="1438275" cy="1438275"/>
          </a:xfrm>
          <a:custGeom xmlns:a="http://schemas.openxmlformats.org/drawingml/2006/main">
            <a:pathLst>
              <a:path w="1438275" h="1438275">
                <a:moveTo>
                  <a:pt x="133350" y="0"/>
                </a:moveTo>
                <a:lnTo>
                  <a:pt x="1304925" y="0"/>
                </a:lnTo>
                <a:cubicBezTo>
                  <a:pt x="1378572" y="0"/>
                  <a:pt x="1438275" y="59703"/>
                  <a:pt x="1438275" y="133350"/>
                </a:cubicBezTo>
                <a:lnTo>
                  <a:pt x="1438275" y="1304925"/>
                </a:lnTo>
                <a:cubicBezTo>
                  <a:pt x="1438275" y="1378572"/>
                  <a:pt x="1378572" y="1438275"/>
                  <a:pt x="1304925" y="1438275"/>
                </a:cubicBezTo>
                <a:lnTo>
                  <a:pt x="133350" y="1438275"/>
                </a:lnTo>
                <a:cubicBezTo>
                  <a:pt x="59703" y="1438275"/>
                  <a:pt x="0" y="1378572"/>
                  <a:pt x="0" y="13049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9" name="GPT4o generator module">
            <a:extLst xmlns:a="http://schemas.openxmlformats.org/drawingml/2006/main">
              <a:ext uri="{FF2B5EF4-FFF2-40B4-BE49-F238E27FC236}">
                <a16:creationId xmlns:a16="http://schemas.microsoft.com/office/drawing/2014/main" id="{9B6214E5-44A0-452E-819B-E4304A7E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762875"/>
            <a:ext cx="1438275" cy="1438275"/>
          </a:xfrm>
          <a:custGeom xmlns:a="http://schemas.openxmlformats.org/drawingml/2006/main">
            <a:pathLst>
              <a:path w="1438275" h="1438275">
                <a:moveTo>
                  <a:pt x="133350" y="0"/>
                </a:moveTo>
                <a:lnTo>
                  <a:pt x="1304925" y="0"/>
                </a:lnTo>
                <a:cubicBezTo>
                  <a:pt x="1378572" y="0"/>
                  <a:pt x="1438275" y="59703"/>
                  <a:pt x="1438275" y="133350"/>
                </a:cubicBezTo>
                <a:lnTo>
                  <a:pt x="1438275" y="1304925"/>
                </a:lnTo>
                <a:cubicBezTo>
                  <a:pt x="1438275" y="1378572"/>
                  <a:pt x="1378572" y="1438275"/>
                  <a:pt x="1304925" y="1438275"/>
                </a:cubicBezTo>
                <a:lnTo>
                  <a:pt x="133350" y="1438275"/>
                </a:lnTo>
                <a:cubicBezTo>
                  <a:pt x="59703" y="1438275"/>
                  <a:pt x="0" y="1378572"/>
                  <a:pt x="0" y="13049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E6F8"/>
            </a:solidFill>
            <a:prstDash val="solid"/>
          </a:ln>
        </p:spPr>
      </p:sp>
      <p:pic>
        <p:nvPic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B9B63F45-5685-4C3C-A7BE-D10E0D5082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a368eb47f4e26"/>
          <a:stretch xmlns:a="http://schemas.openxmlformats.org/drawingml/2006/main"/>
        </p:blipFill>
        <p:spPr>
          <a:xfrm xmlns:a="http://schemas.openxmlformats.org/drawingml/2006/main">
            <a:off x="4879649" y="7810500"/>
            <a:ext cx="899177" cy="923925"/>
          </a:xfrm>
          <a:prstGeom xmlns:a="http://schemas.openxmlformats.org/drawingml/2006/main" prst="rect">
            <a:avLst/>
          </a:prstGeom>
        </p:spPr>
      </p:pic>
      <p:sp>
        <p:nvSpPr>
          <p:cNvPr id="291" name="GPT-4o">
            <a:extLst xmlns:a="http://schemas.openxmlformats.org/drawingml/2006/main">
              <a:ext uri="{FF2B5EF4-FFF2-40B4-BE49-F238E27FC236}">
                <a16:creationId xmlns:a16="http://schemas.microsoft.com/office/drawing/2014/main" id="{ACB79233-BC89-48A9-B10C-6FB48B55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8829675"/>
            <a:ext cx="13620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3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GPT-4o</a:t>
            </a:r>
          </a:p>
        </p:txBody>
      </p:sp>
      <p:sp>
        <p:nvSpPr>
          <p:cNvPr id="292" name="Generator to fantasy checklist">
            <a:extLst xmlns:a="http://schemas.openxmlformats.org/drawingml/2006/main">
              <a:ext uri="{FF2B5EF4-FFF2-40B4-BE49-F238E27FC236}">
                <a16:creationId xmlns:a16="http://schemas.microsoft.com/office/drawing/2014/main" id="{7F1A9EDD-A1B6-42C4-B364-D9A1CF86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8096250"/>
            <a:ext cx="933450" cy="819150"/>
          </a:xfrm>
          <a:custGeom xmlns:a="http://schemas.openxmlformats.org/drawingml/2006/main">
            <a:pathLst>
              <a:path w="933450" h="819150">
                <a:moveTo>
                  <a:pt x="0" y="614363"/>
                </a:moveTo>
                <a:lnTo>
                  <a:pt x="523875" y="614363"/>
                </a:lnTo>
                <a:lnTo>
                  <a:pt x="523875" y="819150"/>
                </a:lnTo>
                <a:lnTo>
                  <a:pt x="933450" y="409575"/>
                </a:lnTo>
                <a:lnTo>
                  <a:pt x="523875" y="0"/>
                </a:lnTo>
                <a:lnTo>
                  <a:pt x="523875" y="204788"/>
                </a:lnTo>
                <a:lnTo>
                  <a:pt x="0" y="204788"/>
                </a:lnTo>
                <a:close/>
              </a:path>
            </a:pathLst>
          </a:custGeom>
          <a:solidFill xmlns:a="http://schemas.openxmlformats.org/drawingml/2006/main">
            <a:srgbClr val="B99CDA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8E1DCE7E-7690-42A7-9115-156967EFF2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7c49e90994487"/>
          <a:stretch xmlns:a="http://schemas.openxmlformats.org/drawingml/2006/main"/>
        </p:blipFill>
        <p:spPr>
          <a:xfrm xmlns:a="http://schemas.openxmlformats.org/drawingml/2006/main">
            <a:off x="7724775" y="6277303"/>
            <a:ext cx="1676400" cy="1618593"/>
          </a:xfrm>
          <a:prstGeom xmlns:a="http://schemas.openxmlformats.org/drawingml/2006/main" prst="rect">
            <a:avLst/>
          </a:prstGeom>
        </p:spPr>
      </p:pic>
      <p:sp>
        <p:nvSpPr>
          <p:cNvPr id="294" name="Square ball frame">
            <a:extLst xmlns:a="http://schemas.openxmlformats.org/drawingml/2006/main">
              <a:ext uri="{FF2B5EF4-FFF2-40B4-BE49-F238E27FC236}">
                <a16:creationId xmlns:a16="http://schemas.microsoft.com/office/drawing/2014/main" id="{37216B0B-0371-4121-8D17-583E05F1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238875"/>
            <a:ext cx="1733550" cy="1714500"/>
          </a:xfrm>
          <a:custGeom xmlns:a="http://schemas.openxmlformats.org/drawingml/2006/main">
            <a:pathLst>
              <a:path w="1733550" h="1714500">
                <a:moveTo>
                  <a:pt x="123825" y="0"/>
                </a:moveTo>
                <a:lnTo>
                  <a:pt x="1609725" y="0"/>
                </a:lnTo>
                <a:cubicBezTo>
                  <a:pt x="1678112" y="0"/>
                  <a:pt x="1733550" y="55438"/>
                  <a:pt x="1733550" y="123825"/>
                </a:cubicBezTo>
                <a:lnTo>
                  <a:pt x="1733550" y="1590675"/>
                </a:lnTo>
                <a:cubicBezTo>
                  <a:pt x="1733550" y="1659062"/>
                  <a:pt x="1678112" y="1714500"/>
                  <a:pt x="1609725" y="1714500"/>
                </a:cubicBezTo>
                <a:lnTo>
                  <a:pt x="123825" y="1714500"/>
                </a:lnTo>
                <a:cubicBezTo>
                  <a:pt x="55438" y="1714500"/>
                  <a:pt x="0" y="1659062"/>
                  <a:pt x="0" y="159067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F3395"/>
            </a:solidFill>
            <a:prstDash val="solid"/>
          </a:ln>
        </p:spPr>
      </p:sp>
      <p:sp>
        <p:nvSpPr>
          <p:cNvPr id="295" name="Checklist label background">
            <a:extLst xmlns:a="http://schemas.openxmlformats.org/drawingml/2006/main">
              <a:ext uri="{FF2B5EF4-FFF2-40B4-BE49-F238E27FC236}">
                <a16:creationId xmlns:a16="http://schemas.microsoft.com/office/drawing/2014/main" id="{3196C55C-2159-49C7-ADA7-26FF286D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8143875"/>
            <a:ext cx="2266950" cy="571500"/>
          </a:xfrm>
          <a:custGeom xmlns:a="http://schemas.openxmlformats.org/drawingml/2006/main">
            <a:pathLst>
              <a:path w="2266950" h="571500">
                <a:moveTo>
                  <a:pt x="285750" y="0"/>
                </a:moveTo>
                <a:lnTo>
                  <a:pt x="1981200" y="0"/>
                </a:lnTo>
                <a:cubicBezTo>
                  <a:pt x="2139015" y="0"/>
                  <a:pt x="2266950" y="127935"/>
                  <a:pt x="2266950" y="285750"/>
                </a:cubicBezTo>
                <a:lnTo>
                  <a:pt x="2266950" y="285750"/>
                </a:lnTo>
                <a:cubicBezTo>
                  <a:pt x="2266950" y="443565"/>
                  <a:pt x="2139015" y="571500"/>
                  <a:pt x="1981200" y="571500"/>
                </a:cubicBezTo>
                <a:lnTo>
                  <a:pt x="285750" y="571500"/>
                </a:lnTo>
                <a:cubicBezTo>
                  <a:pt x="127935" y="571500"/>
                  <a:pt x="0" y="443565"/>
                  <a:pt x="0" y="285750"/>
                </a:cubicBezTo>
                <a:lnTo>
                  <a:pt x="0" y="285750"/>
                </a:lnTo>
                <a:cubicBezTo>
                  <a:pt x="0" y="127935"/>
                  <a:pt x="127935" y="0"/>
                  <a:pt x="285750" y="0"/>
                </a:cubicBezTo>
                <a:close/>
              </a:path>
            </a:pathLst>
          </a:custGeom>
          <a:solidFill xmlns:a="http://schemas.openxmlformats.org/drawingml/2006/main">
            <a:srgbClr val="EFE6F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6" name="Checklist">
            <a:extLst xmlns:a="http://schemas.openxmlformats.org/drawingml/2006/main">
              <a:ext uri="{FF2B5EF4-FFF2-40B4-BE49-F238E27FC236}">
                <a16:creationId xmlns:a16="http://schemas.microsoft.com/office/drawing/2014/main" id="{9F817FB3-FF9E-4D41-A701-FB9E47FE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5225" y="8162925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075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075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3075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Checklist</a:t>
            </a:r>
          </a:p>
        </p:txBody>
      </p:sp>
      <p:sp>
        <p:nvSpPr>
          <p:cNvPr id="297" name="Image branch to evaluator">
            <a:extLst xmlns:a="http://schemas.openxmlformats.org/drawingml/2006/main">
              <a:ext uri="{FF2B5EF4-FFF2-40B4-BE49-F238E27FC236}">
                <a16:creationId xmlns:a16="http://schemas.microsoft.com/office/drawing/2014/main" id="{2349AACB-4656-4CF8-8D4B-A60A7A00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7096125"/>
            <a:ext cx="1990725" cy="666750"/>
          </a:xfrm>
          <a:custGeom xmlns:a="http://schemas.openxmlformats.org/drawingml/2006/main">
            <a:pathLst>
              <a:path w="1990725" h="666750">
                <a:moveTo>
                  <a:pt x="0" y="0"/>
                </a:moveTo>
                <a:lnTo>
                  <a:pt x="771525" y="0"/>
                </a:lnTo>
                <a:cubicBezTo>
                  <a:pt x="1057275" y="0"/>
                  <a:pt x="1143000" y="104775"/>
                  <a:pt x="1143000" y="371475"/>
                </a:cubicBezTo>
                <a:lnTo>
                  <a:pt x="1143000" y="666750"/>
                </a:lnTo>
                <a:lnTo>
                  <a:pt x="1990725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66BCB"/>
            </a:solidFill>
            <a:prstDash val="solid"/>
          </a:ln>
        </p:spPr>
      </p:sp>
      <p:sp>
        <p:nvSpPr>
          <p:cNvPr id="298" name="Checklist branch to evaluator">
            <a:extLst xmlns:a="http://schemas.openxmlformats.org/drawingml/2006/main">
              <a:ext uri="{FF2B5EF4-FFF2-40B4-BE49-F238E27FC236}">
                <a16:creationId xmlns:a16="http://schemas.microsoft.com/office/drawing/2014/main" id="{D539B341-E519-4763-930D-E0ACE41E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762875"/>
            <a:ext cx="904875" cy="657225"/>
          </a:xfrm>
          <a:custGeom xmlns:a="http://schemas.openxmlformats.org/drawingml/2006/main">
            <a:pathLst>
              <a:path w="904875" h="657225">
                <a:moveTo>
                  <a:pt x="0" y="657225"/>
                </a:moveTo>
                <a:lnTo>
                  <a:pt x="533400" y="657225"/>
                </a:lnTo>
                <a:cubicBezTo>
                  <a:pt x="800100" y="657225"/>
                  <a:pt x="904875" y="619125"/>
                  <a:pt x="904875" y="361950"/>
                </a:cubicBezTo>
                <a:lnTo>
                  <a:pt x="904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66BCB"/>
            </a:solidFill>
            <a:prstDash val="solid"/>
          </a:ln>
        </p:spPr>
      </p:sp>
      <p:sp>
        <p:nvSpPr>
          <p:cNvPr id="299" name="Checklist merge endpoint">
            <a:extLst xmlns:a="http://schemas.openxmlformats.org/drawingml/2006/main">
              <a:ext uri="{FF2B5EF4-FFF2-40B4-BE49-F238E27FC236}">
                <a16:creationId xmlns:a16="http://schemas.microsoft.com/office/drawing/2014/main" id="{9AE65383-7D60-4C51-A374-96021233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70104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A66BC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00" name="Checklist merge endpoint">
            <a:extLst xmlns:a="http://schemas.openxmlformats.org/drawingml/2006/main">
              <a:ext uri="{FF2B5EF4-FFF2-40B4-BE49-F238E27FC236}">
                <a16:creationId xmlns:a16="http://schemas.microsoft.com/office/drawing/2014/main" id="{126DB69A-B28C-40FF-AE76-9391B252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83343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A66BC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01" name="Checklist merge endpoint">
            <a:extLst xmlns:a="http://schemas.openxmlformats.org/drawingml/2006/main">
              <a:ext uri="{FF2B5EF4-FFF2-40B4-BE49-F238E27FC236}">
                <a16:creationId xmlns:a16="http://schemas.microsoft.com/office/drawing/2014/main" id="{0E759E72-F126-4664-9CFE-2AB0990A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6771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A66BC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02" name="Fantasy evaluator module native soft shadow">
            <a:extLst xmlns:a="http://schemas.openxmlformats.org/drawingml/2006/main">
              <a:ext uri="{FF2B5EF4-FFF2-40B4-BE49-F238E27FC236}">
                <a16:creationId xmlns:a16="http://schemas.microsoft.com/office/drawing/2014/main" id="{0F3883F2-3129-4AB1-A027-04B06505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867525"/>
            <a:ext cx="1714500" cy="1857375"/>
          </a:xfrm>
          <a:custGeom xmlns:a="http://schemas.openxmlformats.org/drawingml/2006/main">
            <a:pathLst>
              <a:path w="1714500" h="1857375">
                <a:moveTo>
                  <a:pt x="133350" y="0"/>
                </a:moveTo>
                <a:lnTo>
                  <a:pt x="1581150" y="0"/>
                </a:lnTo>
                <a:cubicBezTo>
                  <a:pt x="1654797" y="0"/>
                  <a:pt x="1714500" y="59703"/>
                  <a:pt x="1714500" y="133350"/>
                </a:cubicBezTo>
                <a:lnTo>
                  <a:pt x="1714500" y="1724025"/>
                </a:lnTo>
                <a:cubicBezTo>
                  <a:pt x="1714500" y="1797672"/>
                  <a:pt x="1654797" y="1857375"/>
                  <a:pt x="1581150" y="1857375"/>
                </a:cubicBezTo>
                <a:lnTo>
                  <a:pt x="133350" y="1857375"/>
                </a:lnTo>
                <a:cubicBezTo>
                  <a:pt x="59703" y="1857375"/>
                  <a:pt x="0" y="1797672"/>
                  <a:pt x="0" y="17240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03" name="Fantasy evaluator module">
            <a:extLst xmlns:a="http://schemas.openxmlformats.org/drawingml/2006/main">
              <a:ext uri="{FF2B5EF4-FFF2-40B4-BE49-F238E27FC236}">
                <a16:creationId xmlns:a16="http://schemas.microsoft.com/office/drawing/2014/main" id="{E004E6B4-7F82-4715-A867-FE815D25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819900"/>
            <a:ext cx="1714500" cy="1857375"/>
          </a:xfrm>
          <a:custGeom xmlns:a="http://schemas.openxmlformats.org/drawingml/2006/main">
            <a:pathLst>
              <a:path w="1714500" h="1857375">
                <a:moveTo>
                  <a:pt x="133350" y="0"/>
                </a:moveTo>
                <a:lnTo>
                  <a:pt x="1581150" y="0"/>
                </a:lnTo>
                <a:cubicBezTo>
                  <a:pt x="1654797" y="0"/>
                  <a:pt x="1714500" y="59703"/>
                  <a:pt x="1714500" y="133350"/>
                </a:cubicBezTo>
                <a:lnTo>
                  <a:pt x="1714500" y="1724025"/>
                </a:lnTo>
                <a:cubicBezTo>
                  <a:pt x="1714500" y="1797672"/>
                  <a:pt x="1654797" y="1857375"/>
                  <a:pt x="1581150" y="1857375"/>
                </a:cubicBezTo>
                <a:lnTo>
                  <a:pt x="133350" y="1857375"/>
                </a:lnTo>
                <a:cubicBezTo>
                  <a:pt x="59703" y="1857375"/>
                  <a:pt x="0" y="1797672"/>
                  <a:pt x="0" y="17240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1E8F7"/>
            </a:solidFill>
            <a:prstDash val="solid"/>
          </a:ln>
        </p:spPr>
      </p:sp>
      <p:pic>
        <p:nvPic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760DDDAD-76B8-4FCA-AA7E-60F7DD6B7B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da00973dc4912"/>
          <a:stretch xmlns:a="http://schemas.openxmlformats.org/drawingml/2006/main"/>
        </p:blipFill>
        <p:spPr>
          <a:xfrm xmlns:a="http://schemas.openxmlformats.org/drawingml/2006/main">
            <a:off x="11802218" y="6896100"/>
            <a:ext cx="979589" cy="904875"/>
          </a:xfrm>
          <a:prstGeom xmlns:a="http://schemas.openxmlformats.org/drawingml/2006/main" prst="rect">
            <a:avLst/>
          </a:prstGeom>
        </p:spPr>
      </p:pic>
      <p:sp>
        <p:nvSpPr>
          <p:cNvPr id="305" name="GPT-4.1">
            <a:extLst xmlns:a="http://schemas.openxmlformats.org/drawingml/2006/main">
              <a:ext uri="{FF2B5EF4-FFF2-40B4-BE49-F238E27FC236}">
                <a16:creationId xmlns:a16="http://schemas.microsoft.com/office/drawing/2014/main" id="{610D76C3-8E53-4FFF-911E-D804BD5E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8600" y="7915275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GPT-4.1</a:t>
            </a:r>
          </a:p>
        </p:txBody>
      </p:sp>
      <p:sp>
        <p:nvSpPr>
          <p:cNvPr id="306" name="Evaluator">
            <a:extLst xmlns:a="http://schemas.openxmlformats.org/drawingml/2006/main">
              <a:ext uri="{FF2B5EF4-FFF2-40B4-BE49-F238E27FC236}">
                <a16:creationId xmlns:a16="http://schemas.microsoft.com/office/drawing/2014/main" id="{DBFD902E-D047-48D4-844E-56E9018D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8600" y="82962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Evaluator</a:t>
            </a:r>
          </a:p>
        </p:txBody>
      </p:sp>
      <p:sp>
        <p:nvSpPr>
          <p:cNvPr id="307" name="•">
            <a:extLst xmlns:a="http://schemas.openxmlformats.org/drawingml/2006/main">
              <a:ext uri="{FF2B5EF4-FFF2-40B4-BE49-F238E27FC236}">
                <a16:creationId xmlns:a16="http://schemas.microsoft.com/office/drawing/2014/main" id="{B5AA86ED-2CE2-4144-B04C-4D3A52B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25" y="8829675"/>
            <a:ext cx="3238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•</a:t>
            </a:r>
          </a:p>
        </p:txBody>
      </p:sp>
      <p:sp>
        <p:nvSpPr>
          <p:cNvPr id="308" name="A square football instead of round one">
            <a:extLst xmlns:a="http://schemas.openxmlformats.org/drawingml/2006/main">
              <a:ext uri="{FF2B5EF4-FFF2-40B4-BE49-F238E27FC236}">
                <a16:creationId xmlns:a16="http://schemas.microsoft.com/office/drawing/2014/main" id="{9071AA44-16CF-4AAD-8F7E-634D8920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8791575"/>
            <a:ext cx="642937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square football instead of round one</a:t>
            </a:r>
          </a:p>
        </p:txBody>
      </p:sp>
      <p:sp>
        <p:nvSpPr>
          <p:cNvPr id="309" name="•">
            <a:extLst xmlns:a="http://schemas.openxmlformats.org/drawingml/2006/main">
              <a:ext uri="{FF2B5EF4-FFF2-40B4-BE49-F238E27FC236}">
                <a16:creationId xmlns:a16="http://schemas.microsoft.com/office/drawing/2014/main" id="{1B85AFC3-1993-4002-874A-C2B33F92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25" y="9239250"/>
            <a:ext cx="3238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•</a:t>
            </a:r>
          </a:p>
        </p:txBody>
      </p:sp>
      <p:sp>
        <p:nvSpPr>
          <p:cNvPr id="310" name="Black and white texture">
            <a:extLst xmlns:a="http://schemas.openxmlformats.org/drawingml/2006/main">
              <a:ext uri="{FF2B5EF4-FFF2-40B4-BE49-F238E27FC236}">
                <a16:creationId xmlns:a16="http://schemas.microsoft.com/office/drawing/2014/main" id="{95D50B04-3549-4BE7-821A-F06BCB4D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9201150"/>
            <a:ext cx="642937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 and white texture</a:t>
            </a:r>
          </a:p>
        </p:txBody>
      </p:sp>
      <p:sp>
        <p:nvSpPr>
          <p:cNvPr id="311" name="•">
            <a:extLst xmlns:a="http://schemas.openxmlformats.org/drawingml/2006/main">
              <a:ext uri="{FF2B5EF4-FFF2-40B4-BE49-F238E27FC236}">
                <a16:creationId xmlns:a16="http://schemas.microsoft.com/office/drawing/2014/main" id="{88887CD6-68E6-4C6C-9949-92B3F4DF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25" y="9648825"/>
            <a:ext cx="3238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•</a:t>
            </a:r>
          </a:p>
        </p:txBody>
      </p:sp>
      <p:sp>
        <p:nvSpPr>
          <p:cNvPr id="312" name="...">
            <a:extLst xmlns:a="http://schemas.openxmlformats.org/drawingml/2006/main">
              <a:ext uri="{FF2B5EF4-FFF2-40B4-BE49-F238E27FC236}">
                <a16:creationId xmlns:a16="http://schemas.microsoft.com/office/drawing/2014/main" id="{F9F5DB08-BB5E-44C1-BC8B-C95F23CB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9610725"/>
            <a:ext cx="642937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55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313" name="Judgement Dimension label background">
            <a:extLst xmlns:a="http://schemas.openxmlformats.org/drawingml/2006/main">
              <a:ext uri="{FF2B5EF4-FFF2-40B4-BE49-F238E27FC236}">
                <a16:creationId xmlns:a16="http://schemas.microsoft.com/office/drawing/2014/main" id="{01AEFAB4-DDCA-4D87-AB6F-1799BE31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775" y="6343650"/>
            <a:ext cx="4857750" cy="704850"/>
          </a:xfrm>
          <a:custGeom xmlns:a="http://schemas.openxmlformats.org/drawingml/2006/main">
            <a:pathLst>
              <a:path w="4857750" h="704850">
                <a:moveTo>
                  <a:pt x="352425" y="0"/>
                </a:moveTo>
                <a:lnTo>
                  <a:pt x="4505325" y="0"/>
                </a:lnTo>
                <a:cubicBezTo>
                  <a:pt x="4699964" y="0"/>
                  <a:pt x="4857750" y="157786"/>
                  <a:pt x="4857750" y="352425"/>
                </a:cubicBezTo>
                <a:lnTo>
                  <a:pt x="4857750" y="352425"/>
                </a:lnTo>
                <a:cubicBezTo>
                  <a:pt x="4857750" y="547064"/>
                  <a:pt x="4699964" y="704850"/>
                  <a:pt x="4505325" y="704850"/>
                </a:cubicBezTo>
                <a:lnTo>
                  <a:pt x="352425" y="704850"/>
                </a:lnTo>
                <a:cubicBezTo>
                  <a:pt x="157786" y="704850"/>
                  <a:pt x="0" y="547064"/>
                  <a:pt x="0" y="352425"/>
                </a:cubicBezTo>
                <a:lnTo>
                  <a:pt x="0" y="352425"/>
                </a:lnTo>
                <a:cubicBezTo>
                  <a:pt x="0" y="157786"/>
                  <a:pt x="157786" y="0"/>
                  <a:pt x="352425" y="0"/>
                </a:cubicBezTo>
                <a:close/>
              </a:path>
            </a:pathLst>
          </a:custGeom>
          <a:solidFill xmlns:a="http://schemas.openxmlformats.org/drawingml/2006/main">
            <a:srgbClr val="EDE3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14" name="Judgement Dimension">
            <a:extLst xmlns:a="http://schemas.openxmlformats.org/drawingml/2006/main">
              <a:ext uri="{FF2B5EF4-FFF2-40B4-BE49-F238E27FC236}">
                <a16:creationId xmlns:a16="http://schemas.microsoft.com/office/drawing/2014/main" id="{51A33C46-8A52-47D2-BB13-27AE8F06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6075" y="6362700"/>
            <a:ext cx="462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3150" b="1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Judgement Dimension</a:t>
            </a:r>
          </a:p>
        </p:txBody>
      </p:sp>
      <p:sp>
        <p:nvSpPr>
          <p:cNvPr id="315" name="•">
            <a:extLst xmlns:a="http://schemas.openxmlformats.org/drawingml/2006/main">
              <a:ext uri="{FF2B5EF4-FFF2-40B4-BE49-F238E27FC236}">
                <a16:creationId xmlns:a16="http://schemas.microsoft.com/office/drawing/2014/main" id="{F4F51B09-0A86-40C5-9EE7-CE95EB01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6075" y="7362825"/>
            <a:ext cx="323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•</a:t>
            </a:r>
          </a:p>
        </p:txBody>
      </p:sp>
      <p:sp>
        <p:nvSpPr>
          <p:cNvPr id="316" name="Fantasy Fulfillment">
            <a:extLst xmlns:a="http://schemas.openxmlformats.org/drawingml/2006/main">
              <a:ext uri="{FF2B5EF4-FFF2-40B4-BE49-F238E27FC236}">
                <a16:creationId xmlns:a16="http://schemas.microsoft.com/office/drawing/2014/main" id="{C1451C18-C8ED-4C84-943C-CD7F475F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1350" y="73342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Fantasy Fulfillment</a:t>
            </a:r>
          </a:p>
        </p:txBody>
      </p:sp>
      <p:sp>
        <p:nvSpPr>
          <p:cNvPr id="317" name="•">
            <a:extLst xmlns:a="http://schemas.openxmlformats.org/drawingml/2006/main">
              <a:ext uri="{FF2B5EF4-FFF2-40B4-BE49-F238E27FC236}">
                <a16:creationId xmlns:a16="http://schemas.microsoft.com/office/drawing/2014/main" id="{F3259A02-EBC4-407F-83AD-08B86E7E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6075" y="7972425"/>
            <a:ext cx="323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•</a:t>
            </a:r>
          </a:p>
        </p:txBody>
      </p:sp>
      <p:sp>
        <p:nvSpPr>
          <p:cNvPr id="318" name="Identity Preservation">
            <a:extLst xmlns:a="http://schemas.openxmlformats.org/drawingml/2006/main">
              <a:ext uri="{FF2B5EF4-FFF2-40B4-BE49-F238E27FC236}">
                <a16:creationId xmlns:a16="http://schemas.microsoft.com/office/drawing/2014/main" id="{FD563611-0822-42D3-8D34-2B63A88E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1350" y="79438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Identity Preservation</a:t>
            </a:r>
          </a:p>
        </p:txBody>
      </p:sp>
      <p:sp>
        <p:nvSpPr>
          <p:cNvPr id="319" name="•">
            <a:extLst xmlns:a="http://schemas.openxmlformats.org/drawingml/2006/main">
              <a:ext uri="{FF2B5EF4-FFF2-40B4-BE49-F238E27FC236}">
                <a16:creationId xmlns:a16="http://schemas.microsoft.com/office/drawing/2014/main" id="{3D205062-0762-475D-8D9D-E5A527BE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6075" y="8582025"/>
            <a:ext cx="323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6F3395"/>
                </a:solidFill>
                <a:latin typeface="Comic Sans MS"/>
                <a:ea typeface="Comic Sans MS"/>
                <a:cs typeface="Comic Sans MS"/>
              </a:rPr>
              <a:t>•</a:t>
            </a:r>
          </a:p>
        </p:txBody>
      </p:sp>
      <p:sp>
        <p:nvSpPr>
          <p:cNvPr id="320" name="Aesthetic Quality">
            <a:extLst xmlns:a="http://schemas.openxmlformats.org/drawingml/2006/main">
              <a:ext uri="{FF2B5EF4-FFF2-40B4-BE49-F238E27FC236}">
                <a16:creationId xmlns:a16="http://schemas.microsoft.com/office/drawing/2014/main" id="{7BCDA844-B719-45A7-8180-12C2B551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1350" y="85534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000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Aesthetic Quality</a:t>
            </a:r>
          </a:p>
        </p:txBody>
      </p:sp>
      <p:sp>
        <p:nvSpPr>
          <p:cNvPr id="321" name="Score and reason bar">
            <a:extLst xmlns:a="http://schemas.openxmlformats.org/drawingml/2006/main">
              <a:ext uri="{FF2B5EF4-FFF2-40B4-BE49-F238E27FC236}">
                <a16:creationId xmlns:a16="http://schemas.microsoft.com/office/drawing/2014/main" id="{A403CE11-68D4-4C84-BA5C-3D9190BC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775" y="9239250"/>
            <a:ext cx="4857750" cy="676275"/>
          </a:xfrm>
          <a:custGeom xmlns:a="http://schemas.openxmlformats.org/drawingml/2006/main">
            <a:pathLst>
              <a:path w="4857750" h="676275">
                <a:moveTo>
                  <a:pt x="333375" y="0"/>
                </a:moveTo>
                <a:lnTo>
                  <a:pt x="4524375" y="0"/>
                </a:lnTo>
                <a:cubicBezTo>
                  <a:pt x="4708493" y="0"/>
                  <a:pt x="4857750" y="149257"/>
                  <a:pt x="4857750" y="333375"/>
                </a:cubicBezTo>
                <a:lnTo>
                  <a:pt x="4857750" y="342900"/>
                </a:lnTo>
                <a:cubicBezTo>
                  <a:pt x="4857750" y="527018"/>
                  <a:pt x="4708493" y="676275"/>
                  <a:pt x="4524375" y="676275"/>
                </a:cubicBezTo>
                <a:lnTo>
                  <a:pt x="333375" y="676275"/>
                </a:lnTo>
                <a:cubicBezTo>
                  <a:pt x="149257" y="676275"/>
                  <a:pt x="0" y="527018"/>
                  <a:pt x="0" y="342900"/>
                </a:cubicBezTo>
                <a:lnTo>
                  <a:pt x="0" y="333375"/>
                </a:lnTo>
                <a:cubicBezTo>
                  <a:pt x="0" y="149257"/>
                  <a:pt x="149257" y="0"/>
                  <a:pt x="333375" y="0"/>
                </a:cubicBezTo>
                <a:close/>
              </a:path>
            </a:pathLst>
          </a:custGeom>
          <a:solidFill xmlns:a="http://schemas.openxmlformats.org/drawingml/2006/main">
            <a:srgbClr val="EEE5FC"/>
          </a:solidFill>
          <a:ln xmlns:a="http://schemas.openxmlformats.org/drawingml/2006/main" w="19050">
            <a:noFill/>
            <a:prstDash val="solid"/>
          </a:ln>
        </p:spPr>
      </p:sp>
      <p:pic>
        <p:nvPic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BB44E2F9-24D0-40F4-8F83-6D0E005901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28c7083b54016"/>
          <a:stretch xmlns:a="http://schemas.openxmlformats.org/drawingml/2006/main"/>
        </p:blipFill>
        <p:spPr>
          <a:xfrm xmlns:a="http://schemas.openxmlformats.org/drawingml/2006/main">
            <a:off x="14422120" y="9372600"/>
            <a:ext cx="635635" cy="495300"/>
          </a:xfrm>
          <a:prstGeom xmlns:a="http://schemas.openxmlformats.org/drawingml/2006/main" prst="rect">
            <a:avLst/>
          </a:prstGeom>
        </p:spPr>
      </p:pic>
      <p:sp>
        <p:nvSpPr>
          <p:cNvPr id="323" name="Score + Reason">
            <a:extLst xmlns:a="http://schemas.openxmlformats.org/drawingml/2006/main">
              <a:ext uri="{FF2B5EF4-FFF2-40B4-BE49-F238E27FC236}">
                <a16:creationId xmlns:a16="http://schemas.microsoft.com/office/drawing/2014/main" id="{170FBCC0-B417-4559-ABDB-8A1FE1E3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87625" y="9334500"/>
            <a:ext cx="3810000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300" b="1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Score + Reason</a:t>
            </a:r>
          </a:p>
        </p:txBody>
      </p:sp>
    </p:spTree>
    <p:extLst>
      <p:ext uri="{BB962C8B-B14F-4D97-AF65-F5344CB8AC3E}">
        <p14:creationId xmlns:p14="http://schemas.microsoft.com/office/powerpoint/2010/main" val="7739264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2026-10-18T16:24:16.1940000Z</dcterms:created>
  <dcterms:modified xsi:type="dcterms:W3CDTF">2026-10-18T16:24:16.1940000Z</dcterms:modified>
</coreProperties>
</file>