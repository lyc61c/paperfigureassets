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18f44f465e4391" /><Relationship Type="http://schemas.openxmlformats.org/officeDocument/2006/relationships/extended-properties" Target="/docProps/app.xml" Id="Rfb8ef1616b5a47e4" /><Relationship Type="http://schemas.openxmlformats.org/officeDocument/2006/relationships/officeDocument" Target="/ppt/presentation.xml" Id="R6071fa34ffaf4a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680843f8194387"/>
  </p:sldMasterIdLst>
  <p:notesMasterIdLst>
    <p:notesMasterId xmlns:r="http://schemas.openxmlformats.org/officeDocument/2006/relationships" r:id="Rd7302c65e4294138"/>
  </p:notesMasterIdLst>
  <p:sldIdLst>
    <p:sldId xmlns:r="http://schemas.openxmlformats.org/officeDocument/2006/relationships" id="256" r:id="Rdd8804ce73484f5b"/>
  </p:sldIdLst>
  <p:sldSz cx="18183225" cy="533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7cd0614ddc4426" /><Relationship Type="http://schemas.openxmlformats.org/officeDocument/2006/relationships/slideMaster" Target="/ppt/slideMasters/slideMaster1.xml" Id="R8e680843f8194387" /><Relationship Type="http://schemas.openxmlformats.org/officeDocument/2006/relationships/notesMaster" Target="/ppt/notesMasters/notesMaster1.xml" Id="Rd7302c65e4294138" /><Relationship Type="http://schemas.openxmlformats.org/officeDocument/2006/relationships/presProps" Target="/ppt/presProps.xml" Id="R25e8883f55ef45a1" /><Relationship Type="http://schemas.openxmlformats.org/officeDocument/2006/relationships/tableStyles" Target="/ppt/tableStyles.xml" Id="R5f61e5951c4b473c" /><Relationship Type="http://schemas.openxmlformats.org/officeDocument/2006/relationships/slide" Target="/ppt/slides/slide1.xml" Id="Rdd8804ce73484f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c18222a7614b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d5fa19dc66491a" /><Relationship Type="http://schemas.openxmlformats.org/officeDocument/2006/relationships/notesMaster" Target="/ppt/notesMasters/notesMaster1.xml" Id="R3c88936db7ca4e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Three-Stage World Model Training Pipeline</a:t>
            </a:r>
          </a:p>
          <a:p xmlns:a="http://schemas.openxmlformats.org/drawingml/2006/main">
            <a:r>
              <a:t>Source: https://arxiv.org/abs/2606.24597v1</a:t>
            </a:r>
          </a:p>
          <a:p xmlns:a="http://schemas.openxmlformats.org/drawingml/2006/main">
            <a:r>
              <a:t>Approved image: fig5_three_stage_training_pipeline.png; SHA-256: be3e210e0f3b7251941cf7d017c91e07d51187aa2ae8eb3443c99a8e81273d36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(0).</a:t>
            </a:r>
          </a:p>
          <a:p xmlns:a="http://schemas.openxmlformats.org/drawingml/2006/main">
            <a:r>
              <a:t>Font substitution: source PDF families mapped to Arial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fb906e8ac54f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c23c66d124f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9c2689bfa4b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ec6ecec9a4c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46cd56e4841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e5db413474f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A2915F-C28A-4D0A-9FE4-C0DBEA446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8323" y="2015067"/>
            <a:ext cx="14546580" cy="770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2ACFC9-7065-490A-9A5E-CE0EFCBC0C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27484" y="2933700"/>
            <a:ext cx="12728258" cy="592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084F92-94A2-49E3-985F-DF4595F5A6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8323" y="2222500"/>
            <a:ext cx="1454658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D284BA-FCC6-480B-8464-5E32E49798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2806" y="414867"/>
            <a:ext cx="16137612" cy="65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FF7C58-4C22-4B89-B25B-3D4633E820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2806" y="1481667"/>
            <a:ext cx="16137612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78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1pPr>
            <a:lvl2pPr marL="4148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2pPr>
            <a:lvl3pPr marL="6519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3pPr>
            <a:lvl4pPr marL="8890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4pPr>
            <a:lvl5pPr marL="11260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5pPr>
            <a:lvl6pPr marL="13631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6pPr>
            <a:lvl7pPr marL="16002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7pPr>
            <a:lvl8pPr marL="18372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8pPr>
            <a:lvl9pPr marL="20743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103689-7F2A-4C3E-9795-83BC6AAE8D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2806" y="414867"/>
            <a:ext cx="16137612" cy="65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09BBF0-C354-479E-B4FA-0BAB8936AF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2806" y="1481667"/>
            <a:ext cx="7500580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78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1pPr>
            <a:lvl2pPr marL="4148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2pPr>
            <a:lvl3pPr marL="6519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3pPr>
            <a:lvl4pPr marL="8890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4pPr>
            <a:lvl5pPr marL="11260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5pPr>
            <a:lvl6pPr marL="13631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6pPr>
            <a:lvl7pPr marL="16002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7pPr>
            <a:lvl8pPr marL="18372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8pPr>
            <a:lvl9pPr marL="20743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7B4726-0799-4B6D-A7E9-9D1E3A9FF0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659838" y="1481667"/>
            <a:ext cx="7500580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78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1pPr>
            <a:lvl2pPr marL="4148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2pPr>
            <a:lvl3pPr marL="6519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3pPr>
            <a:lvl4pPr marL="8890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4pPr>
            <a:lvl5pPr marL="11260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5pPr>
            <a:lvl6pPr marL="13631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6pPr>
            <a:lvl7pPr marL="16002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7pPr>
            <a:lvl8pPr marL="18372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8pPr>
            <a:lvl9pPr marL="20743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EB9749-8650-4D7A-A32D-E216CC4E6A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2806" y="414867"/>
            <a:ext cx="16137612" cy="65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989272-D7DB-4D0A-B65E-4F2FB8773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2806" y="1481667"/>
            <a:ext cx="7500580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78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1pPr>
            <a:lvl2pPr marL="4148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2pPr>
            <a:lvl3pPr marL="6519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3pPr>
            <a:lvl4pPr marL="8890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4pPr>
            <a:lvl5pPr marL="11260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5pPr>
            <a:lvl6pPr marL="13631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6pPr>
            <a:lvl7pPr marL="1600200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7pPr>
            <a:lvl8pPr marL="1837267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8pPr>
            <a:lvl9pPr marL="2074333" indent="-177800">
              <a:lnSpc>
                <a:spcPct val="110000"/>
              </a:lnSpc>
              <a:spcBef>
                <a:spcPts val="0"/>
              </a:spcBef>
              <a:spcAft>
                <a:spcPts val="9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265474555141ec" /><Relationship Type="http://schemas.openxmlformats.org/officeDocument/2006/relationships/slideLayout" Target="/ppt/slideLayouts/slideLayout1.xml" Id="R8a1e5b8ec7374b8a" /><Relationship Type="http://schemas.openxmlformats.org/officeDocument/2006/relationships/slideLayout" Target="/ppt/slideLayouts/slideLayout2.xml" Id="R37cbf918e9504cfa" /><Relationship Type="http://schemas.openxmlformats.org/officeDocument/2006/relationships/slideLayout" Target="/ppt/slideLayouts/slideLayout3.xml" Id="R9b7b6f4c070545c6" /><Relationship Type="http://schemas.openxmlformats.org/officeDocument/2006/relationships/slideLayout" Target="/ppt/slideLayouts/slideLayout4.xml" Id="R657a8e62968b482d" /><Relationship Type="http://schemas.openxmlformats.org/officeDocument/2006/relationships/slideLayout" Target="/ppt/slideLayouts/slideLayout5.xml" Id="Rb64b022200a4467b" /><Relationship Type="http://schemas.openxmlformats.org/officeDocument/2006/relationships/slideLayout" Target="/ppt/slideLayouts/slideLayout6.xml" Id="R6bc803840f934b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1e5b8ec7374b8a"/>
    <p:sldLayoutId xmlns:r="http://schemas.openxmlformats.org/officeDocument/2006/relationships" id="2147483650" r:id="R37cbf918e9504cfa"/>
    <p:sldLayoutId xmlns:r="http://schemas.openxmlformats.org/officeDocument/2006/relationships" id="2147483651" r:id="R9b7b6f4c070545c6"/>
    <p:sldLayoutId xmlns:r="http://schemas.openxmlformats.org/officeDocument/2006/relationships" id="2147483652" r:id="R657a8e62968b482d"/>
    <p:sldLayoutId xmlns:r="http://schemas.openxmlformats.org/officeDocument/2006/relationships" id="2147483653" r:id="Rb64b022200a4467b"/>
    <p:sldLayoutId xmlns:r="http://schemas.openxmlformats.org/officeDocument/2006/relationships" id="2147483654" r:id="R6bc803840f934b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7f0b367b994944" /><Relationship Type="http://schemas.openxmlformats.org/officeDocument/2006/relationships/notesSlide" Target="/ppt/notesSlides/notesSlide1.xml" Id="R3d8af4a7a6c642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slogan-0">
            <a:extLst xmlns:a="http://schemas.openxmlformats.org/drawingml/2006/main">
              <a:ext uri="{FF2B5EF4-FFF2-40B4-BE49-F238E27FC236}">
                <a16:creationId xmlns:a16="http://schemas.microsoft.com/office/drawing/2014/main" id="{A0995F82-0457-44E7-AD61-88CF2725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366713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4A6F"/>
                </a:solidFill>
                <a:latin typeface="Arial"/>
                <a:ea typeface="Arial"/>
                <a:cs typeface="Arial"/>
              </a:rPr>
              <a:t>CPT</a:t>
            </a:r>
          </a:p>
        </p:txBody>
      </p:sp>
      <p:sp>
        <p:nvSpPr>
          <p:cNvPr id="2" name="slogan-1">
            <a:extLst xmlns:a="http://schemas.openxmlformats.org/drawingml/2006/main">
              <a:ext uri="{FF2B5EF4-FFF2-40B4-BE49-F238E27FC236}">
                <a16:creationId xmlns:a16="http://schemas.microsoft.com/office/drawing/2014/main" id="{A9945118-0942-4797-B53D-C349A72C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366713"/>
            <a:ext cx="752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E4A6F"/>
                </a:solidFill>
                <a:latin typeface="Arial"/>
                <a:ea typeface="Arial"/>
                <a:cs typeface="Arial"/>
              </a:rPr>
              <a:t>injects</a:t>
            </a:r>
          </a:p>
        </p:txBody>
      </p:sp>
      <p:sp>
        <p:nvSpPr>
          <p:cNvPr id="3" name="slogan-2">
            <a:extLst xmlns:a="http://schemas.openxmlformats.org/drawingml/2006/main">
              <a:ext uri="{FF2B5EF4-FFF2-40B4-BE49-F238E27FC236}">
                <a16:creationId xmlns:a16="http://schemas.microsoft.com/office/drawing/2014/main" id="{25742929-AF7B-4DEE-AA38-6EC2D2D2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66713"/>
            <a:ext cx="9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989C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989CA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989CA5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4" name="slogan-3">
            <a:extLst xmlns:a="http://schemas.openxmlformats.org/drawingml/2006/main">
              <a:ext uri="{FF2B5EF4-FFF2-40B4-BE49-F238E27FC236}">
                <a16:creationId xmlns:a16="http://schemas.microsoft.com/office/drawing/2014/main" id="{BB2F0B2B-F08F-41AF-9B89-592CE4BE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366713"/>
            <a:ext cx="409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5D4332"/>
                </a:solidFill>
                <a:latin typeface="Arial"/>
                <a:ea typeface="Arial"/>
                <a:cs typeface="Arial"/>
              </a:rPr>
              <a:t>SFT</a:t>
            </a:r>
          </a:p>
        </p:txBody>
      </p:sp>
      <p:sp>
        <p:nvSpPr>
          <p:cNvPr id="5" name="slogan-4">
            <a:extLst xmlns:a="http://schemas.openxmlformats.org/drawingml/2006/main">
              <a:ext uri="{FF2B5EF4-FFF2-40B4-BE49-F238E27FC236}">
                <a16:creationId xmlns:a16="http://schemas.microsoft.com/office/drawing/2014/main" id="{3F037F4B-4120-4475-9A16-50AA0BFF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366713"/>
            <a:ext cx="1057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D4332"/>
                </a:solidFill>
                <a:latin typeface="Arial"/>
                <a:ea typeface="Arial"/>
                <a:cs typeface="Arial"/>
              </a:rPr>
              <a:t>activates</a:t>
            </a:r>
          </a:p>
        </p:txBody>
      </p:sp>
      <p:sp>
        <p:nvSpPr>
          <p:cNvPr id="6" name="slogan-5">
            <a:extLst xmlns:a="http://schemas.openxmlformats.org/drawingml/2006/main">
              <a:ext uri="{FF2B5EF4-FFF2-40B4-BE49-F238E27FC236}">
                <a16:creationId xmlns:a16="http://schemas.microsoft.com/office/drawing/2014/main" id="{396ADBCB-9994-4737-A297-B4E525EF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366713"/>
            <a:ext cx="9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989C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989CA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989CA5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7" name="slogan-6">
            <a:extLst xmlns:a="http://schemas.openxmlformats.org/drawingml/2006/main">
              <a:ext uri="{FF2B5EF4-FFF2-40B4-BE49-F238E27FC236}">
                <a16:creationId xmlns:a16="http://schemas.microsoft.com/office/drawing/2014/main" id="{81DED208-55AF-449F-B804-7ED968FC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0300" y="366713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B3661"/>
                </a:solidFill>
                <a:latin typeface="Arial"/>
                <a:ea typeface="Arial"/>
                <a:cs typeface="Arial"/>
              </a:rPr>
              <a:t>RL</a:t>
            </a:r>
          </a:p>
        </p:txBody>
      </p:sp>
      <p:sp>
        <p:nvSpPr>
          <p:cNvPr id="8" name="slogan-7">
            <a:extLst xmlns:a="http://schemas.openxmlformats.org/drawingml/2006/main">
              <a:ext uri="{FF2B5EF4-FFF2-40B4-BE49-F238E27FC236}">
                <a16:creationId xmlns:a16="http://schemas.microsoft.com/office/drawing/2014/main" id="{FF47EDA4-F786-4985-A82B-A64E08FD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366713"/>
            <a:ext cx="1057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4B3661"/>
                </a:solidFill>
                <a:latin typeface="Arial"/>
                <a:ea typeface="Arial"/>
                <a:cs typeface="Arial"/>
              </a:rPr>
              <a:t>sharpens</a:t>
            </a:r>
          </a:p>
        </p:txBody>
      </p:sp>
      <p:sp>
        <p:nvSpPr>
          <p:cNvPr id="9" name="stage-1-shadow-8">
            <a:extLst xmlns:a="http://schemas.openxmlformats.org/drawingml/2006/main">
              <a:ext uri="{FF2B5EF4-FFF2-40B4-BE49-F238E27FC236}">
                <a16:creationId xmlns:a16="http://schemas.microsoft.com/office/drawing/2014/main" id="{7D189A8E-21E5-46B8-B490-E411F156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33450"/>
            <a:ext cx="5295900" cy="4257675"/>
          </a:xfrm>
          <a:custGeom xmlns:a="http://schemas.openxmlformats.org/drawingml/2006/main">
            <a:pathLst>
              <a:path w="5295900" h="4257675">
                <a:moveTo>
                  <a:pt x="266700" y="0"/>
                </a:moveTo>
                <a:lnTo>
                  <a:pt x="5029200" y="0"/>
                </a:lnTo>
                <a:cubicBezTo>
                  <a:pt x="5176494" y="0"/>
                  <a:pt x="5295900" y="119406"/>
                  <a:pt x="5295900" y="266700"/>
                </a:cubicBezTo>
                <a:lnTo>
                  <a:pt x="5295900" y="3990975"/>
                </a:lnTo>
                <a:cubicBezTo>
                  <a:pt x="5295900" y="4138269"/>
                  <a:pt x="5176494" y="4257675"/>
                  <a:pt x="5029200" y="4257675"/>
                </a:cubicBezTo>
                <a:lnTo>
                  <a:pt x="266700" y="4257675"/>
                </a:lnTo>
                <a:cubicBezTo>
                  <a:pt x="119406" y="4257675"/>
                  <a:pt x="0" y="4138269"/>
                  <a:pt x="0" y="3990975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1-shadow-5">
            <a:extLst xmlns:a="http://schemas.openxmlformats.org/drawingml/2006/main">
              <a:ext uri="{FF2B5EF4-FFF2-40B4-BE49-F238E27FC236}">
                <a16:creationId xmlns:a16="http://schemas.microsoft.com/office/drawing/2014/main" id="{5719C490-13D2-46BF-9846-C8EB0254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33450"/>
            <a:ext cx="5238750" cy="4229100"/>
          </a:xfrm>
          <a:custGeom xmlns:a="http://schemas.openxmlformats.org/drawingml/2006/main">
            <a:pathLst>
              <a:path w="5238750" h="4229100">
                <a:moveTo>
                  <a:pt x="238125" y="0"/>
                </a:moveTo>
                <a:lnTo>
                  <a:pt x="5000625" y="0"/>
                </a:lnTo>
                <a:cubicBezTo>
                  <a:pt x="5132138" y="0"/>
                  <a:pt x="5238750" y="106612"/>
                  <a:pt x="5238750" y="238125"/>
                </a:cubicBezTo>
                <a:lnTo>
                  <a:pt x="5238750" y="3990975"/>
                </a:lnTo>
                <a:cubicBezTo>
                  <a:pt x="5238750" y="4122488"/>
                  <a:pt x="5132138" y="4229100"/>
                  <a:pt x="5000625" y="4229100"/>
                </a:cubicBezTo>
                <a:lnTo>
                  <a:pt x="238125" y="4229100"/>
                </a:lnTo>
                <a:cubicBezTo>
                  <a:pt x="106612" y="4229100"/>
                  <a:pt x="0" y="4122488"/>
                  <a:pt x="0" y="399097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1-shadow-2">
            <a:extLst xmlns:a="http://schemas.openxmlformats.org/drawingml/2006/main">
              <a:ext uri="{FF2B5EF4-FFF2-40B4-BE49-F238E27FC236}">
                <a16:creationId xmlns:a16="http://schemas.microsoft.com/office/drawing/2014/main" id="{A3F5BE8D-8D18-41BF-BC70-BE4921C6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33450"/>
            <a:ext cx="5181600" cy="4200525"/>
          </a:xfrm>
          <a:custGeom xmlns:a="http://schemas.openxmlformats.org/drawingml/2006/main">
            <a:pathLst>
              <a:path w="5181600" h="4200525">
                <a:moveTo>
                  <a:pt x="209550" y="0"/>
                </a:moveTo>
                <a:lnTo>
                  <a:pt x="4972050" y="0"/>
                </a:lnTo>
                <a:cubicBezTo>
                  <a:pt x="5087781" y="0"/>
                  <a:pt x="5181600" y="93819"/>
                  <a:pt x="5181600" y="209550"/>
                </a:cubicBezTo>
                <a:lnTo>
                  <a:pt x="5181600" y="3990975"/>
                </a:lnTo>
                <a:cubicBezTo>
                  <a:pt x="5181600" y="4106706"/>
                  <a:pt x="5087781" y="4200525"/>
                  <a:pt x="4972050" y="4200525"/>
                </a:cubicBezTo>
                <a:lnTo>
                  <a:pt x="209550" y="4200525"/>
                </a:lnTo>
                <a:cubicBezTo>
                  <a:pt x="93819" y="4200525"/>
                  <a:pt x="0" y="4106706"/>
                  <a:pt x="0" y="3990975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1-card">
            <a:extLst xmlns:a="http://schemas.openxmlformats.org/drawingml/2006/main">
              <a:ext uri="{FF2B5EF4-FFF2-40B4-BE49-F238E27FC236}">
                <a16:creationId xmlns:a16="http://schemas.microsoft.com/office/drawing/2014/main" id="{FE8901E2-4122-45B0-83A7-E68072F1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5143500" cy="4200525"/>
          </a:xfrm>
          <a:custGeom xmlns:a="http://schemas.openxmlformats.org/drawingml/2006/main">
            <a:pathLst>
              <a:path w="5143500" h="4200525">
                <a:moveTo>
                  <a:pt x="161925" y="0"/>
                </a:moveTo>
                <a:lnTo>
                  <a:pt x="4981575" y="0"/>
                </a:lnTo>
                <a:cubicBezTo>
                  <a:pt x="5071004" y="0"/>
                  <a:pt x="5143500" y="72496"/>
                  <a:pt x="5143500" y="161925"/>
                </a:cubicBezTo>
                <a:lnTo>
                  <a:pt x="5143500" y="4038600"/>
                </a:lnTo>
                <a:cubicBezTo>
                  <a:pt x="5143500" y="4128029"/>
                  <a:pt x="5071004" y="4200525"/>
                  <a:pt x="4981575" y="4200525"/>
                </a:cubicBezTo>
                <a:lnTo>
                  <a:pt x="161925" y="4200525"/>
                </a:lnTo>
                <a:cubicBezTo>
                  <a:pt x="72496" y="4200525"/>
                  <a:pt x="0" y="4128029"/>
                  <a:pt x="0" y="4038600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 xmlns:a="http://schemas.openxmlformats.org/drawingml/2006/main">
            <a:srgbClr val="F3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1-header-round">
            <a:extLst xmlns:a="http://schemas.openxmlformats.org/drawingml/2006/main">
              <a:ext uri="{FF2B5EF4-FFF2-40B4-BE49-F238E27FC236}">
                <a16:creationId xmlns:a16="http://schemas.microsoft.com/office/drawing/2014/main" id="{E98941B3-A02B-4297-B5D4-56BF5BAF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5143500" cy="962025"/>
          </a:xfrm>
          <a:custGeom xmlns:a="http://schemas.openxmlformats.org/drawingml/2006/main">
            <a:pathLst>
              <a:path w="5143500" h="962025">
                <a:moveTo>
                  <a:pt x="152400" y="0"/>
                </a:moveTo>
                <a:lnTo>
                  <a:pt x="4991100" y="0"/>
                </a:lnTo>
                <a:cubicBezTo>
                  <a:pt x="5075268" y="0"/>
                  <a:pt x="5143500" y="68232"/>
                  <a:pt x="5143500" y="152400"/>
                </a:cubicBezTo>
                <a:lnTo>
                  <a:pt x="5143500" y="809625"/>
                </a:lnTo>
                <a:cubicBezTo>
                  <a:pt x="5143500" y="893793"/>
                  <a:pt x="5075268" y="962025"/>
                  <a:pt x="4991100" y="962025"/>
                </a:cubicBezTo>
                <a:lnTo>
                  <a:pt x="152400" y="962025"/>
                </a:lnTo>
                <a:cubicBezTo>
                  <a:pt x="68232" y="962025"/>
                  <a:pt x="0" y="893793"/>
                  <a:pt x="0" y="8096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2E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1-header-lower">
            <a:extLst xmlns:a="http://schemas.openxmlformats.org/drawingml/2006/main">
              <a:ext uri="{FF2B5EF4-FFF2-40B4-BE49-F238E27FC236}">
                <a16:creationId xmlns:a16="http://schemas.microsoft.com/office/drawing/2014/main" id="{C9A8471A-3EC2-4896-969C-2C0AD553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5143500" cy="790575"/>
          </a:xfrm>
          <a:custGeom xmlns:a="http://schemas.openxmlformats.org/drawingml/2006/main">
            <a:pathLst>
              <a:path w="5143500" h="790575">
                <a:moveTo>
                  <a:pt x="0" y="0"/>
                </a:moveTo>
                <a:lnTo>
                  <a:pt x="5143500" y="0"/>
                </a:lnTo>
                <a:lnTo>
                  <a:pt x="5143500" y="790575"/>
                </a:lnTo>
                <a:lnTo>
                  <a:pt x="0" y="790575"/>
                </a:lnTo>
                <a:close/>
              </a:path>
            </a:pathLst>
          </a:custGeom>
          <a:solidFill xmlns:a="http://schemas.openxmlformats.org/drawingml/2006/main">
            <a:srgbClr val="2E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1-number-box">
            <a:extLst xmlns:a="http://schemas.openxmlformats.org/drawingml/2006/main">
              <a:ext uri="{FF2B5EF4-FFF2-40B4-BE49-F238E27FC236}">
                <a16:creationId xmlns:a16="http://schemas.microsoft.com/office/drawing/2014/main" id="{E4FC6BFB-AC44-4CC3-968B-3FC67D4B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523875" cy="533400"/>
          </a:xfrm>
          <a:custGeom xmlns:a="http://schemas.openxmlformats.org/drawingml/2006/main">
            <a:pathLst>
              <a:path w="523875" h="533400">
                <a:moveTo>
                  <a:pt x="133350" y="0"/>
                </a:moveTo>
                <a:lnTo>
                  <a:pt x="390525" y="0"/>
                </a:lnTo>
                <a:cubicBezTo>
                  <a:pt x="464172" y="0"/>
                  <a:pt x="523875" y="59703"/>
                  <a:pt x="523875" y="133350"/>
                </a:cubicBezTo>
                <a:lnTo>
                  <a:pt x="523875" y="400050"/>
                </a:lnTo>
                <a:cubicBezTo>
                  <a:pt x="523875" y="473697"/>
                  <a:pt x="464172" y="533400"/>
                  <a:pt x="390525" y="533400"/>
                </a:cubicBezTo>
                <a:lnTo>
                  <a:pt x="133350" y="533400"/>
                </a:lnTo>
                <a:cubicBezTo>
                  <a:pt x="59703" y="533400"/>
                  <a:pt x="0" y="473697"/>
                  <a:pt x="0" y="4000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556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CA6B3189-E43B-4484-A22E-2EAD04E7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0586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stage-1-caption">
            <a:extLst xmlns:a="http://schemas.openxmlformats.org/drawingml/2006/main">
              <a:ext uri="{FF2B5EF4-FFF2-40B4-BE49-F238E27FC236}">
                <a16:creationId xmlns:a16="http://schemas.microsoft.com/office/drawing/2014/main" id="{27E1BF37-562F-4D30-8D8D-1DD8DD82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086993"/>
            <a:ext cx="9715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B0B1B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B0B1B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0B1B9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18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60F887A6-381E-44F7-BFE7-F0C6A443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282751"/>
            <a:ext cx="3038475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2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Continual Pre-Training</a:t>
            </a:r>
          </a:p>
        </p:txBody>
      </p:sp>
      <p:sp>
        <p:nvSpPr>
          <p:cNvPr id="19" name="stage-1-abbreviation">
            <a:extLst xmlns:a="http://schemas.openxmlformats.org/drawingml/2006/main">
              <a:ext uri="{FF2B5EF4-FFF2-40B4-BE49-F238E27FC236}">
                <a16:creationId xmlns:a16="http://schemas.microsoft.com/office/drawing/2014/main" id="{586FCCE7-44B6-48C5-9249-0AD28248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1320927"/>
            <a:ext cx="8572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B7B9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B7B9C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B7B9C4"/>
                </a:solidFill>
                <a:latin typeface="Arial"/>
                <a:ea typeface="Arial"/>
                <a:cs typeface="Arial"/>
              </a:rPr>
              <a:t>(CPT)</a:t>
            </a:r>
          </a:p>
        </p:txBody>
      </p:sp>
      <p:sp>
        <p:nvSpPr>
          <p:cNvPr id="20" name="stage-1-DATA-badge">
            <a:extLst xmlns:a="http://schemas.openxmlformats.org/drawingml/2006/main">
              <a:ext uri="{FF2B5EF4-FFF2-40B4-BE49-F238E27FC236}">
                <a16:creationId xmlns:a16="http://schemas.microsoft.com/office/drawing/2014/main" id="{AB0F6ACF-8AFE-4979-AB43-C8753AF9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00025" cy="200025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2E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ge-1-DATA-icon-letter">
            <a:extLst xmlns:a="http://schemas.openxmlformats.org/drawingml/2006/main">
              <a:ext uri="{FF2B5EF4-FFF2-40B4-BE49-F238E27FC236}">
                <a16:creationId xmlns:a16="http://schemas.microsoft.com/office/drawing/2014/main" id="{F669188D-CE63-403F-8096-ABF3D8E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113026"/>
            <a:ext cx="2000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2" name="stage-1-DATA-heading">
            <a:extLst xmlns:a="http://schemas.openxmlformats.org/drawingml/2006/main">
              <a:ext uri="{FF2B5EF4-FFF2-40B4-BE49-F238E27FC236}">
                <a16:creationId xmlns:a16="http://schemas.microsoft.com/office/drawing/2014/main" id="{CA022C3D-1284-4F92-BE12-DEEABF87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2083346"/>
            <a:ext cx="4343400" cy="242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5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5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2E4A6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3" name="stage-1-DATA-line-1">
            <a:extLst xmlns:a="http://schemas.openxmlformats.org/drawingml/2006/main">
              <a:ext uri="{FF2B5EF4-FFF2-40B4-BE49-F238E27FC236}">
                <a16:creationId xmlns:a16="http://schemas.microsoft.com/office/drawing/2014/main" id="{9CA0EAFE-A842-4D9B-B744-32D9952E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2371592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Environment interaction trajectories + world</a:t>
            </a:r>
          </a:p>
        </p:txBody>
      </p:sp>
      <p:sp>
        <p:nvSpPr>
          <p:cNvPr id="24" name="stage-1-DATA-line-2">
            <a:extLst xmlns:a="http://schemas.openxmlformats.org/drawingml/2006/main">
              <a:ext uri="{FF2B5EF4-FFF2-40B4-BE49-F238E27FC236}">
                <a16:creationId xmlns:a16="http://schemas.microsoft.com/office/drawing/2014/main" id="{AFF45A1E-C42B-4273-95EB-C0BDA42D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2676392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knowledge corpora</a:t>
            </a:r>
          </a:p>
        </p:txBody>
      </p:sp>
      <p:sp>
        <p:nvSpPr>
          <p:cNvPr id="25" name="stage-1-OBJECTIVE-badge">
            <a:extLst xmlns:a="http://schemas.openxmlformats.org/drawingml/2006/main">
              <a:ext uri="{FF2B5EF4-FFF2-40B4-BE49-F238E27FC236}">
                <a16:creationId xmlns:a16="http://schemas.microsoft.com/office/drawing/2014/main" id="{8C2B9754-3508-4FED-8C5D-7131A489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00025" cy="200025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2E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age-1-OBJECTIVE-icon-letter">
            <a:extLst xmlns:a="http://schemas.openxmlformats.org/drawingml/2006/main">
              <a:ext uri="{FF2B5EF4-FFF2-40B4-BE49-F238E27FC236}">
                <a16:creationId xmlns:a16="http://schemas.microsoft.com/office/drawing/2014/main" id="{66E641AE-9923-4EAC-BF74-030C7ECD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189351"/>
            <a:ext cx="2000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7" name="stage-1-OBJECTIVE-heading">
            <a:extLst xmlns:a="http://schemas.openxmlformats.org/drawingml/2006/main">
              <a:ext uri="{FF2B5EF4-FFF2-40B4-BE49-F238E27FC236}">
                <a16:creationId xmlns:a16="http://schemas.microsoft.com/office/drawing/2014/main" id="{991E1EBC-ADFC-4968-8B23-06EF9E02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3159671"/>
            <a:ext cx="4343400" cy="242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5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5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2E4A6F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28" name="stage-1-OBJECTIVE-line-1">
            <a:extLst xmlns:a="http://schemas.openxmlformats.org/drawingml/2006/main">
              <a:ext uri="{FF2B5EF4-FFF2-40B4-BE49-F238E27FC236}">
                <a16:creationId xmlns:a16="http://schemas.microsoft.com/office/drawing/2014/main" id="{9B37C2F7-F2FB-48C7-A1D5-C2BFAEB0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3447917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Next-token prediction (non-thinking)</a:t>
            </a:r>
          </a:p>
        </p:txBody>
      </p:sp>
      <p:sp>
        <p:nvSpPr>
          <p:cNvPr id="29" name="stage-1-TECHNIQUE-badge">
            <a:extLst xmlns:a="http://schemas.openxmlformats.org/drawingml/2006/main">
              <a:ext uri="{FF2B5EF4-FFF2-40B4-BE49-F238E27FC236}">
                <a16:creationId xmlns:a16="http://schemas.microsoft.com/office/drawing/2014/main" id="{BFC9BE1F-1260-4386-8BB5-613F2269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00025" cy="200025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2E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age-1-TECHNIQUE-icon-letter">
            <a:extLst xmlns:a="http://schemas.openxmlformats.org/drawingml/2006/main">
              <a:ext uri="{FF2B5EF4-FFF2-40B4-BE49-F238E27FC236}">
                <a16:creationId xmlns:a16="http://schemas.microsoft.com/office/drawing/2014/main" id="{94D80BAA-A6AE-4958-9BC5-DEC05674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951351"/>
            <a:ext cx="2000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1" name="stage-1-TECHNIQUE-heading">
            <a:extLst xmlns:a="http://schemas.openxmlformats.org/drawingml/2006/main">
              <a:ext uri="{FF2B5EF4-FFF2-40B4-BE49-F238E27FC236}">
                <a16:creationId xmlns:a16="http://schemas.microsoft.com/office/drawing/2014/main" id="{A4741012-483F-4D49-BDDF-C0041DED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3921671"/>
            <a:ext cx="4343400" cy="242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5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5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2E4A6F"/>
                </a:solidFill>
                <a:latin typeface="Arial"/>
                <a:ea typeface="Arial"/>
                <a:cs typeface="Arial"/>
              </a:rPr>
              <a:t>TECHNIQUE</a:t>
            </a:r>
          </a:p>
        </p:txBody>
      </p:sp>
      <p:sp>
        <p:nvSpPr>
          <p:cNvPr id="32" name="stage-1-TECHNIQUE-line-1">
            <a:extLst xmlns:a="http://schemas.openxmlformats.org/drawingml/2006/main">
              <a:ext uri="{FF2B5EF4-FFF2-40B4-BE49-F238E27FC236}">
                <a16:creationId xmlns:a16="http://schemas.microsoft.com/office/drawing/2014/main" id="{C3790A25-5853-4D74-B4ED-F622C996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4209917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Turn-level information-theoretic loss masking</a:t>
            </a:r>
          </a:p>
        </p:txBody>
      </p:sp>
      <p:sp>
        <p:nvSpPr>
          <p:cNvPr id="33" name="stage-2-shadow-8">
            <a:extLst xmlns:a="http://schemas.openxmlformats.org/drawingml/2006/main">
              <a:ext uri="{FF2B5EF4-FFF2-40B4-BE49-F238E27FC236}">
                <a16:creationId xmlns:a16="http://schemas.microsoft.com/office/drawing/2014/main" id="{97CB6B09-C9D9-4FE9-8CF1-CD9A1F6D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933450"/>
            <a:ext cx="5295900" cy="4257675"/>
          </a:xfrm>
          <a:custGeom xmlns:a="http://schemas.openxmlformats.org/drawingml/2006/main">
            <a:pathLst>
              <a:path w="5295900" h="4257675">
                <a:moveTo>
                  <a:pt x="266700" y="0"/>
                </a:moveTo>
                <a:lnTo>
                  <a:pt x="5029200" y="0"/>
                </a:lnTo>
                <a:cubicBezTo>
                  <a:pt x="5176494" y="0"/>
                  <a:pt x="5295900" y="119406"/>
                  <a:pt x="5295900" y="266700"/>
                </a:cubicBezTo>
                <a:lnTo>
                  <a:pt x="5295900" y="3990975"/>
                </a:lnTo>
                <a:cubicBezTo>
                  <a:pt x="5295900" y="4138269"/>
                  <a:pt x="5176494" y="4257675"/>
                  <a:pt x="5029200" y="4257675"/>
                </a:cubicBezTo>
                <a:lnTo>
                  <a:pt x="266700" y="4257675"/>
                </a:lnTo>
                <a:cubicBezTo>
                  <a:pt x="119406" y="4257675"/>
                  <a:pt x="0" y="4138269"/>
                  <a:pt x="0" y="3990975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age-2-shadow-5">
            <a:extLst xmlns:a="http://schemas.openxmlformats.org/drawingml/2006/main">
              <a:ext uri="{FF2B5EF4-FFF2-40B4-BE49-F238E27FC236}">
                <a16:creationId xmlns:a16="http://schemas.microsoft.com/office/drawing/2014/main" id="{7B9C9CFB-FA5A-44B2-9331-7FFD40D8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933450"/>
            <a:ext cx="5238750" cy="4229100"/>
          </a:xfrm>
          <a:custGeom xmlns:a="http://schemas.openxmlformats.org/drawingml/2006/main">
            <a:pathLst>
              <a:path w="5238750" h="4229100">
                <a:moveTo>
                  <a:pt x="238125" y="0"/>
                </a:moveTo>
                <a:lnTo>
                  <a:pt x="5000625" y="0"/>
                </a:lnTo>
                <a:cubicBezTo>
                  <a:pt x="5132138" y="0"/>
                  <a:pt x="5238750" y="106612"/>
                  <a:pt x="5238750" y="238125"/>
                </a:cubicBezTo>
                <a:lnTo>
                  <a:pt x="5238750" y="3990975"/>
                </a:lnTo>
                <a:cubicBezTo>
                  <a:pt x="5238750" y="4122488"/>
                  <a:pt x="5132138" y="4229100"/>
                  <a:pt x="5000625" y="4229100"/>
                </a:cubicBezTo>
                <a:lnTo>
                  <a:pt x="238125" y="4229100"/>
                </a:lnTo>
                <a:cubicBezTo>
                  <a:pt x="106612" y="4229100"/>
                  <a:pt x="0" y="4122488"/>
                  <a:pt x="0" y="399097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tage-2-shadow-2">
            <a:extLst xmlns:a="http://schemas.openxmlformats.org/drawingml/2006/main">
              <a:ext uri="{FF2B5EF4-FFF2-40B4-BE49-F238E27FC236}">
                <a16:creationId xmlns:a16="http://schemas.microsoft.com/office/drawing/2014/main" id="{405262DC-F324-42E1-9C5C-9033E649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933450"/>
            <a:ext cx="5181600" cy="4200525"/>
          </a:xfrm>
          <a:custGeom xmlns:a="http://schemas.openxmlformats.org/drawingml/2006/main">
            <a:pathLst>
              <a:path w="5181600" h="4200525">
                <a:moveTo>
                  <a:pt x="209550" y="0"/>
                </a:moveTo>
                <a:lnTo>
                  <a:pt x="4972050" y="0"/>
                </a:lnTo>
                <a:cubicBezTo>
                  <a:pt x="5087781" y="0"/>
                  <a:pt x="5181600" y="93819"/>
                  <a:pt x="5181600" y="209550"/>
                </a:cubicBezTo>
                <a:lnTo>
                  <a:pt x="5181600" y="3990975"/>
                </a:lnTo>
                <a:cubicBezTo>
                  <a:pt x="5181600" y="4106706"/>
                  <a:pt x="5087781" y="4200525"/>
                  <a:pt x="4972050" y="4200525"/>
                </a:cubicBezTo>
                <a:lnTo>
                  <a:pt x="209550" y="4200525"/>
                </a:lnTo>
                <a:cubicBezTo>
                  <a:pt x="93819" y="4200525"/>
                  <a:pt x="0" y="4106706"/>
                  <a:pt x="0" y="3990975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tage-2-card">
            <a:extLst xmlns:a="http://schemas.openxmlformats.org/drawingml/2006/main">
              <a:ext uri="{FF2B5EF4-FFF2-40B4-BE49-F238E27FC236}">
                <a16:creationId xmlns:a16="http://schemas.microsoft.com/office/drawing/2014/main" id="{6FE564A6-C895-4342-A272-4FFF105F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876300"/>
            <a:ext cx="5143500" cy="4200525"/>
          </a:xfrm>
          <a:custGeom xmlns:a="http://schemas.openxmlformats.org/drawingml/2006/main">
            <a:pathLst>
              <a:path w="5143500" h="4200525">
                <a:moveTo>
                  <a:pt x="161925" y="0"/>
                </a:moveTo>
                <a:lnTo>
                  <a:pt x="4981575" y="0"/>
                </a:lnTo>
                <a:cubicBezTo>
                  <a:pt x="5071004" y="0"/>
                  <a:pt x="5143500" y="72496"/>
                  <a:pt x="5143500" y="161925"/>
                </a:cubicBezTo>
                <a:lnTo>
                  <a:pt x="5143500" y="4038600"/>
                </a:lnTo>
                <a:cubicBezTo>
                  <a:pt x="5143500" y="4128029"/>
                  <a:pt x="5071004" y="4200525"/>
                  <a:pt x="4981575" y="4200525"/>
                </a:cubicBezTo>
                <a:lnTo>
                  <a:pt x="161925" y="4200525"/>
                </a:lnTo>
                <a:cubicBezTo>
                  <a:pt x="72496" y="4200525"/>
                  <a:pt x="0" y="4128029"/>
                  <a:pt x="0" y="4038600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 xmlns:a="http://schemas.openxmlformats.org/drawingml/2006/main">
            <a:srgbClr val="F7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tage-2-header-round">
            <a:extLst xmlns:a="http://schemas.openxmlformats.org/drawingml/2006/main">
              <a:ext uri="{FF2B5EF4-FFF2-40B4-BE49-F238E27FC236}">
                <a16:creationId xmlns:a16="http://schemas.microsoft.com/office/drawing/2014/main" id="{71E477AE-17A3-4DB5-A33B-34251BEE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876300"/>
            <a:ext cx="5143500" cy="962025"/>
          </a:xfrm>
          <a:custGeom xmlns:a="http://schemas.openxmlformats.org/drawingml/2006/main">
            <a:pathLst>
              <a:path w="5143500" h="962025">
                <a:moveTo>
                  <a:pt x="152400" y="0"/>
                </a:moveTo>
                <a:lnTo>
                  <a:pt x="4991100" y="0"/>
                </a:lnTo>
                <a:cubicBezTo>
                  <a:pt x="5075268" y="0"/>
                  <a:pt x="5143500" y="68232"/>
                  <a:pt x="5143500" y="152400"/>
                </a:cubicBezTo>
                <a:lnTo>
                  <a:pt x="5143500" y="809625"/>
                </a:lnTo>
                <a:cubicBezTo>
                  <a:pt x="5143500" y="893793"/>
                  <a:pt x="5075268" y="962025"/>
                  <a:pt x="4991100" y="962025"/>
                </a:cubicBezTo>
                <a:lnTo>
                  <a:pt x="152400" y="962025"/>
                </a:lnTo>
                <a:cubicBezTo>
                  <a:pt x="68232" y="962025"/>
                  <a:pt x="0" y="893793"/>
                  <a:pt x="0" y="8096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5D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ge-2-header-lower">
            <a:extLst xmlns:a="http://schemas.openxmlformats.org/drawingml/2006/main">
              <a:ext uri="{FF2B5EF4-FFF2-40B4-BE49-F238E27FC236}">
                <a16:creationId xmlns:a16="http://schemas.microsoft.com/office/drawing/2014/main" id="{0CD816F3-9DEC-4C26-A392-3C136BEC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047750"/>
            <a:ext cx="5143500" cy="790575"/>
          </a:xfrm>
          <a:custGeom xmlns:a="http://schemas.openxmlformats.org/drawingml/2006/main">
            <a:pathLst>
              <a:path w="5143500" h="790575">
                <a:moveTo>
                  <a:pt x="0" y="0"/>
                </a:moveTo>
                <a:lnTo>
                  <a:pt x="5143500" y="0"/>
                </a:lnTo>
                <a:lnTo>
                  <a:pt x="5143500" y="790575"/>
                </a:lnTo>
                <a:lnTo>
                  <a:pt x="0" y="790575"/>
                </a:lnTo>
                <a:close/>
              </a:path>
            </a:pathLst>
          </a:custGeom>
          <a:solidFill xmlns:a="http://schemas.openxmlformats.org/drawingml/2006/main">
            <a:srgbClr val="5D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tage-2-number-box">
            <a:extLst xmlns:a="http://schemas.openxmlformats.org/drawingml/2006/main">
              <a:ext uri="{FF2B5EF4-FFF2-40B4-BE49-F238E27FC236}">
                <a16:creationId xmlns:a16="http://schemas.microsoft.com/office/drawing/2014/main" id="{1DA62A33-E3B0-490A-AB5B-0D3CD6D0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104900"/>
            <a:ext cx="523875" cy="533400"/>
          </a:xfrm>
          <a:custGeom xmlns:a="http://schemas.openxmlformats.org/drawingml/2006/main">
            <a:pathLst>
              <a:path w="523875" h="533400">
                <a:moveTo>
                  <a:pt x="133350" y="0"/>
                </a:moveTo>
                <a:lnTo>
                  <a:pt x="390525" y="0"/>
                </a:lnTo>
                <a:cubicBezTo>
                  <a:pt x="464172" y="0"/>
                  <a:pt x="523875" y="59703"/>
                  <a:pt x="523875" y="133350"/>
                </a:cubicBezTo>
                <a:lnTo>
                  <a:pt x="523875" y="400050"/>
                </a:lnTo>
                <a:cubicBezTo>
                  <a:pt x="523875" y="473697"/>
                  <a:pt x="464172" y="533400"/>
                  <a:pt x="390525" y="533400"/>
                </a:cubicBezTo>
                <a:lnTo>
                  <a:pt x="133350" y="533400"/>
                </a:lnTo>
                <a:cubicBezTo>
                  <a:pt x="59703" y="533400"/>
                  <a:pt x="0" y="473697"/>
                  <a:pt x="0" y="4000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7A6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788997AF-F093-44C3-8B54-EF52688D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120586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stage-2-caption">
            <a:extLst xmlns:a="http://schemas.openxmlformats.org/drawingml/2006/main">
              <a:ext uri="{FF2B5EF4-FFF2-40B4-BE49-F238E27FC236}">
                <a16:creationId xmlns:a16="http://schemas.microsoft.com/office/drawing/2014/main" id="{2CF2DE1F-2ADD-47E9-BBB8-B2063297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1086993"/>
            <a:ext cx="9715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B0B1B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B0B1B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0B1B9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42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A3F55252-C0A4-403B-98C0-E0EFD4A6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1282751"/>
            <a:ext cx="3209925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2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Supervised Fine-Tuning</a:t>
            </a:r>
          </a:p>
        </p:txBody>
      </p:sp>
      <p:sp>
        <p:nvSpPr>
          <p:cNvPr id="43" name="stage-2-abbreviation">
            <a:extLst xmlns:a="http://schemas.openxmlformats.org/drawingml/2006/main">
              <a:ext uri="{FF2B5EF4-FFF2-40B4-BE49-F238E27FC236}">
                <a16:creationId xmlns:a16="http://schemas.microsoft.com/office/drawing/2014/main" id="{784FB8F7-FAB8-43E0-BC55-09682B71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5150" y="1320927"/>
            <a:ext cx="685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B7B9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B7B9C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B7B9C4"/>
                </a:solidFill>
                <a:latin typeface="Arial"/>
                <a:ea typeface="Arial"/>
                <a:cs typeface="Arial"/>
              </a:rPr>
              <a:t>(SFT)</a:t>
            </a:r>
          </a:p>
        </p:txBody>
      </p:sp>
      <p:sp>
        <p:nvSpPr>
          <p:cNvPr id="44" name="stage-2-DATA-badge">
            <a:extLst xmlns:a="http://schemas.openxmlformats.org/drawingml/2006/main">
              <a:ext uri="{FF2B5EF4-FFF2-40B4-BE49-F238E27FC236}">
                <a16:creationId xmlns:a16="http://schemas.microsoft.com/office/drawing/2014/main" id="{6B97B1B8-46F5-4BE9-9DF9-6F77CAC4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85975"/>
            <a:ext cx="200025" cy="200025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5D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tage-2-DATA-icon-letter">
            <a:extLst xmlns:a="http://schemas.openxmlformats.org/drawingml/2006/main">
              <a:ext uri="{FF2B5EF4-FFF2-40B4-BE49-F238E27FC236}">
                <a16:creationId xmlns:a16="http://schemas.microsoft.com/office/drawing/2014/main" id="{96DC4237-D6D3-43D0-9679-D9B3304C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2113026"/>
            <a:ext cx="2000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6" name="stage-2-DATA-heading">
            <a:extLst xmlns:a="http://schemas.openxmlformats.org/drawingml/2006/main">
              <a:ext uri="{FF2B5EF4-FFF2-40B4-BE49-F238E27FC236}">
                <a16:creationId xmlns:a16="http://schemas.microsoft.com/office/drawing/2014/main" id="{862C3F97-34A2-4649-B720-7CBD8AB6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083346"/>
            <a:ext cx="4343400" cy="242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5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5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5D4332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47" name="stage-2-DATA-line-1">
            <a:extLst xmlns:a="http://schemas.openxmlformats.org/drawingml/2006/main">
              <a:ext uri="{FF2B5EF4-FFF2-40B4-BE49-F238E27FC236}">
                <a16:creationId xmlns:a16="http://schemas.microsoft.com/office/drawing/2014/main" id="{C83C863D-7D83-48C3-9E60-BC403327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371592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Trajectories with explicit reasoning chains</a:t>
            </a:r>
          </a:p>
        </p:txBody>
      </p:sp>
      <p:sp>
        <p:nvSpPr>
          <p:cNvPr id="48" name="stage-2-OBJECTIVE-badge">
            <a:extLst xmlns:a="http://schemas.openxmlformats.org/drawingml/2006/main">
              <a:ext uri="{FF2B5EF4-FFF2-40B4-BE49-F238E27FC236}">
                <a16:creationId xmlns:a16="http://schemas.microsoft.com/office/drawing/2014/main" id="{12FC173D-8114-4F05-841B-A4F70786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57500"/>
            <a:ext cx="200025" cy="200025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5D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tage-2-OBJECTIVE-icon-letter">
            <a:extLst xmlns:a="http://schemas.openxmlformats.org/drawingml/2006/main">
              <a:ext uri="{FF2B5EF4-FFF2-40B4-BE49-F238E27FC236}">
                <a16:creationId xmlns:a16="http://schemas.microsoft.com/office/drawing/2014/main" id="{525269C4-7359-4102-B519-B16A1E2E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2884551"/>
            <a:ext cx="2000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0" name="stage-2-OBJECTIVE-heading">
            <a:extLst xmlns:a="http://schemas.openxmlformats.org/drawingml/2006/main">
              <a:ext uri="{FF2B5EF4-FFF2-40B4-BE49-F238E27FC236}">
                <a16:creationId xmlns:a16="http://schemas.microsoft.com/office/drawing/2014/main" id="{246DE0A1-4793-4761-B4FA-94A36C11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854871"/>
            <a:ext cx="4343400" cy="242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5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5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5D4332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1" name="stage-2-OBJECTIVE-line-1">
            <a:extLst xmlns:a="http://schemas.openxmlformats.org/drawingml/2006/main">
              <a:ext uri="{FF2B5EF4-FFF2-40B4-BE49-F238E27FC236}">
                <a16:creationId xmlns:a16="http://schemas.microsoft.com/office/drawing/2014/main" id="{1EA1872A-0F41-4BC7-A54D-0CCEC33C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143117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Activate next-state prediction as explicit</a:t>
            </a:r>
          </a:p>
        </p:txBody>
      </p:sp>
      <p:sp>
        <p:nvSpPr>
          <p:cNvPr id="52" name="stage-2-OBJECTIVE-line-2">
            <a:extLst xmlns:a="http://schemas.openxmlformats.org/drawingml/2006/main">
              <a:ext uri="{FF2B5EF4-FFF2-40B4-BE49-F238E27FC236}">
                <a16:creationId xmlns:a16="http://schemas.microsoft.com/office/drawing/2014/main" id="{AA720843-7C3C-4ABF-9901-8EDCE383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447917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thinking</a:t>
            </a:r>
          </a:p>
        </p:txBody>
      </p:sp>
      <p:sp>
        <p:nvSpPr>
          <p:cNvPr id="53" name="stage-2-TECHNIQUE-badge">
            <a:extLst xmlns:a="http://schemas.openxmlformats.org/drawingml/2006/main">
              <a:ext uri="{FF2B5EF4-FFF2-40B4-BE49-F238E27FC236}">
                <a16:creationId xmlns:a16="http://schemas.microsoft.com/office/drawing/2014/main" id="{076DEFEB-48E3-4B9D-AB53-8751D34F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24300"/>
            <a:ext cx="200025" cy="200025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5D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tage-2-TECHNIQUE-icon-letter">
            <a:extLst xmlns:a="http://schemas.openxmlformats.org/drawingml/2006/main">
              <a:ext uri="{FF2B5EF4-FFF2-40B4-BE49-F238E27FC236}">
                <a16:creationId xmlns:a16="http://schemas.microsoft.com/office/drawing/2014/main" id="{06AD6217-143C-4CC9-9036-6E11A807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3951351"/>
            <a:ext cx="2000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55" name="stage-2-TECHNIQUE-heading">
            <a:extLst xmlns:a="http://schemas.openxmlformats.org/drawingml/2006/main">
              <a:ext uri="{FF2B5EF4-FFF2-40B4-BE49-F238E27FC236}">
                <a16:creationId xmlns:a16="http://schemas.microsoft.com/office/drawing/2014/main" id="{4E2782C0-30D4-4AE1-B35B-4DAD7540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921671"/>
            <a:ext cx="4343400" cy="242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5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5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5D4332"/>
                </a:solidFill>
                <a:latin typeface="Arial"/>
                <a:ea typeface="Arial"/>
                <a:cs typeface="Arial"/>
              </a:rPr>
              <a:t>TECHNIQUE</a:t>
            </a:r>
          </a:p>
        </p:txBody>
      </p:sp>
      <p:sp>
        <p:nvSpPr>
          <p:cNvPr id="56" name="stage-2-TECHNIQUE-line-1">
            <a:extLst xmlns:a="http://schemas.openxmlformats.org/drawingml/2006/main">
              <a:ext uri="{FF2B5EF4-FFF2-40B4-BE49-F238E27FC236}">
                <a16:creationId xmlns:a16="http://schemas.microsoft.com/office/drawing/2014/main" id="{488CD7AC-96D8-4C21-9EA6-16AEA220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209917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Rejection sampling with quality threshold</a:t>
            </a:r>
          </a:p>
        </p:txBody>
      </p:sp>
      <p:sp>
        <p:nvSpPr>
          <p:cNvPr id="57" name="stage-2-TECHNIQUE-line-2">
            <a:extLst xmlns:a="http://schemas.openxmlformats.org/drawingml/2006/main">
              <a:ext uri="{FF2B5EF4-FFF2-40B4-BE49-F238E27FC236}">
                <a16:creationId xmlns:a16="http://schemas.microsoft.com/office/drawing/2014/main" id="{3D5F3211-541D-4B93-AE7D-DA8518BD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514717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filtering</a:t>
            </a:r>
          </a:p>
        </p:txBody>
      </p:sp>
      <p:sp>
        <p:nvSpPr>
          <p:cNvPr id="58" name="stage-3-shadow-8">
            <a:extLst xmlns:a="http://schemas.openxmlformats.org/drawingml/2006/main">
              <a:ext uri="{FF2B5EF4-FFF2-40B4-BE49-F238E27FC236}">
                <a16:creationId xmlns:a16="http://schemas.microsoft.com/office/drawing/2014/main" id="{C528C3EF-1AE9-4517-95A5-BE83BBAA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933450"/>
            <a:ext cx="5295900" cy="4257675"/>
          </a:xfrm>
          <a:custGeom xmlns:a="http://schemas.openxmlformats.org/drawingml/2006/main">
            <a:pathLst>
              <a:path w="5295900" h="4257675">
                <a:moveTo>
                  <a:pt x="266700" y="0"/>
                </a:moveTo>
                <a:lnTo>
                  <a:pt x="5029200" y="0"/>
                </a:lnTo>
                <a:cubicBezTo>
                  <a:pt x="5176494" y="0"/>
                  <a:pt x="5295900" y="119406"/>
                  <a:pt x="5295900" y="266700"/>
                </a:cubicBezTo>
                <a:lnTo>
                  <a:pt x="5295900" y="3990975"/>
                </a:lnTo>
                <a:cubicBezTo>
                  <a:pt x="5295900" y="4138269"/>
                  <a:pt x="5176494" y="4257675"/>
                  <a:pt x="5029200" y="4257675"/>
                </a:cubicBezTo>
                <a:lnTo>
                  <a:pt x="266700" y="4257675"/>
                </a:lnTo>
                <a:cubicBezTo>
                  <a:pt x="119406" y="4257675"/>
                  <a:pt x="0" y="4138269"/>
                  <a:pt x="0" y="3990975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tage-3-shadow-5">
            <a:extLst xmlns:a="http://schemas.openxmlformats.org/drawingml/2006/main">
              <a:ext uri="{FF2B5EF4-FFF2-40B4-BE49-F238E27FC236}">
                <a16:creationId xmlns:a16="http://schemas.microsoft.com/office/drawing/2014/main" id="{05DB8557-844C-42FE-B6FE-8F9C2B8F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933450"/>
            <a:ext cx="5238750" cy="4229100"/>
          </a:xfrm>
          <a:custGeom xmlns:a="http://schemas.openxmlformats.org/drawingml/2006/main">
            <a:pathLst>
              <a:path w="5238750" h="4229100">
                <a:moveTo>
                  <a:pt x="238125" y="0"/>
                </a:moveTo>
                <a:lnTo>
                  <a:pt x="5000625" y="0"/>
                </a:lnTo>
                <a:cubicBezTo>
                  <a:pt x="5132138" y="0"/>
                  <a:pt x="5238750" y="106612"/>
                  <a:pt x="5238750" y="238125"/>
                </a:cubicBezTo>
                <a:lnTo>
                  <a:pt x="5238750" y="3990975"/>
                </a:lnTo>
                <a:cubicBezTo>
                  <a:pt x="5238750" y="4122488"/>
                  <a:pt x="5132138" y="4229100"/>
                  <a:pt x="5000625" y="4229100"/>
                </a:cubicBezTo>
                <a:lnTo>
                  <a:pt x="238125" y="4229100"/>
                </a:lnTo>
                <a:cubicBezTo>
                  <a:pt x="106612" y="4229100"/>
                  <a:pt x="0" y="4122488"/>
                  <a:pt x="0" y="399097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stage-3-shadow-2">
            <a:extLst xmlns:a="http://schemas.openxmlformats.org/drawingml/2006/main">
              <a:ext uri="{FF2B5EF4-FFF2-40B4-BE49-F238E27FC236}">
                <a16:creationId xmlns:a16="http://schemas.microsoft.com/office/drawing/2014/main" id="{F9B5564C-B421-4B66-8195-DA47A1DE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933450"/>
            <a:ext cx="5181600" cy="4200525"/>
          </a:xfrm>
          <a:custGeom xmlns:a="http://schemas.openxmlformats.org/drawingml/2006/main">
            <a:pathLst>
              <a:path w="5181600" h="4200525">
                <a:moveTo>
                  <a:pt x="209550" y="0"/>
                </a:moveTo>
                <a:lnTo>
                  <a:pt x="4972050" y="0"/>
                </a:lnTo>
                <a:cubicBezTo>
                  <a:pt x="5087781" y="0"/>
                  <a:pt x="5181600" y="93819"/>
                  <a:pt x="5181600" y="209550"/>
                </a:cubicBezTo>
                <a:lnTo>
                  <a:pt x="5181600" y="3990975"/>
                </a:lnTo>
                <a:cubicBezTo>
                  <a:pt x="5181600" y="4106706"/>
                  <a:pt x="5087781" y="4200525"/>
                  <a:pt x="4972050" y="4200525"/>
                </a:cubicBezTo>
                <a:lnTo>
                  <a:pt x="209550" y="4200525"/>
                </a:lnTo>
                <a:cubicBezTo>
                  <a:pt x="93819" y="4200525"/>
                  <a:pt x="0" y="4106706"/>
                  <a:pt x="0" y="3990975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tage-3-card">
            <a:extLst xmlns:a="http://schemas.openxmlformats.org/drawingml/2006/main">
              <a:ext uri="{FF2B5EF4-FFF2-40B4-BE49-F238E27FC236}">
                <a16:creationId xmlns:a16="http://schemas.microsoft.com/office/drawing/2014/main" id="{97FD99D7-B562-44EF-ADDE-45A270FC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876300"/>
            <a:ext cx="5143500" cy="4200525"/>
          </a:xfrm>
          <a:custGeom xmlns:a="http://schemas.openxmlformats.org/drawingml/2006/main">
            <a:pathLst>
              <a:path w="5143500" h="4200525">
                <a:moveTo>
                  <a:pt x="161925" y="0"/>
                </a:moveTo>
                <a:lnTo>
                  <a:pt x="4981575" y="0"/>
                </a:lnTo>
                <a:cubicBezTo>
                  <a:pt x="5071004" y="0"/>
                  <a:pt x="5143500" y="72496"/>
                  <a:pt x="5143500" y="161925"/>
                </a:cubicBezTo>
                <a:lnTo>
                  <a:pt x="5143500" y="4038600"/>
                </a:lnTo>
                <a:cubicBezTo>
                  <a:pt x="5143500" y="4128029"/>
                  <a:pt x="5071004" y="4200525"/>
                  <a:pt x="4981575" y="4200525"/>
                </a:cubicBezTo>
                <a:lnTo>
                  <a:pt x="161925" y="4200525"/>
                </a:lnTo>
                <a:cubicBezTo>
                  <a:pt x="72496" y="4200525"/>
                  <a:pt x="0" y="4128029"/>
                  <a:pt x="0" y="4038600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 xmlns:a="http://schemas.openxmlformats.org/drawingml/2006/main">
            <a:srgbClr val="F4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tage-3-header-round">
            <a:extLst xmlns:a="http://schemas.openxmlformats.org/drawingml/2006/main">
              <a:ext uri="{FF2B5EF4-FFF2-40B4-BE49-F238E27FC236}">
                <a16:creationId xmlns:a16="http://schemas.microsoft.com/office/drawing/2014/main" id="{DCAD55D4-ED17-4572-BBB2-2BF24157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876300"/>
            <a:ext cx="5143500" cy="962025"/>
          </a:xfrm>
          <a:custGeom xmlns:a="http://schemas.openxmlformats.org/drawingml/2006/main">
            <a:pathLst>
              <a:path w="5143500" h="962025">
                <a:moveTo>
                  <a:pt x="152400" y="0"/>
                </a:moveTo>
                <a:lnTo>
                  <a:pt x="4991100" y="0"/>
                </a:lnTo>
                <a:cubicBezTo>
                  <a:pt x="5075268" y="0"/>
                  <a:pt x="5143500" y="68232"/>
                  <a:pt x="5143500" y="152400"/>
                </a:cubicBezTo>
                <a:lnTo>
                  <a:pt x="5143500" y="809625"/>
                </a:lnTo>
                <a:cubicBezTo>
                  <a:pt x="5143500" y="893793"/>
                  <a:pt x="5075268" y="962025"/>
                  <a:pt x="4991100" y="962025"/>
                </a:cubicBezTo>
                <a:lnTo>
                  <a:pt x="152400" y="962025"/>
                </a:lnTo>
                <a:cubicBezTo>
                  <a:pt x="68232" y="962025"/>
                  <a:pt x="0" y="893793"/>
                  <a:pt x="0" y="8096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4B3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tage-3-header-lower">
            <a:extLst xmlns:a="http://schemas.openxmlformats.org/drawingml/2006/main">
              <a:ext uri="{FF2B5EF4-FFF2-40B4-BE49-F238E27FC236}">
                <a16:creationId xmlns:a16="http://schemas.microsoft.com/office/drawing/2014/main" id="{153D6C76-C5BA-445B-9312-96D1087D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1047750"/>
            <a:ext cx="5143500" cy="790575"/>
          </a:xfrm>
          <a:custGeom xmlns:a="http://schemas.openxmlformats.org/drawingml/2006/main">
            <a:pathLst>
              <a:path w="5143500" h="790575">
                <a:moveTo>
                  <a:pt x="0" y="0"/>
                </a:moveTo>
                <a:lnTo>
                  <a:pt x="5143500" y="0"/>
                </a:lnTo>
                <a:lnTo>
                  <a:pt x="5143500" y="790575"/>
                </a:lnTo>
                <a:lnTo>
                  <a:pt x="0" y="790575"/>
                </a:lnTo>
                <a:close/>
              </a:path>
            </a:pathLst>
          </a:custGeom>
          <a:solidFill xmlns:a="http://schemas.openxmlformats.org/drawingml/2006/main">
            <a:srgbClr val="4B3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stage-3-number-box">
            <a:extLst xmlns:a="http://schemas.openxmlformats.org/drawingml/2006/main">
              <a:ext uri="{FF2B5EF4-FFF2-40B4-BE49-F238E27FC236}">
                <a16:creationId xmlns:a16="http://schemas.microsoft.com/office/drawing/2014/main" id="{5FDBC570-632B-4D63-8C9F-A75C815D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1104900"/>
            <a:ext cx="523875" cy="533400"/>
          </a:xfrm>
          <a:custGeom xmlns:a="http://schemas.openxmlformats.org/drawingml/2006/main">
            <a:pathLst>
              <a:path w="523875" h="533400">
                <a:moveTo>
                  <a:pt x="133350" y="0"/>
                </a:moveTo>
                <a:lnTo>
                  <a:pt x="390525" y="0"/>
                </a:lnTo>
                <a:cubicBezTo>
                  <a:pt x="464172" y="0"/>
                  <a:pt x="523875" y="59703"/>
                  <a:pt x="523875" y="133350"/>
                </a:cubicBezTo>
                <a:lnTo>
                  <a:pt x="523875" y="400050"/>
                </a:lnTo>
                <a:cubicBezTo>
                  <a:pt x="523875" y="473697"/>
                  <a:pt x="464172" y="533400"/>
                  <a:pt x="390525" y="533400"/>
                </a:cubicBezTo>
                <a:lnTo>
                  <a:pt x="133350" y="533400"/>
                </a:lnTo>
                <a:cubicBezTo>
                  <a:pt x="59703" y="533400"/>
                  <a:pt x="0" y="473697"/>
                  <a:pt x="0" y="4000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6A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BA0AB51E-43D3-4C8B-81DB-BD7FD131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6850" y="120586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6" name="stage-3-caption">
            <a:extLst xmlns:a="http://schemas.openxmlformats.org/drawingml/2006/main">
              <a:ext uri="{FF2B5EF4-FFF2-40B4-BE49-F238E27FC236}">
                <a16:creationId xmlns:a16="http://schemas.microsoft.com/office/drawing/2014/main" id="{D3BEAD63-0D0C-46D2-B306-006408E3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82650" y="1086993"/>
            <a:ext cx="9715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B0B1B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B0B1B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0B1B9"/>
                </a:solidFill>
                <a:latin typeface="Arial"/>
                <a:ea typeface="Arial"/>
                <a:cs typeface="Arial"/>
              </a:rPr>
              <a:t>STAGE 3</a:t>
            </a:r>
          </a:p>
        </p:txBody>
      </p:sp>
      <p:sp>
        <p:nvSpPr>
          <p:cNvPr id="67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61CAA8E2-11CA-41B8-85DC-EA7948AF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82650" y="1282751"/>
            <a:ext cx="325755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2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Reinforcement Learning</a:t>
            </a:r>
          </a:p>
        </p:txBody>
      </p:sp>
      <p:sp>
        <p:nvSpPr>
          <p:cNvPr id="68" name="stage-3-abbreviation">
            <a:extLst xmlns:a="http://schemas.openxmlformats.org/drawingml/2006/main">
              <a:ext uri="{FF2B5EF4-FFF2-40B4-BE49-F238E27FC236}">
                <a16:creationId xmlns:a16="http://schemas.microsoft.com/office/drawing/2014/main" id="{97ADB38D-1F33-4D8D-BE94-4FD7C37A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78300" y="1320927"/>
            <a:ext cx="63817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B7B9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B7B9C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B7B9C4"/>
                </a:solidFill>
                <a:latin typeface="Arial"/>
                <a:ea typeface="Arial"/>
                <a:cs typeface="Arial"/>
              </a:rPr>
              <a:t>(RL)</a:t>
            </a:r>
          </a:p>
        </p:txBody>
      </p:sp>
      <p:sp>
        <p:nvSpPr>
          <p:cNvPr id="69" name="stage-3-DATA-badge">
            <a:extLst xmlns:a="http://schemas.openxmlformats.org/drawingml/2006/main">
              <a:ext uri="{FF2B5EF4-FFF2-40B4-BE49-F238E27FC236}">
                <a16:creationId xmlns:a16="http://schemas.microsoft.com/office/drawing/2014/main" id="{9664462E-B283-4449-9B54-74216821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2085975"/>
            <a:ext cx="200025" cy="200025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4B3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stage-3-DATA-icon-letter">
            <a:extLst xmlns:a="http://schemas.openxmlformats.org/drawingml/2006/main">
              <a:ext uri="{FF2B5EF4-FFF2-40B4-BE49-F238E27FC236}">
                <a16:creationId xmlns:a16="http://schemas.microsoft.com/office/drawing/2014/main" id="{202DD10B-429D-49DB-ACC6-C48CE040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6850" y="2113026"/>
            <a:ext cx="2000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71" name="stage-3-DATA-heading">
            <a:extLst xmlns:a="http://schemas.openxmlformats.org/drawingml/2006/main">
              <a:ext uri="{FF2B5EF4-FFF2-40B4-BE49-F238E27FC236}">
                <a16:creationId xmlns:a16="http://schemas.microsoft.com/office/drawing/2014/main" id="{32692133-82E2-4E38-87BD-41CE7388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2083346"/>
            <a:ext cx="4343400" cy="242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5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5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4B3661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2" name="stage-3-DATA-line-1">
            <a:extLst xmlns:a="http://schemas.openxmlformats.org/drawingml/2006/main">
              <a:ext uri="{FF2B5EF4-FFF2-40B4-BE49-F238E27FC236}">
                <a16:creationId xmlns:a16="http://schemas.microsoft.com/office/drawing/2014/main" id="{AA37C997-9BFF-49DC-9D18-AA8F6924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2371592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On-policy rollouts via GSPO</a:t>
            </a:r>
          </a:p>
        </p:txBody>
      </p:sp>
      <p:sp>
        <p:nvSpPr>
          <p:cNvPr id="73" name="stage-3-OBJECTIVE-badge">
            <a:extLst xmlns:a="http://schemas.openxmlformats.org/drawingml/2006/main">
              <a:ext uri="{FF2B5EF4-FFF2-40B4-BE49-F238E27FC236}">
                <a16:creationId xmlns:a16="http://schemas.microsoft.com/office/drawing/2014/main" id="{C7381CBC-586C-47B3-B1E3-410DE410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2857500"/>
            <a:ext cx="200025" cy="200025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4B3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stage-3-OBJECTIVE-icon-letter">
            <a:extLst xmlns:a="http://schemas.openxmlformats.org/drawingml/2006/main">
              <a:ext uri="{FF2B5EF4-FFF2-40B4-BE49-F238E27FC236}">
                <a16:creationId xmlns:a16="http://schemas.microsoft.com/office/drawing/2014/main" id="{0B6959DE-053F-424B-BA96-E1286013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6850" y="2884551"/>
            <a:ext cx="2000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5" name="stage-3-OBJECTIVE-heading">
            <a:extLst xmlns:a="http://schemas.openxmlformats.org/drawingml/2006/main">
              <a:ext uri="{FF2B5EF4-FFF2-40B4-BE49-F238E27FC236}">
                <a16:creationId xmlns:a16="http://schemas.microsoft.com/office/drawing/2014/main" id="{41263D24-DCC7-472E-856A-36E795ED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2854871"/>
            <a:ext cx="4343400" cy="242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5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5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4B3661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76" name="stage-3-OBJECTIVE-line-1">
            <a:extLst xmlns:a="http://schemas.openxmlformats.org/drawingml/2006/main">
              <a:ext uri="{FF2B5EF4-FFF2-40B4-BE49-F238E27FC236}">
                <a16:creationId xmlns:a16="http://schemas.microsoft.com/office/drawing/2014/main" id="{3334B208-FB82-402A-A23A-AE276614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3143117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Sharpen simulation fidelity with hybrid</a:t>
            </a:r>
          </a:p>
        </p:txBody>
      </p:sp>
      <p:sp>
        <p:nvSpPr>
          <p:cNvPr id="77" name="stage-3-OBJECTIVE-line-2">
            <a:extLst xmlns:a="http://schemas.openxmlformats.org/drawingml/2006/main">
              <a:ext uri="{FF2B5EF4-FFF2-40B4-BE49-F238E27FC236}">
                <a16:creationId xmlns:a16="http://schemas.microsoft.com/office/drawing/2014/main" id="{EC00D9FB-8D72-4149-A81E-684CB1B8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3447917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rewards</a:t>
            </a:r>
          </a:p>
        </p:txBody>
      </p:sp>
      <p:sp>
        <p:nvSpPr>
          <p:cNvPr id="78" name="stage-3-TECHNIQUE-badge">
            <a:extLst xmlns:a="http://schemas.openxmlformats.org/drawingml/2006/main">
              <a:ext uri="{FF2B5EF4-FFF2-40B4-BE49-F238E27FC236}">
                <a16:creationId xmlns:a16="http://schemas.microsoft.com/office/drawing/2014/main" id="{C1AB1F28-1CBF-4879-91E0-CF55613E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3924300"/>
            <a:ext cx="200025" cy="200025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4B3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stage-3-TECHNIQUE-icon-letter">
            <a:extLst xmlns:a="http://schemas.openxmlformats.org/drawingml/2006/main">
              <a:ext uri="{FF2B5EF4-FFF2-40B4-BE49-F238E27FC236}">
                <a16:creationId xmlns:a16="http://schemas.microsoft.com/office/drawing/2014/main" id="{67240680-EBA8-4D11-B954-39EDFAC4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6850" y="3951351"/>
            <a:ext cx="2000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80" name="stage-3-TECHNIQUE-heading">
            <a:extLst xmlns:a="http://schemas.openxmlformats.org/drawingml/2006/main">
              <a:ext uri="{FF2B5EF4-FFF2-40B4-BE49-F238E27FC236}">
                <a16:creationId xmlns:a16="http://schemas.microsoft.com/office/drawing/2014/main" id="{C9BA60E3-5BC9-4A3A-AB2F-F381B278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3921671"/>
            <a:ext cx="4343400" cy="242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5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5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4B3661"/>
                </a:solidFill>
                <a:latin typeface="Arial"/>
                <a:ea typeface="Arial"/>
                <a:cs typeface="Arial"/>
              </a:rPr>
              <a:t>TECHNIQUE</a:t>
            </a:r>
          </a:p>
        </p:txBody>
      </p:sp>
      <p:sp>
        <p:nvSpPr>
          <p:cNvPr id="81" name="stage-3-TECHNIQUE-line-1">
            <a:extLst xmlns:a="http://schemas.openxmlformats.org/drawingml/2006/main">
              <a:ext uri="{FF2B5EF4-FFF2-40B4-BE49-F238E27FC236}">
                <a16:creationId xmlns:a16="http://schemas.microsoft.com/office/drawing/2014/main" id="{59282C0D-0CBA-4E43-9133-ADE51A2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4209917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Rubric-based LLM judge + rule-based</a:t>
            </a:r>
          </a:p>
        </p:txBody>
      </p:sp>
      <p:sp>
        <p:nvSpPr>
          <p:cNvPr id="82" name="stage-3-TECHNIQUE-line-2">
            <a:extLst xmlns:a="http://schemas.openxmlformats.org/drawingml/2006/main">
              <a:ext uri="{FF2B5EF4-FFF2-40B4-BE49-F238E27FC236}">
                <a16:creationId xmlns:a16="http://schemas.microsoft.com/office/drawing/2014/main" id="{CCC50196-C745-4DC9-A8E5-F6346DD4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4514717"/>
            <a:ext cx="4343400" cy="29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verifiers</a:t>
            </a:r>
          </a:p>
        </p:txBody>
      </p:sp>
      <p:sp>
        <p:nvSpPr>
          <p:cNvPr id="83" name="transition-1-label">
            <a:extLst xmlns:a="http://schemas.openxmlformats.org/drawingml/2006/main">
              <a:ext uri="{FF2B5EF4-FFF2-40B4-BE49-F238E27FC236}">
                <a16:creationId xmlns:a16="http://schemas.microsoft.com/office/drawing/2014/main" id="{3B4D1077-CBE5-4DEE-8D6D-0E77CEAA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2827668"/>
            <a:ext cx="733425" cy="232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5" b="1" i="0">
                <a:solidFill>
                  <a:srgbClr val="8C9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05" b="1" i="0">
                <a:solidFill>
                  <a:srgbClr val="8C929B"/>
                </a:solidFill>
                <a:latin typeface="Arial"/>
                <a:ea typeface="Arial"/>
                <a:cs typeface="Arial"/>
              </a:defRPr>
            </a:pPr>
            <a:r>
              <a:rPr sz="1305" b="1" i="0">
                <a:solidFill>
                  <a:srgbClr val="8C929B"/>
                </a:solidFill>
                <a:latin typeface="Arial"/>
                <a:ea typeface="Arial"/>
                <a:cs typeface="Arial"/>
              </a:rPr>
              <a:t>INJECTS</a:t>
            </a:r>
          </a:p>
        </p:txBody>
      </p:sp>
      <p:sp>
        <p:nvSpPr>
          <p:cNvPr id="84" name="transition-1-shaft">
            <a:extLst xmlns:a="http://schemas.openxmlformats.org/drawingml/2006/main">
              <a:ext uri="{FF2B5EF4-FFF2-40B4-BE49-F238E27FC236}">
                <a16:creationId xmlns:a16="http://schemas.microsoft.com/office/drawing/2014/main" id="{5341E963-2ECE-482B-A3B9-C1294DA8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81350"/>
            <a:ext cx="352425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C929B"/>
            </a:solidFill>
            <a:prstDash val="solid"/>
          </a:ln>
        </p:spPr>
      </p:sp>
      <p:sp>
        <p:nvSpPr>
          <p:cNvPr id="85" name="transition-1-arrowhead">
            <a:extLst xmlns:a="http://schemas.openxmlformats.org/drawingml/2006/main">
              <a:ext uri="{FF2B5EF4-FFF2-40B4-BE49-F238E27FC236}">
                <a16:creationId xmlns:a16="http://schemas.microsoft.com/office/drawing/2014/main" id="{6F1DF68F-1251-48AB-A6D9-928075AF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05150"/>
            <a:ext cx="142875" cy="152400"/>
          </a:xfrm>
          <a:custGeom xmlns:a="http://schemas.openxmlformats.org/drawingml/2006/main">
            <a:pathLst>
              <a:path w="142875" h="152400">
                <a:moveTo>
                  <a:pt x="0" y="0"/>
                </a:moveTo>
                <a:lnTo>
                  <a:pt x="14287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8C9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transition-2-label">
            <a:extLst xmlns:a="http://schemas.openxmlformats.org/drawingml/2006/main">
              <a:ext uri="{FF2B5EF4-FFF2-40B4-BE49-F238E27FC236}">
                <a16:creationId xmlns:a16="http://schemas.microsoft.com/office/drawing/2014/main" id="{70E4E3E3-3836-4CA8-967F-57163915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375" y="2827668"/>
            <a:ext cx="733425" cy="232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5" b="1" i="0">
                <a:solidFill>
                  <a:srgbClr val="8C9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05" b="1" i="0">
                <a:solidFill>
                  <a:srgbClr val="8C929B"/>
                </a:solidFill>
                <a:latin typeface="Arial"/>
                <a:ea typeface="Arial"/>
                <a:cs typeface="Arial"/>
              </a:defRPr>
            </a:pPr>
            <a:r>
              <a:rPr sz="1305" b="1" i="0">
                <a:solidFill>
                  <a:srgbClr val="8C929B"/>
                </a:solidFill>
                <a:latin typeface="Arial"/>
                <a:ea typeface="Arial"/>
                <a:cs typeface="Arial"/>
              </a:rPr>
              <a:t>ACTIVATES</a:t>
            </a:r>
          </a:p>
        </p:txBody>
      </p:sp>
      <p:sp>
        <p:nvSpPr>
          <p:cNvPr id="87" name="transition-2-shaft">
            <a:extLst xmlns:a="http://schemas.openxmlformats.org/drawingml/2006/main">
              <a:ext uri="{FF2B5EF4-FFF2-40B4-BE49-F238E27FC236}">
                <a16:creationId xmlns:a16="http://schemas.microsoft.com/office/drawing/2014/main" id="{4DD4D04C-3385-4476-956E-3BD41DF9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3181350"/>
            <a:ext cx="352425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C929B"/>
            </a:solidFill>
            <a:prstDash val="solid"/>
          </a:ln>
        </p:spPr>
      </p:sp>
      <p:sp>
        <p:nvSpPr>
          <p:cNvPr id="88" name="transition-2-arrowhead">
            <a:extLst xmlns:a="http://schemas.openxmlformats.org/drawingml/2006/main">
              <a:ext uri="{FF2B5EF4-FFF2-40B4-BE49-F238E27FC236}">
                <a16:creationId xmlns:a16="http://schemas.microsoft.com/office/drawing/2014/main" id="{575AC172-498A-4AFF-B6A7-195126BF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105150"/>
            <a:ext cx="142875" cy="152400"/>
          </a:xfrm>
          <a:custGeom xmlns:a="http://schemas.openxmlformats.org/drawingml/2006/main">
            <a:pathLst>
              <a:path w="142875" h="152400">
                <a:moveTo>
                  <a:pt x="0" y="0"/>
                </a:moveTo>
                <a:lnTo>
                  <a:pt x="14287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8C929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1532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2026-10-14T11:52:38.9130000Z</dcterms:created>
  <dcterms:modified xsi:type="dcterms:W3CDTF">2026-10-14T11:52:38.9130000Z</dcterms:modified>
</coreProperties>
</file>