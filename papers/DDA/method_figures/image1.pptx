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77a6420c77474d" /><Relationship Type="http://schemas.openxmlformats.org/officeDocument/2006/relationships/extended-properties" Target="/docProps/app.xml" Id="R7d9af21363b1451e" /><Relationship Type="http://schemas.openxmlformats.org/officeDocument/2006/relationships/officeDocument" Target="/ppt/presentation.xml" Id="Rcc0aadd76eea4c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32e24ffaeb4366"/>
  </p:sldMasterIdLst>
  <p:notesMasterIdLst>
    <p:notesMasterId xmlns:r="http://schemas.openxmlformats.org/officeDocument/2006/relationships" r:id="R7a264b676c2449f4"/>
  </p:notesMasterIdLst>
  <p:sldIdLst>
    <p:sldId xmlns:r="http://schemas.openxmlformats.org/officeDocument/2006/relationships" id="256" r:id="Rd8be9588227247ab"/>
  </p:sldIdLst>
  <p:sldSz cx="9058275" cy="67246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b4b8eb811f47cc" /><Relationship Type="http://schemas.openxmlformats.org/officeDocument/2006/relationships/slideMaster" Target="/ppt/slideMasters/slideMaster1.xml" Id="R7932e24ffaeb4366" /><Relationship Type="http://schemas.openxmlformats.org/officeDocument/2006/relationships/notesMaster" Target="/ppt/notesMasters/notesMaster1.xml" Id="R7a264b676c2449f4" /><Relationship Type="http://schemas.openxmlformats.org/officeDocument/2006/relationships/presProps" Target="/ppt/presProps.xml" Id="R53bd6a87d7b44671" /><Relationship Type="http://schemas.openxmlformats.org/officeDocument/2006/relationships/tableStyles" Target="/ppt/tableStyles.xml" Id="R6d9efbd07ed44ca0" /><Relationship Type="http://schemas.openxmlformats.org/officeDocument/2006/relationships/slide" Target="/ppt/slides/slide1.xml" Id="Rd8be9588227247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8fb2701c3544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6e303f934a4de3" /><Relationship Type="http://schemas.openxmlformats.org/officeDocument/2006/relationships/notesMaster" Target="/ppt/notesMasters/notesMaster1.xml" Id="R7c94dd7a242c48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Dataset Biases in AI-generated Image Detection</a:t>
            </a:r>
          </a:p>
          <a:p xmlns:a="http://schemas.openxmlformats.org/drawingml/2006/main">
            <a:r>
              <a:t>Source: https://arxiv.org/abs/2505.14359</a:t>
            </a:r>
          </a:p>
          <a:p xmlns:a="http://schemas.openxmlformats.org/drawingml/2006/main">
            <a:r>
              <a:t>Approved image: image1.png; SHA-256: 676f5d63077d24624b63251b740dcdbe8b993104c23c05c38c9ad20275871388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(5).</a:t>
            </a:r>
          </a:p>
          <a:p xmlns:a="http://schemas.openxmlformats.org/drawingml/2006/main">
            <a:r>
              <a:t>Font substitution: source PDF families mapped to Arial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7db6e15ed47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d76ec84eb046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390b5cd60e42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98b7a1e1345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891426b314f7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3a7ce0e48648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72E000-FC0F-4BA2-ACA8-142339C2FE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5828" y="2540423"/>
            <a:ext cx="7246620" cy="97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6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A0CE48-6159-45D6-AF17-E1636D9974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58741" y="3698558"/>
            <a:ext cx="6340792" cy="74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92078F-97CD-4A8A-B877-143AA55493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5828" y="2801937"/>
            <a:ext cx="7246620" cy="112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87DB07-55A6-409B-AA4F-FD10D61A96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28" y="523028"/>
            <a:ext cx="8039219" cy="82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FE9F87-7674-4354-9E8C-36EC76FC5F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09528" y="1867958"/>
            <a:ext cx="8039219" cy="4184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9843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1pPr>
            <a:lvl2pPr marL="396300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2pPr>
            <a:lvl3pPr marL="622756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3pPr>
            <a:lvl4pPr marL="849213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4pPr>
            <a:lvl5pPr marL="1075670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5pPr>
            <a:lvl6pPr marL="1302127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6pPr>
            <a:lvl7pPr marL="1528584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7pPr>
            <a:lvl8pPr marL="1755041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8pPr>
            <a:lvl9pPr marL="1981498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C40086-478C-4B8A-811E-E0FDE4A7A5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28" y="523028"/>
            <a:ext cx="8039219" cy="82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50C693-A7AB-4715-B228-DD1A41EDF3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09528" y="1867958"/>
            <a:ext cx="3736538" cy="4184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9843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1pPr>
            <a:lvl2pPr marL="396300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2pPr>
            <a:lvl3pPr marL="622756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3pPr>
            <a:lvl4pPr marL="849213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4pPr>
            <a:lvl5pPr marL="1075670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5pPr>
            <a:lvl6pPr marL="1302127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6pPr>
            <a:lvl7pPr marL="1528584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7pPr>
            <a:lvl8pPr marL="1755041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8pPr>
            <a:lvl9pPr marL="1981498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9863EC-7B45-4D81-A655-96D9509DA4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12209" y="1867958"/>
            <a:ext cx="3736538" cy="4184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9843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1pPr>
            <a:lvl2pPr marL="396300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2pPr>
            <a:lvl3pPr marL="622756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3pPr>
            <a:lvl4pPr marL="849213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4pPr>
            <a:lvl5pPr marL="1075670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5pPr>
            <a:lvl6pPr marL="1302127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6pPr>
            <a:lvl7pPr marL="1528584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7pPr>
            <a:lvl8pPr marL="1755041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8pPr>
            <a:lvl9pPr marL="1981498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890225-9C8A-4F88-B2B3-1D6661B3DF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28" y="523028"/>
            <a:ext cx="8039219" cy="82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5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E7C4D2-6BF9-4559-A9C1-94DBA523F9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09528" y="1867958"/>
            <a:ext cx="3736538" cy="4184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9843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1pPr>
            <a:lvl2pPr marL="396300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2pPr>
            <a:lvl3pPr marL="622756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3pPr>
            <a:lvl4pPr marL="849213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4pPr>
            <a:lvl5pPr marL="1075670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5pPr>
            <a:lvl6pPr marL="1302127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6pPr>
            <a:lvl7pPr marL="1528584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7pPr>
            <a:lvl8pPr marL="1755041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8pPr>
            <a:lvl9pPr marL="1981498" indent="-169843">
              <a:lnSpc>
                <a:spcPct val="110000"/>
              </a:lnSpc>
              <a:spcBef>
                <a:spcPts val="0"/>
              </a:spcBef>
              <a:spcAft>
                <a:spcPts val="89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86ba091a6043c7" /><Relationship Type="http://schemas.openxmlformats.org/officeDocument/2006/relationships/slideLayout" Target="/ppt/slideLayouts/slideLayout1.xml" Id="R97342e19eab44548" /><Relationship Type="http://schemas.openxmlformats.org/officeDocument/2006/relationships/slideLayout" Target="/ppt/slideLayouts/slideLayout2.xml" Id="R52018e9032fb42d4" /><Relationship Type="http://schemas.openxmlformats.org/officeDocument/2006/relationships/slideLayout" Target="/ppt/slideLayouts/slideLayout3.xml" Id="R04af896572764a52" /><Relationship Type="http://schemas.openxmlformats.org/officeDocument/2006/relationships/slideLayout" Target="/ppt/slideLayouts/slideLayout4.xml" Id="Ra373585e64ad4c36" /><Relationship Type="http://schemas.openxmlformats.org/officeDocument/2006/relationships/slideLayout" Target="/ppt/slideLayouts/slideLayout5.xml" Id="R1b6f87d8558a400d" /><Relationship Type="http://schemas.openxmlformats.org/officeDocument/2006/relationships/slideLayout" Target="/ppt/slideLayouts/slideLayout6.xml" Id="R6c2287c14a0b47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342e19eab44548"/>
    <p:sldLayoutId xmlns:r="http://schemas.openxmlformats.org/officeDocument/2006/relationships" id="2147483650" r:id="R52018e9032fb42d4"/>
    <p:sldLayoutId xmlns:r="http://schemas.openxmlformats.org/officeDocument/2006/relationships" id="2147483651" r:id="R04af896572764a52"/>
    <p:sldLayoutId xmlns:r="http://schemas.openxmlformats.org/officeDocument/2006/relationships" id="2147483652" r:id="Ra373585e64ad4c36"/>
    <p:sldLayoutId xmlns:r="http://schemas.openxmlformats.org/officeDocument/2006/relationships" id="2147483653" r:id="R1b6f87d8558a400d"/>
    <p:sldLayoutId xmlns:r="http://schemas.openxmlformats.org/officeDocument/2006/relationships" id="2147483654" r:id="R6c2287c14a0b47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9e43b48174040" /><Relationship Type="http://schemas.openxmlformats.org/officeDocument/2006/relationships/image" Target="/ppt/media/image.png" Id="R9b150fa5c13b4d69" /><Relationship Type="http://schemas.openxmlformats.org/officeDocument/2006/relationships/image" Target="/ppt/media/image2.png" Id="R79c809e6b2a54e6a" /><Relationship Type="http://schemas.openxmlformats.org/officeDocument/2006/relationships/image" Target="/ppt/media/image3.png" Id="R200ee915a9634344" /><Relationship Type="http://schemas.openxmlformats.org/officeDocument/2006/relationships/image" Target="/ppt/media/image4.png" Id="Rf028f056c66d43a5" /><Relationship Type="http://schemas.openxmlformats.org/officeDocument/2006/relationships/image" Target="/ppt/media/image5.png" Id="Rd2a082dc59c9489d" /><Relationship Type="http://schemas.openxmlformats.org/officeDocument/2006/relationships/notesSlide" Target="/ppt/notesSlides/notesSlide1.xml" Id="R5cefe2ccf9b344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al image panel">
            <a:extLst xmlns:a="http://schemas.openxmlformats.org/drawingml/2006/main">
              <a:ext uri="{FF2B5EF4-FFF2-40B4-BE49-F238E27FC236}">
                <a16:creationId xmlns:a16="http://schemas.microsoft.com/office/drawing/2014/main" id="{4DACE5BC-7EE5-4749-B74D-60927CC9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104775"/>
            <a:ext cx="4038600" cy="2790825"/>
          </a:xfrm>
          <a:custGeom xmlns:a="http://schemas.openxmlformats.org/drawingml/2006/main">
            <a:pathLst>
              <a:path w="4038600" h="2790825">
                <a:moveTo>
                  <a:pt x="133350" y="0"/>
                </a:moveTo>
                <a:lnTo>
                  <a:pt x="3905250" y="0"/>
                </a:lnTo>
                <a:cubicBezTo>
                  <a:pt x="3978897" y="0"/>
                  <a:pt x="4038600" y="59703"/>
                  <a:pt x="4038600" y="133350"/>
                </a:cubicBezTo>
                <a:lnTo>
                  <a:pt x="4038600" y="2657475"/>
                </a:lnTo>
                <a:cubicBezTo>
                  <a:pt x="4038600" y="2731122"/>
                  <a:pt x="3978897" y="2790825"/>
                  <a:pt x="3905250" y="2790825"/>
                </a:cubicBezTo>
                <a:lnTo>
                  <a:pt x="133350" y="2790825"/>
                </a:lnTo>
                <a:cubicBezTo>
                  <a:pt x="59703" y="2790825"/>
                  <a:pt x="0" y="2731122"/>
                  <a:pt x="0" y="26574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47625">
            <a:solidFill>
              <a:srgbClr val="ADC6D5"/>
            </a:solidFill>
            <a:prstDash val="dash"/>
          </a:ln>
        </p:spPr>
      </p:sp>
      <p:sp>
        <p:nvSpPr>
          <p:cNvPr id="2" name="Synthetic image panel">
            <a:extLst xmlns:a="http://schemas.openxmlformats.org/drawingml/2006/main">
              <a:ext uri="{FF2B5EF4-FFF2-40B4-BE49-F238E27FC236}">
                <a16:creationId xmlns:a16="http://schemas.microsoft.com/office/drawing/2014/main" id="{089EA3C9-0CDE-4B64-9F08-3D6C5C2F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04775"/>
            <a:ext cx="4076700" cy="2790825"/>
          </a:xfrm>
          <a:custGeom xmlns:a="http://schemas.openxmlformats.org/drawingml/2006/main">
            <a:pathLst>
              <a:path w="4076700" h="2790825">
                <a:moveTo>
                  <a:pt x="133350" y="0"/>
                </a:moveTo>
                <a:lnTo>
                  <a:pt x="3943350" y="0"/>
                </a:lnTo>
                <a:cubicBezTo>
                  <a:pt x="4016997" y="0"/>
                  <a:pt x="4076700" y="59703"/>
                  <a:pt x="4076700" y="133350"/>
                </a:cubicBezTo>
                <a:lnTo>
                  <a:pt x="4076700" y="2657475"/>
                </a:lnTo>
                <a:cubicBezTo>
                  <a:pt x="4076700" y="2731122"/>
                  <a:pt x="4016997" y="2790825"/>
                  <a:pt x="3943350" y="2790825"/>
                </a:cubicBezTo>
                <a:lnTo>
                  <a:pt x="133350" y="2790825"/>
                </a:lnTo>
                <a:cubicBezTo>
                  <a:pt x="59703" y="2790825"/>
                  <a:pt x="0" y="2731122"/>
                  <a:pt x="0" y="26574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47625">
            <a:solidFill>
              <a:srgbClr val="ADC6D5"/>
            </a:solidFill>
            <a:prstDash val="dash"/>
          </a:ln>
        </p:spPr>
      </p:sp>
      <p:sp>
        <p:nvSpPr>
          <p:cNvPr id="3" name="Comparison continuation">
            <a:extLst xmlns:a="http://schemas.openxmlformats.org/drawingml/2006/main">
              <a:ext uri="{FF2B5EF4-FFF2-40B4-BE49-F238E27FC236}">
                <a16:creationId xmlns:a16="http://schemas.microsoft.com/office/drawing/2014/main" id="{07907CB6-6B1A-4C7A-B0FB-EEA0F4DA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952750"/>
            <a:ext cx="4038600" cy="714375"/>
          </a:xfrm>
          <a:custGeom xmlns:a="http://schemas.openxmlformats.org/drawingml/2006/main">
            <a:pathLst>
              <a:path w="4038600" h="714375">
                <a:moveTo>
                  <a:pt x="114300" y="0"/>
                </a:moveTo>
                <a:lnTo>
                  <a:pt x="3924300" y="0"/>
                </a:lnTo>
                <a:cubicBezTo>
                  <a:pt x="3987426" y="0"/>
                  <a:pt x="4038600" y="51174"/>
                  <a:pt x="4038600" y="114300"/>
                </a:cubicBezTo>
                <a:lnTo>
                  <a:pt x="4038600" y="600075"/>
                </a:lnTo>
                <a:cubicBezTo>
                  <a:pt x="4038600" y="663201"/>
                  <a:pt x="3987426" y="714375"/>
                  <a:pt x="3924300" y="714375"/>
                </a:cubicBezTo>
                <a:lnTo>
                  <a:pt x="114300" y="714375"/>
                </a:lnTo>
                <a:cubicBezTo>
                  <a:pt x="51174" y="714375"/>
                  <a:pt x="0" y="663201"/>
                  <a:pt x="0" y="6000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AFBFC"/>
          </a:solidFill>
          <a:ln xmlns:a="http://schemas.openxmlformats.org/drawingml/2006/main" w="47625">
            <a:solidFill>
              <a:srgbClr val="E1EBF0"/>
            </a:solidFill>
            <a:prstDash val="dash"/>
          </a:ln>
        </p:spPr>
      </p:sp>
      <p:sp>
        <p:nvSpPr>
          <p:cNvPr id="4" name="Synthetic continuation">
            <a:extLst xmlns:a="http://schemas.openxmlformats.org/drawingml/2006/main">
              <a:ext uri="{FF2B5EF4-FFF2-40B4-BE49-F238E27FC236}">
                <a16:creationId xmlns:a16="http://schemas.microsoft.com/office/drawing/2014/main" id="{E7D403DE-251A-4655-AC4D-8DE51A6F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52750"/>
            <a:ext cx="4076700" cy="714375"/>
          </a:xfrm>
          <a:custGeom xmlns:a="http://schemas.openxmlformats.org/drawingml/2006/main">
            <a:pathLst>
              <a:path w="4076700" h="714375">
                <a:moveTo>
                  <a:pt x="114300" y="0"/>
                </a:moveTo>
                <a:lnTo>
                  <a:pt x="3962400" y="0"/>
                </a:lnTo>
                <a:cubicBezTo>
                  <a:pt x="4025526" y="0"/>
                  <a:pt x="4076700" y="51174"/>
                  <a:pt x="4076700" y="114300"/>
                </a:cubicBezTo>
                <a:lnTo>
                  <a:pt x="4076700" y="600075"/>
                </a:lnTo>
                <a:cubicBezTo>
                  <a:pt x="4076700" y="663201"/>
                  <a:pt x="4025526" y="714375"/>
                  <a:pt x="3962400" y="714375"/>
                </a:cubicBezTo>
                <a:lnTo>
                  <a:pt x="114300" y="714375"/>
                </a:lnTo>
                <a:cubicBezTo>
                  <a:pt x="51174" y="714375"/>
                  <a:pt x="0" y="663201"/>
                  <a:pt x="0" y="6000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AFBFC"/>
          </a:solidFill>
          <a:ln xmlns:a="http://schemas.openxmlformats.org/drawingml/2006/main" w="47625">
            <a:solidFill>
              <a:srgbClr val="E1EBF0"/>
            </a:solidFill>
            <a:prstDash val="dash"/>
          </a:ln>
        </p:spPr>
      </p:sp>
      <p:sp>
        <p:nvSpPr>
          <p:cNvPr id="5" name="Bias examples panel">
            <a:extLst xmlns:a="http://schemas.openxmlformats.org/drawingml/2006/main">
              <a:ext uri="{FF2B5EF4-FFF2-40B4-BE49-F238E27FC236}">
                <a16:creationId xmlns:a16="http://schemas.microsoft.com/office/drawing/2014/main" id="{CF2508E2-E70F-4468-8586-F9D532C8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38550"/>
            <a:ext cx="8734425" cy="2933700"/>
          </a:xfrm>
          <a:custGeom xmlns:a="http://schemas.openxmlformats.org/drawingml/2006/main">
            <a:pathLst>
              <a:path w="8734425" h="2933700">
                <a:moveTo>
                  <a:pt x="190500" y="0"/>
                </a:moveTo>
                <a:lnTo>
                  <a:pt x="8543925" y="0"/>
                </a:lnTo>
                <a:cubicBezTo>
                  <a:pt x="8649135" y="0"/>
                  <a:pt x="8734425" y="85290"/>
                  <a:pt x="8734425" y="190500"/>
                </a:cubicBezTo>
                <a:lnTo>
                  <a:pt x="8734425" y="2743200"/>
                </a:lnTo>
                <a:cubicBezTo>
                  <a:pt x="8734425" y="2848410"/>
                  <a:pt x="8649135" y="2933700"/>
                  <a:pt x="8543925" y="2933700"/>
                </a:cubicBezTo>
                <a:lnTo>
                  <a:pt x="190500" y="2933700"/>
                </a:lnTo>
                <a:cubicBezTo>
                  <a:pt x="85290" y="2933700"/>
                  <a:pt x="0" y="2848410"/>
                  <a:pt x="0" y="27432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F8E8E1"/>
          </a:solidFill>
          <a:ln xmlns:a="http://schemas.openxmlformats.org/drawingml/2006/main" w="38100">
            <a:solidFill>
              <a:srgbClr val="BABABA"/>
            </a:solidFill>
            <a:prstDash val="dash"/>
          </a:ln>
        </p:spPr>
      </p:sp>
      <p:sp>
        <p:nvSpPr>
          <p:cNvPr id="6" name="Real Image">
            <a:extLst xmlns:a="http://schemas.openxmlformats.org/drawingml/2006/main">
              <a:ext uri="{FF2B5EF4-FFF2-40B4-BE49-F238E27FC236}">
                <a16:creationId xmlns:a16="http://schemas.microsoft.com/office/drawing/2014/main" id="{760B0A58-ACB4-4CBE-A5CE-84008694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" y="2952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 Image</a:t>
            </a:r>
          </a:p>
        </p:txBody>
      </p:sp>
      <p:sp>
        <p:nvSpPr>
          <p:cNvPr id="7" name="Synthetic Image">
            <a:extLst xmlns:a="http://schemas.openxmlformats.org/drawingml/2006/main">
              <a:ext uri="{FF2B5EF4-FFF2-40B4-BE49-F238E27FC236}">
                <a16:creationId xmlns:a16="http://schemas.microsoft.com/office/drawing/2014/main" id="{93FE797B-5EEE-43F9-BA36-9F83734C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3810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Synthetic Image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C917F-CA92-421A-BC12-D0DCAAB16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50fa5c13b4d69"/>
          <a:stretch xmlns:a="http://schemas.openxmlformats.org/drawingml/2006/main"/>
        </p:blipFill>
        <p:spPr>
          <a:xfrm xmlns:a="http://schemas.openxmlformats.org/drawingml/2006/main">
            <a:off x="809625" y="714375"/>
            <a:ext cx="1495425" cy="19431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FBDDF-B7D7-441E-ADB2-65E4A689FD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809e6b2a54e6a"/>
          <a:stretch xmlns:a="http://schemas.openxmlformats.org/drawingml/2006/main"/>
        </p:blipFill>
        <p:spPr>
          <a:xfrm xmlns:a="http://schemas.openxmlformats.org/drawingml/2006/main">
            <a:off x="5400675" y="962025"/>
            <a:ext cx="1638300" cy="1638300"/>
          </a:xfrm>
          <a:prstGeom xmlns:a="http://schemas.openxmlformats.org/drawingml/2006/main" prst="rect">
            <a:avLst/>
          </a:prstGeom>
        </p:spPr>
      </p:pic>
      <p:sp>
        <p:nvSpPr>
          <p:cNvPr id="10" name="Real format">
            <a:extLst xmlns:a="http://schemas.openxmlformats.org/drawingml/2006/main">
              <a:ext uri="{FF2B5EF4-FFF2-40B4-BE49-F238E27FC236}">
                <a16:creationId xmlns:a16="http://schemas.microsoft.com/office/drawing/2014/main" id="{827DEBD1-49D3-4982-B534-D5FD397F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790575"/>
            <a:ext cx="1104900" cy="523875"/>
          </a:xfrm>
          <a:custGeom xmlns:a="http://schemas.openxmlformats.org/drawingml/2006/main">
            <a:pathLst>
              <a:path w="1104900" h="523875">
                <a:moveTo>
                  <a:pt x="0" y="0"/>
                </a:moveTo>
                <a:lnTo>
                  <a:pt x="1104900" y="0"/>
                </a:lnTo>
                <a:lnTo>
                  <a:pt x="1104900" y="523875"/>
                </a:lnTo>
                <a:lnTo>
                  <a:pt x="0" y="523875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JPEG">
            <a:extLst xmlns:a="http://schemas.openxmlformats.org/drawingml/2006/main">
              <a:ext uri="{FF2B5EF4-FFF2-40B4-BE49-F238E27FC236}">
                <a16:creationId xmlns:a16="http://schemas.microsoft.com/office/drawing/2014/main" id="{DE396ED0-FD99-4724-8459-8B8FCFD7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904875"/>
            <a:ext cx="106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JPEG</a:t>
            </a:r>
          </a:p>
        </p:txBody>
      </p:sp>
      <p:sp>
        <p:nvSpPr>
          <p:cNvPr id="12" name="Real semantics">
            <a:extLst xmlns:a="http://schemas.openxmlformats.org/drawingml/2006/main">
              <a:ext uri="{FF2B5EF4-FFF2-40B4-BE49-F238E27FC236}">
                <a16:creationId xmlns:a16="http://schemas.microsoft.com/office/drawing/2014/main" id="{15514E4A-B218-4D5D-82D3-F3FBFF31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428750"/>
            <a:ext cx="1104900" cy="533400"/>
          </a:xfrm>
          <a:custGeom xmlns:a="http://schemas.openxmlformats.org/drawingml/2006/main">
            <a:pathLst>
              <a:path w="1104900" h="533400">
                <a:moveTo>
                  <a:pt x="0" y="0"/>
                </a:moveTo>
                <a:lnTo>
                  <a:pt x="1104900" y="0"/>
                </a:lnTo>
                <a:lnTo>
                  <a:pt x="1104900" y="533400"/>
                </a:lnTo>
                <a:lnTo>
                  <a:pt x="0" y="533400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Dog">
            <a:extLst xmlns:a="http://schemas.openxmlformats.org/drawingml/2006/main">
              <a:ext uri="{FF2B5EF4-FFF2-40B4-BE49-F238E27FC236}">
                <a16:creationId xmlns:a16="http://schemas.microsoft.com/office/drawing/2014/main" id="{735B586C-6FF5-4277-A2BA-8E9E7DFE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154305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Dog</a:t>
            </a:r>
          </a:p>
        </p:txBody>
      </p:sp>
      <p:sp>
        <p:nvSpPr>
          <p:cNvPr id="14" name="Real resolution">
            <a:extLst xmlns:a="http://schemas.openxmlformats.org/drawingml/2006/main">
              <a:ext uri="{FF2B5EF4-FFF2-40B4-BE49-F238E27FC236}">
                <a16:creationId xmlns:a16="http://schemas.microsoft.com/office/drawing/2014/main" id="{C95DEA74-6C9E-41AD-B7B0-DCE16151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76450"/>
            <a:ext cx="1114425" cy="523875"/>
          </a:xfrm>
          <a:custGeom xmlns:a="http://schemas.openxmlformats.org/drawingml/2006/main">
            <a:pathLst>
              <a:path w="1114425" h="523875">
                <a:moveTo>
                  <a:pt x="0" y="0"/>
                </a:moveTo>
                <a:lnTo>
                  <a:pt x="1114425" y="0"/>
                </a:lnTo>
                <a:lnTo>
                  <a:pt x="1114425" y="523875"/>
                </a:lnTo>
                <a:lnTo>
                  <a:pt x="0" y="523875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256 x 512">
            <a:extLst xmlns:a="http://schemas.openxmlformats.org/drawingml/2006/main">
              <a:ext uri="{FF2B5EF4-FFF2-40B4-BE49-F238E27FC236}">
                <a16:creationId xmlns:a16="http://schemas.microsoft.com/office/drawing/2014/main" id="{EF923C22-91C3-4D2E-8CDC-B8C4C777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2190750"/>
            <a:ext cx="1076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256 x 512</a:t>
            </a:r>
          </a:p>
        </p:txBody>
      </p:sp>
      <p:sp>
        <p:nvSpPr>
          <p:cNvPr id="16" name="Synthetic format">
            <a:extLst xmlns:a="http://schemas.openxmlformats.org/drawingml/2006/main">
              <a:ext uri="{FF2B5EF4-FFF2-40B4-BE49-F238E27FC236}">
                <a16:creationId xmlns:a16="http://schemas.microsoft.com/office/drawing/2014/main" id="{68D7797B-0609-4CF4-9138-449CB832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885825"/>
            <a:ext cx="1114425" cy="523875"/>
          </a:xfrm>
          <a:custGeom xmlns:a="http://schemas.openxmlformats.org/drawingml/2006/main">
            <a:pathLst>
              <a:path w="1114425" h="523875">
                <a:moveTo>
                  <a:pt x="0" y="0"/>
                </a:moveTo>
                <a:lnTo>
                  <a:pt x="1114425" y="0"/>
                </a:lnTo>
                <a:lnTo>
                  <a:pt x="1114425" y="523875"/>
                </a:lnTo>
                <a:lnTo>
                  <a:pt x="0" y="523875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PNG">
            <a:extLst xmlns:a="http://schemas.openxmlformats.org/drawingml/2006/main">
              <a:ext uri="{FF2B5EF4-FFF2-40B4-BE49-F238E27FC236}">
                <a16:creationId xmlns:a16="http://schemas.microsoft.com/office/drawing/2014/main" id="{EC5C42E9-F047-4865-AAB5-51E70A03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1000125"/>
            <a:ext cx="1076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PNG</a:t>
            </a:r>
          </a:p>
        </p:txBody>
      </p:sp>
      <p:sp>
        <p:nvSpPr>
          <p:cNvPr id="18" name="Synthetic semantics">
            <a:extLst xmlns:a="http://schemas.openxmlformats.org/drawingml/2006/main">
              <a:ext uri="{FF2B5EF4-FFF2-40B4-BE49-F238E27FC236}">
                <a16:creationId xmlns:a16="http://schemas.microsoft.com/office/drawing/2014/main" id="{1335102B-5B71-4B82-9F23-F7B8F617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514475"/>
            <a:ext cx="1114425" cy="523875"/>
          </a:xfrm>
          <a:custGeom xmlns:a="http://schemas.openxmlformats.org/drawingml/2006/main">
            <a:pathLst>
              <a:path w="1114425" h="523875">
                <a:moveTo>
                  <a:pt x="0" y="0"/>
                </a:moveTo>
                <a:lnTo>
                  <a:pt x="1114425" y="0"/>
                </a:lnTo>
                <a:lnTo>
                  <a:pt x="1114425" y="523875"/>
                </a:lnTo>
                <a:lnTo>
                  <a:pt x="0" y="523875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Cat">
            <a:extLst xmlns:a="http://schemas.openxmlformats.org/drawingml/2006/main">
              <a:ext uri="{FF2B5EF4-FFF2-40B4-BE49-F238E27FC236}">
                <a16:creationId xmlns:a16="http://schemas.microsoft.com/office/drawing/2014/main" id="{AD6F5AA9-1960-481E-860A-8913839F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1628775"/>
            <a:ext cx="1076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</a:t>
            </a:r>
          </a:p>
        </p:txBody>
      </p:sp>
      <p:sp>
        <p:nvSpPr>
          <p:cNvPr id="20" name="Synthetic resolution">
            <a:extLst xmlns:a="http://schemas.openxmlformats.org/drawingml/2006/main">
              <a:ext uri="{FF2B5EF4-FFF2-40B4-BE49-F238E27FC236}">
                <a16:creationId xmlns:a16="http://schemas.microsoft.com/office/drawing/2014/main" id="{DF2DBC4A-BACD-4A42-A089-B24349FF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62175"/>
            <a:ext cx="1114425" cy="523875"/>
          </a:xfrm>
          <a:custGeom xmlns:a="http://schemas.openxmlformats.org/drawingml/2006/main">
            <a:pathLst>
              <a:path w="1114425" h="523875">
                <a:moveTo>
                  <a:pt x="0" y="0"/>
                </a:moveTo>
                <a:lnTo>
                  <a:pt x="1114425" y="0"/>
                </a:lnTo>
                <a:lnTo>
                  <a:pt x="1114425" y="523875"/>
                </a:lnTo>
                <a:lnTo>
                  <a:pt x="0" y="523875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512 x 512">
            <a:extLst xmlns:a="http://schemas.openxmlformats.org/drawingml/2006/main">
              <a:ext uri="{FF2B5EF4-FFF2-40B4-BE49-F238E27FC236}">
                <a16:creationId xmlns:a16="http://schemas.microsoft.com/office/drawing/2014/main" id="{E8C43C9F-FB3C-4777-8A84-AE6C4304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2276475"/>
            <a:ext cx="1076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512 x 512</a:t>
            </a:r>
          </a:p>
        </p:txBody>
      </p:sp>
      <p:sp>
        <p:nvSpPr>
          <p:cNvPr id="22" name="Bias downward dashed stem">
            <a:extLst xmlns:a="http://schemas.openxmlformats.org/drawingml/2006/main">
              <a:ext uri="{FF2B5EF4-FFF2-40B4-BE49-F238E27FC236}">
                <a16:creationId xmlns:a16="http://schemas.microsoft.com/office/drawing/2014/main" id="{388A217E-165A-4D52-A4EF-F03D2A32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57550"/>
            <a:ext cx="191" cy="571500"/>
          </a:xfrm>
          <a:custGeom xmlns:a="http://schemas.openxmlformats.org/drawingml/2006/main">
            <a:pathLst>
              <a:path w="191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0000"/>
            </a:solidFill>
            <a:prstDash val="dash"/>
          </a:ln>
        </p:spPr>
      </p:sp>
      <p:sp>
        <p:nvSpPr>
          <p:cNvPr id="23" name="Bias arrowhead">
            <a:extLst xmlns:a="http://schemas.openxmlformats.org/drawingml/2006/main">
              <a:ext uri="{FF2B5EF4-FFF2-40B4-BE49-F238E27FC236}">
                <a16:creationId xmlns:a16="http://schemas.microsoft.com/office/drawing/2014/main" id="{79AB6EB0-81DC-4D51-BB5E-1176DE2E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8290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85725" y="171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Bias downward dashed stem">
            <a:extLst xmlns:a="http://schemas.openxmlformats.org/drawingml/2006/main">
              <a:ext uri="{FF2B5EF4-FFF2-40B4-BE49-F238E27FC236}">
                <a16:creationId xmlns:a16="http://schemas.microsoft.com/office/drawing/2014/main" id="{E97F8746-86D9-4BC5-AD92-3C8DC53E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191" cy="571500"/>
          </a:xfrm>
          <a:custGeom xmlns:a="http://schemas.openxmlformats.org/drawingml/2006/main">
            <a:pathLst>
              <a:path w="191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0000"/>
            </a:solidFill>
            <a:prstDash val="dash"/>
          </a:ln>
        </p:spPr>
      </p:sp>
      <p:sp>
        <p:nvSpPr>
          <p:cNvPr id="25" name="Bias arrowhead">
            <a:extLst xmlns:a="http://schemas.openxmlformats.org/drawingml/2006/main">
              <a:ext uri="{FF2B5EF4-FFF2-40B4-BE49-F238E27FC236}">
                <a16:creationId xmlns:a16="http://schemas.microsoft.com/office/drawing/2014/main" id="{F01AE694-806A-4F1A-B22B-7257C690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290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85725" y="171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Bias downward dashed stem">
            <a:extLst xmlns:a="http://schemas.openxmlformats.org/drawingml/2006/main">
              <a:ext uri="{FF2B5EF4-FFF2-40B4-BE49-F238E27FC236}">
                <a16:creationId xmlns:a16="http://schemas.microsoft.com/office/drawing/2014/main" id="{4BA2C67D-4259-4AD1-9BA3-CC4299A0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257550"/>
            <a:ext cx="191" cy="571500"/>
          </a:xfrm>
          <a:custGeom xmlns:a="http://schemas.openxmlformats.org/drawingml/2006/main">
            <a:pathLst>
              <a:path w="191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0000"/>
            </a:solidFill>
            <a:prstDash val="dash"/>
          </a:ln>
        </p:spPr>
      </p:sp>
      <p:sp>
        <p:nvSpPr>
          <p:cNvPr id="27" name="Bias arrowhead">
            <a:extLst xmlns:a="http://schemas.openxmlformats.org/drawingml/2006/main">
              <a:ext uri="{FF2B5EF4-FFF2-40B4-BE49-F238E27FC236}">
                <a16:creationId xmlns:a16="http://schemas.microsoft.com/office/drawing/2014/main" id="{CB52AE72-E271-4718-A0D2-FB865B30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2905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85725" y="171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Format Bias">
            <a:extLst xmlns:a="http://schemas.openxmlformats.org/drawingml/2006/main">
              <a:ext uri="{FF2B5EF4-FFF2-40B4-BE49-F238E27FC236}">
                <a16:creationId xmlns:a16="http://schemas.microsoft.com/office/drawing/2014/main" id="{55660575-9F96-4C9D-B7DC-7C3AF4E7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" y="4019550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Format Bias</a:t>
            </a:r>
          </a:p>
        </p:txBody>
      </p:sp>
      <p:sp>
        <p:nvSpPr>
          <p:cNvPr id="29" name="Semantic Bias">
            <a:extLst xmlns:a="http://schemas.openxmlformats.org/drawingml/2006/main">
              <a:ext uri="{FF2B5EF4-FFF2-40B4-BE49-F238E27FC236}">
                <a16:creationId xmlns:a16="http://schemas.microsoft.com/office/drawing/2014/main" id="{A38BE79C-37D3-4587-8568-C04F14DD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075" y="40195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Semantic Bias</a:t>
            </a:r>
          </a:p>
        </p:txBody>
      </p:sp>
      <p:sp>
        <p:nvSpPr>
          <p:cNvPr id="30" name="Size Bias">
            <a:extLst xmlns:a="http://schemas.openxmlformats.org/drawingml/2006/main">
              <a:ext uri="{FF2B5EF4-FFF2-40B4-BE49-F238E27FC236}">
                <a16:creationId xmlns:a16="http://schemas.microsoft.com/office/drawing/2014/main" id="{A70EC50D-DEA1-4064-B664-943C8DD0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401955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 Bias</a:t>
            </a:r>
          </a:p>
        </p:txBody>
      </p:sp>
      <p:sp>
        <p:nvSpPr>
          <p:cNvPr id="31" name="Format bias example">
            <a:extLst xmlns:a="http://schemas.openxmlformats.org/drawingml/2006/main">
              <a:ext uri="{FF2B5EF4-FFF2-40B4-BE49-F238E27FC236}">
                <a16:creationId xmlns:a16="http://schemas.microsoft.com/office/drawing/2014/main" id="{D42B1091-CB4F-441F-B3FF-8BA1A631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19600"/>
            <a:ext cx="2609850" cy="1590675"/>
          </a:xfrm>
          <a:custGeom xmlns:a="http://schemas.openxmlformats.org/drawingml/2006/main">
            <a:pathLst>
              <a:path w="2609850" h="1590675">
                <a:moveTo>
                  <a:pt x="0" y="0"/>
                </a:moveTo>
                <a:lnTo>
                  <a:pt x="2609850" y="0"/>
                </a:lnTo>
                <a:lnTo>
                  <a:pt x="2609850" y="1590675"/>
                </a:lnTo>
                <a:lnTo>
                  <a:pt x="0" y="1590675"/>
                </a:lnTo>
                <a:close/>
              </a:path>
            </a:pathLst>
          </a:custGeom>
          <a:solidFill xmlns:a="http://schemas.openxmlformats.org/drawingml/2006/main">
            <a:srgbClr val="C9D6DF"/>
          </a:solidFill>
          <a:ln xmlns:a="http://schemas.openxmlformats.org/drawingml/2006/main" w="19050">
            <a:solidFill>
              <a:srgbClr val="BD8FC9"/>
            </a:solidFill>
            <a:prstDash val="solid"/>
          </a:ln>
        </p:spPr>
      </p:sp>
      <p:sp>
        <p:nvSpPr>
          <p:cNvPr id="32" name="Semantic bias example">
            <a:extLst xmlns:a="http://schemas.openxmlformats.org/drawingml/2006/main">
              <a:ext uri="{FF2B5EF4-FFF2-40B4-BE49-F238E27FC236}">
                <a16:creationId xmlns:a16="http://schemas.microsoft.com/office/drawing/2014/main" id="{349810DD-66FD-4319-92F6-A072A65D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419600"/>
            <a:ext cx="2619375" cy="1590675"/>
          </a:xfrm>
          <a:custGeom xmlns:a="http://schemas.openxmlformats.org/drawingml/2006/main">
            <a:pathLst>
              <a:path w="2619375" h="1590675">
                <a:moveTo>
                  <a:pt x="0" y="0"/>
                </a:moveTo>
                <a:lnTo>
                  <a:pt x="2619375" y="0"/>
                </a:lnTo>
                <a:lnTo>
                  <a:pt x="2619375" y="1590675"/>
                </a:lnTo>
                <a:lnTo>
                  <a:pt x="0" y="1590675"/>
                </a:lnTo>
                <a:close/>
              </a:path>
            </a:pathLst>
          </a:custGeom>
          <a:solidFill xmlns:a="http://schemas.openxmlformats.org/drawingml/2006/main">
            <a:srgbClr val="DEDDE6"/>
          </a:solidFill>
          <a:ln xmlns:a="http://schemas.openxmlformats.org/drawingml/2006/main" w="19050">
            <a:solidFill>
              <a:srgbClr val="CDDAD4"/>
            </a:solidFill>
            <a:prstDash val="solid"/>
          </a:ln>
        </p:spPr>
      </p:sp>
      <p:sp>
        <p:nvSpPr>
          <p:cNvPr id="33" name="Size bias example">
            <a:extLst xmlns:a="http://schemas.openxmlformats.org/drawingml/2006/main">
              <a:ext uri="{FF2B5EF4-FFF2-40B4-BE49-F238E27FC236}">
                <a16:creationId xmlns:a16="http://schemas.microsoft.com/office/drawing/2014/main" id="{FC361F2D-9EDD-4AB3-AC27-CD78A4CB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10075"/>
            <a:ext cx="2619375" cy="1590675"/>
          </a:xfrm>
          <a:custGeom xmlns:a="http://schemas.openxmlformats.org/drawingml/2006/main">
            <a:pathLst>
              <a:path w="2619375" h="1590675">
                <a:moveTo>
                  <a:pt x="0" y="0"/>
                </a:moveTo>
                <a:lnTo>
                  <a:pt x="2619375" y="0"/>
                </a:lnTo>
                <a:lnTo>
                  <a:pt x="2619375" y="1590675"/>
                </a:lnTo>
                <a:lnTo>
                  <a:pt x="0" y="1590675"/>
                </a:lnTo>
                <a:close/>
              </a:path>
            </a:pathLst>
          </a:custGeom>
          <a:solidFill xmlns:a="http://schemas.openxmlformats.org/drawingml/2006/main">
            <a:srgbClr val="928BB6"/>
          </a:solidFill>
          <a:ln xmlns:a="http://schemas.openxmlformats.org/drawingml/2006/main" w="19050">
            <a:solidFill>
              <a:srgbClr val="BA80CB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219C54-BABA-4518-9474-0F3E938800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ee915a9634344"/>
          <a:stretch xmlns:a="http://schemas.openxmlformats.org/drawingml/2006/main"/>
        </p:blipFill>
        <p:spPr>
          <a:xfrm xmlns:a="http://schemas.openxmlformats.org/drawingml/2006/main">
            <a:off x="523875" y="4686300"/>
            <a:ext cx="1028700" cy="1038225"/>
          </a:xfrm>
          <a:prstGeom xmlns:a="http://schemas.openxmlformats.org/drawingml/2006/main" prst="rect">
            <a:avLst/>
          </a:prstGeom>
        </p:spPr>
      </p:pic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57FD04-AC6B-45BD-AC23-179DFE852D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8f056c66d43a5"/>
          <a:stretch xmlns:a="http://schemas.openxmlformats.org/drawingml/2006/main"/>
        </p:blipFill>
        <p:spPr>
          <a:xfrm xmlns:a="http://schemas.openxmlformats.org/drawingml/2006/main">
            <a:off x="3438525" y="4695825"/>
            <a:ext cx="1028700" cy="1038225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1E5445-C137-42FC-9418-8723BC5E45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082dc59c9489d"/>
          <a:stretch xmlns:a="http://schemas.openxmlformats.org/drawingml/2006/main"/>
        </p:blipFill>
        <p:spPr>
          <a:xfrm xmlns:a="http://schemas.openxmlformats.org/drawingml/2006/main">
            <a:off x="6286500" y="4610100"/>
            <a:ext cx="952500" cy="1257300"/>
          </a:xfrm>
          <a:prstGeom xmlns:a="http://schemas.openxmlformats.org/drawingml/2006/main" prst="rect">
            <a:avLst/>
          </a:prstGeom>
        </p:spPr>
      </p:pic>
      <p:sp>
        <p:nvSpPr>
          <p:cNvPr id="37" name="Format label">
            <a:extLst xmlns:a="http://schemas.openxmlformats.org/drawingml/2006/main">
              <a:ext uri="{FF2B5EF4-FFF2-40B4-BE49-F238E27FC236}">
                <a16:creationId xmlns:a16="http://schemas.microsoft.com/office/drawing/2014/main" id="{A3292E16-A0CA-4430-9089-65004CD2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943475"/>
            <a:ext cx="1095375" cy="523875"/>
          </a:xfrm>
          <a:custGeom xmlns:a="http://schemas.openxmlformats.org/drawingml/2006/main">
            <a:pathLst>
              <a:path w="1095375" h="523875">
                <a:moveTo>
                  <a:pt x="0" y="0"/>
                </a:moveTo>
                <a:lnTo>
                  <a:pt x="1095375" y="0"/>
                </a:lnTo>
                <a:lnTo>
                  <a:pt x="1095375" y="523875"/>
                </a:lnTo>
                <a:lnTo>
                  <a:pt x="0" y="523875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JPEG">
            <a:extLst xmlns:a="http://schemas.openxmlformats.org/drawingml/2006/main">
              <a:ext uri="{FF2B5EF4-FFF2-40B4-BE49-F238E27FC236}">
                <a16:creationId xmlns:a16="http://schemas.microsoft.com/office/drawing/2014/main" id="{F7CD2831-6D25-4B53-81B7-E8699B77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5057775"/>
            <a:ext cx="1057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JPEG</a:t>
            </a:r>
          </a:p>
        </p:txBody>
      </p:sp>
      <p:sp>
        <p:nvSpPr>
          <p:cNvPr id="39" name="Semantic label">
            <a:extLst xmlns:a="http://schemas.openxmlformats.org/drawingml/2006/main">
              <a:ext uri="{FF2B5EF4-FFF2-40B4-BE49-F238E27FC236}">
                <a16:creationId xmlns:a16="http://schemas.microsoft.com/office/drawing/2014/main" id="{C04E41D3-2BD3-400C-8C63-B25B5D05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953000"/>
            <a:ext cx="1095375" cy="514350"/>
          </a:xfrm>
          <a:custGeom xmlns:a="http://schemas.openxmlformats.org/drawingml/2006/main">
            <a:pathLst>
              <a:path w="1095375" h="514350">
                <a:moveTo>
                  <a:pt x="0" y="0"/>
                </a:moveTo>
                <a:lnTo>
                  <a:pt x="1095375" y="0"/>
                </a:lnTo>
                <a:lnTo>
                  <a:pt x="1095375" y="514350"/>
                </a:lnTo>
                <a:lnTo>
                  <a:pt x="0" y="514350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0" name="Dog">
            <a:extLst xmlns:a="http://schemas.openxmlformats.org/drawingml/2006/main">
              <a:ext uri="{FF2B5EF4-FFF2-40B4-BE49-F238E27FC236}">
                <a16:creationId xmlns:a16="http://schemas.microsoft.com/office/drawing/2014/main" id="{47216A52-80B5-4406-847E-59A97AA8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7725" y="5067300"/>
            <a:ext cx="1057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Dog</a:t>
            </a:r>
          </a:p>
        </p:txBody>
      </p:sp>
      <p:sp>
        <p:nvSpPr>
          <p:cNvPr id="41" name="Size label">
            <a:extLst xmlns:a="http://schemas.openxmlformats.org/drawingml/2006/main">
              <a:ext uri="{FF2B5EF4-FFF2-40B4-BE49-F238E27FC236}">
                <a16:creationId xmlns:a16="http://schemas.microsoft.com/office/drawing/2014/main" id="{769B751F-2ECF-47F1-9D27-AE65A1D9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943475"/>
            <a:ext cx="1104900" cy="523875"/>
          </a:xfrm>
          <a:custGeom xmlns:a="http://schemas.openxmlformats.org/drawingml/2006/main">
            <a:pathLst>
              <a:path w="1104900" h="523875">
                <a:moveTo>
                  <a:pt x="0" y="0"/>
                </a:moveTo>
                <a:lnTo>
                  <a:pt x="1104900" y="0"/>
                </a:lnTo>
                <a:lnTo>
                  <a:pt x="1104900" y="523875"/>
                </a:lnTo>
                <a:lnTo>
                  <a:pt x="0" y="523875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256 x 512">
            <a:extLst xmlns:a="http://schemas.openxmlformats.org/drawingml/2006/main">
              <a:ext uri="{FF2B5EF4-FFF2-40B4-BE49-F238E27FC236}">
                <a16:creationId xmlns:a16="http://schemas.microsoft.com/office/drawing/2014/main" id="{FF9ACC4A-DC89-4494-B010-05843735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5057775"/>
            <a:ext cx="106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256 x 512</a:t>
            </a:r>
          </a:p>
        </p:txBody>
      </p:sp>
      <p:sp>
        <p:nvSpPr>
          <p:cNvPr id="43" name="All synthetic images are mistakenly classified as REAL">
            <a:extLst xmlns:a="http://schemas.openxmlformats.org/drawingml/2006/main">
              <a:ext uri="{FF2B5EF4-FFF2-40B4-BE49-F238E27FC236}">
                <a16:creationId xmlns:a16="http://schemas.microsoft.com/office/drawing/2014/main" id="{ED79ED5D-0EF3-4A1D-9A62-D53B2D4C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6124575"/>
            <a:ext cx="6838950" cy="392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synthetic images are mistakenly classified as REAL</a:t>
            </a:r>
          </a:p>
        </p:txBody>
      </p:sp>
      <p:sp>
        <p:nvSpPr>
          <p:cNvPr id="44" name="Misclassification red cross">
            <a:extLst xmlns:a="http://schemas.openxmlformats.org/drawingml/2006/main">
              <a:ext uri="{FF2B5EF4-FFF2-40B4-BE49-F238E27FC236}">
                <a16:creationId xmlns:a16="http://schemas.microsoft.com/office/drawing/2014/main" id="{DEC9EF08-BCC3-44A5-B75A-179A8DD3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61531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228600"/>
                </a:lnTo>
                <a:moveTo>
                  <a:pt x="22860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00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1857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2026-10-14T11:52:57.3260000Z</dcterms:created>
  <dcterms:modified xsi:type="dcterms:W3CDTF">2026-10-14T11:52:57.3260000Z</dcterms:modified>
</coreProperties>
</file>