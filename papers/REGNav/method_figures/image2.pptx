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e4fa1eb95240f2" /><Relationship Type="http://schemas.openxmlformats.org/officeDocument/2006/relationships/extended-properties" Target="/docProps/app.xml" Id="Rc9f21de9ca0a4d3d" /><Relationship Type="http://schemas.openxmlformats.org/officeDocument/2006/relationships/officeDocument" Target="/ppt/presentation.xml" Id="R7dfb369fea93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63e13f7884d61"/>
  </p:sldMasterIdLst>
  <p:notesMasterIdLst>
    <p:notesMasterId xmlns:r="http://schemas.openxmlformats.org/officeDocument/2006/relationships" r:id="R9f90ba37179f4ea2"/>
  </p:notesMasterIdLst>
  <p:sldIdLst>
    <p:sldId xmlns:r="http://schemas.openxmlformats.org/officeDocument/2006/relationships" id="256" r:id="Rb37feaf7d96647a7"/>
  </p:sldIdLst>
  <p:sldSz cx="172974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d1d1ca0aa04c94" /><Relationship Type="http://schemas.openxmlformats.org/officeDocument/2006/relationships/slideMaster" Target="/ppt/slideMasters/slideMaster1.xml" Id="R13663e13f7884d61" /><Relationship Type="http://schemas.openxmlformats.org/officeDocument/2006/relationships/notesMaster" Target="/ppt/notesMasters/notesMaster1.xml" Id="R9f90ba37179f4ea2" /><Relationship Type="http://schemas.openxmlformats.org/officeDocument/2006/relationships/presProps" Target="/ppt/presProps.xml" Id="R79c35fa6f0fd4190" /><Relationship Type="http://schemas.openxmlformats.org/officeDocument/2006/relationships/tableStyles" Target="/ppt/tableStyles.xml" Id="R1d7a52c9376944d2" /><Relationship Type="http://schemas.openxmlformats.org/officeDocument/2006/relationships/slide" Target="/ppt/slides/slide1.xml" Id="Rb37feaf7d96647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f7f4ae33d44b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74ee607c74642" /><Relationship Type="http://schemas.openxmlformats.org/officeDocument/2006/relationships/notesMaster" Target="/ppt/notesMasters/notesMaster1.xml" Id="R66e9439ac4f243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Room Expert Pretraining and Navigation Architecture</a:t>
            </a:r>
          </a:p>
          <a:p xmlns:a="http://schemas.openxmlformats.org/drawingml/2006/main">
            <a:r>
              <a:t>Source: https://arxiv.org/abs/2502.10785</a:t>
            </a:r>
          </a:p>
          <a:p xmlns:a="http://schemas.openxmlformats.org/drawingml/2006/main">
            <a:r>
              <a:t>Approved image: image2.png; SHA-256: 9fd26a5a8cb21b28f14ed687f702b2765fe7b00f8aebf10cb4c7e374481b80f0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(6).</a:t>
            </a:r>
          </a:p>
          <a:p xmlns:a="http://schemas.openxmlformats.org/drawingml/2006/main">
            <a:r>
              <a:t>Font substitution: source PDF families mapped to Arial, Times New Roman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63a10570e40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7d83368a741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5a5ef99654f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9d027a89a48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75364936745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e6d6e462641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A6D9F2-5B30-43AA-BD2A-3FD36C17D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29740" y="2914650"/>
            <a:ext cx="1383792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838369-09D9-4DFE-9002-ABCC7B91B5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94610" y="4243388"/>
            <a:ext cx="1210818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994591-77D0-4276-A3CF-3E89EBF96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29740" y="3214688"/>
            <a:ext cx="1383792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CEE3FB-571A-45BB-9849-7202CFFC0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2979" y="600075"/>
            <a:ext cx="15351443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94CC39-1F1E-4999-A362-138762FC4E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72979" y="2143125"/>
            <a:ext cx="15351443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4BD326-F36F-441B-A83A-9C16C2ABE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2979" y="600075"/>
            <a:ext cx="15351443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281331-25B9-465A-B463-2C13C9121D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72979" y="2143125"/>
            <a:ext cx="7135178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79EC08C-2AF8-4AEA-9032-5985E88388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89244" y="2143125"/>
            <a:ext cx="7135178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39C40-B803-4919-A492-1A8F163CD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2979" y="600075"/>
            <a:ext cx="15351443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BE4A93-02CA-452C-8321-B8059AA460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72979" y="2143125"/>
            <a:ext cx="7135178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e35721119e4d96" /><Relationship Type="http://schemas.openxmlformats.org/officeDocument/2006/relationships/slideLayout" Target="/ppt/slideLayouts/slideLayout1.xml" Id="Rca01d3526b2c42eb" /><Relationship Type="http://schemas.openxmlformats.org/officeDocument/2006/relationships/slideLayout" Target="/ppt/slideLayouts/slideLayout2.xml" Id="R4b08228050da4162" /><Relationship Type="http://schemas.openxmlformats.org/officeDocument/2006/relationships/slideLayout" Target="/ppt/slideLayouts/slideLayout3.xml" Id="Rc13e31967cad4dcf" /><Relationship Type="http://schemas.openxmlformats.org/officeDocument/2006/relationships/slideLayout" Target="/ppt/slideLayouts/slideLayout4.xml" Id="R3f2516ebe39c46f6" /><Relationship Type="http://schemas.openxmlformats.org/officeDocument/2006/relationships/slideLayout" Target="/ppt/slideLayouts/slideLayout5.xml" Id="R86e1136781ef48a9" /><Relationship Type="http://schemas.openxmlformats.org/officeDocument/2006/relationships/slideLayout" Target="/ppt/slideLayouts/slideLayout6.xml" Id="R294a867edcfe41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01d3526b2c42eb"/>
    <p:sldLayoutId xmlns:r="http://schemas.openxmlformats.org/officeDocument/2006/relationships" id="2147483650" r:id="R4b08228050da4162"/>
    <p:sldLayoutId xmlns:r="http://schemas.openxmlformats.org/officeDocument/2006/relationships" id="2147483651" r:id="Rc13e31967cad4dcf"/>
    <p:sldLayoutId xmlns:r="http://schemas.openxmlformats.org/officeDocument/2006/relationships" id="2147483652" r:id="R3f2516ebe39c46f6"/>
    <p:sldLayoutId xmlns:r="http://schemas.openxmlformats.org/officeDocument/2006/relationships" id="2147483653" r:id="R86e1136781ef48a9"/>
    <p:sldLayoutId xmlns:r="http://schemas.openxmlformats.org/officeDocument/2006/relationships" id="2147483654" r:id="R294a867edcfe41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38eeeaefd44f7" /><Relationship Type="http://schemas.openxmlformats.org/officeDocument/2006/relationships/image" Target="/ppt/media/image.png" Id="R2a7954de333449c8" /><Relationship Type="http://schemas.openxmlformats.org/officeDocument/2006/relationships/image" Target="/ppt/media/image2.png" Id="R668466e0f928422b" /><Relationship Type="http://schemas.openxmlformats.org/officeDocument/2006/relationships/image" Target="/ppt/media/image3.png" Id="R16577a5294ca4988" /><Relationship Type="http://schemas.openxmlformats.org/officeDocument/2006/relationships/image" Target="/ppt/media/image4.png" Id="R26b65deb0d72417a" /><Relationship Type="http://schemas.openxmlformats.org/officeDocument/2006/relationships/image" Target="/ppt/media/image5.png" Id="R88cd581089934f3c" /><Relationship Type="http://schemas.openxmlformats.org/officeDocument/2006/relationships/image" Target="/ppt/media/image6.png" Id="R0d65a1a3ccb74b16" /><Relationship Type="http://schemas.openxmlformats.org/officeDocument/2006/relationships/notesSlide" Target="/ppt/notesSlides/notesSlide1.xml" Id="R693b8ded374147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3248D43-CA2A-4C40-BD80-75AF37143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954de333449c8"/>
          <a:stretch xmlns:a="http://schemas.openxmlformats.org/drawingml/2006/main"/>
        </p:blipFill>
        <p:spPr>
          <a:xfrm xmlns:a="http://schemas.openxmlformats.org/drawingml/2006/main">
            <a:off x="247650" y="1600200"/>
            <a:ext cx="1733550" cy="16764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40890-4808-4849-B792-6EFEFEA6F5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466e0f928422b"/>
          <a:stretch xmlns:a="http://schemas.openxmlformats.org/drawingml/2006/main"/>
        </p:blipFill>
        <p:spPr>
          <a:xfrm xmlns:a="http://schemas.openxmlformats.org/drawingml/2006/main">
            <a:off x="762000" y="3752850"/>
            <a:ext cx="981075" cy="9334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22D5E-F8DA-44A0-9BA7-003173653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77a5294ca4988"/>
          <a:stretch xmlns:a="http://schemas.openxmlformats.org/drawingml/2006/main"/>
        </p:blipFill>
        <p:spPr>
          <a:xfrm xmlns:a="http://schemas.openxmlformats.org/drawingml/2006/main">
            <a:off x="733425" y="5229225"/>
            <a:ext cx="990600" cy="9334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E9E0C-67BD-4CB9-9D7C-F691F5195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65deb0d72417a"/>
          <a:stretch xmlns:a="http://schemas.openxmlformats.org/drawingml/2006/main"/>
        </p:blipFill>
        <p:spPr>
          <a:xfrm xmlns:a="http://schemas.openxmlformats.org/drawingml/2006/main">
            <a:off x="8039100" y="1181100"/>
            <a:ext cx="1485900" cy="14478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CD540-3313-4CD6-8572-86CF101FEB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d581089934f3c"/>
          <a:stretch xmlns:a="http://schemas.openxmlformats.org/drawingml/2006/main"/>
        </p:blipFill>
        <p:spPr>
          <a:xfrm xmlns:a="http://schemas.openxmlformats.org/drawingml/2006/main">
            <a:off x="8029575" y="2762250"/>
            <a:ext cx="1485900" cy="1438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08DF7-7532-47BA-8D1E-54B4E782B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5a1a3ccb74b16"/>
          <a:stretch xmlns:a="http://schemas.openxmlformats.org/drawingml/2006/main"/>
        </p:blipFill>
        <p:spPr>
          <a:xfrm xmlns:a="http://schemas.openxmlformats.org/drawingml/2006/main">
            <a:off x="7820025" y="4981575"/>
            <a:ext cx="1943100" cy="1524000"/>
          </a:xfrm>
          <a:prstGeom xmlns:a="http://schemas.openxmlformats.org/drawingml/2006/main" prst="rect">
            <a:avLst/>
          </a:prstGeom>
        </p:spPr>
      </p:pic>
      <p:sp>
        <p:nvSpPr>
          <p:cNvPr id="7" name="Room expert panel">
            <a:extLst xmlns:a="http://schemas.openxmlformats.org/drawingml/2006/main">
              <a:ext uri="{FF2B5EF4-FFF2-40B4-BE49-F238E27FC236}">
                <a16:creationId xmlns:a16="http://schemas.microsoft.com/office/drawing/2014/main" id="{42AF6F6F-155F-4909-A41A-890CEC30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9625"/>
            <a:ext cx="4886325" cy="3505200"/>
          </a:xfrm>
          <a:custGeom xmlns:a="http://schemas.openxmlformats.org/drawingml/2006/main">
            <a:pathLst>
              <a:path w="4886325" h="3505200">
                <a:moveTo>
                  <a:pt x="238125" y="0"/>
                </a:moveTo>
                <a:lnTo>
                  <a:pt x="4648200" y="0"/>
                </a:lnTo>
                <a:cubicBezTo>
                  <a:pt x="4779713" y="0"/>
                  <a:pt x="4886325" y="106612"/>
                  <a:pt x="4886325" y="238125"/>
                </a:cubicBezTo>
                <a:lnTo>
                  <a:pt x="4886325" y="3267075"/>
                </a:lnTo>
                <a:cubicBezTo>
                  <a:pt x="4886325" y="3398588"/>
                  <a:pt x="4779713" y="3505200"/>
                  <a:pt x="4648200" y="3505200"/>
                </a:cubicBezTo>
                <a:lnTo>
                  <a:pt x="238125" y="3505200"/>
                </a:lnTo>
                <a:cubicBezTo>
                  <a:pt x="106612" y="3505200"/>
                  <a:pt x="0" y="3398588"/>
                  <a:pt x="0" y="32670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FCF0F0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8" name="Visual feature extractor panel">
            <a:extLst xmlns:a="http://schemas.openxmlformats.org/drawingml/2006/main">
              <a:ext uri="{FF2B5EF4-FFF2-40B4-BE49-F238E27FC236}">
                <a16:creationId xmlns:a16="http://schemas.microsoft.com/office/drawing/2014/main" id="{4A9EB692-EFA8-40B3-BF16-54F4373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543425"/>
            <a:ext cx="4752975" cy="2600325"/>
          </a:xfrm>
          <a:custGeom xmlns:a="http://schemas.openxmlformats.org/drawingml/2006/main">
            <a:pathLst>
              <a:path w="4752975" h="2600325">
                <a:moveTo>
                  <a:pt x="238125" y="0"/>
                </a:moveTo>
                <a:lnTo>
                  <a:pt x="4514850" y="0"/>
                </a:lnTo>
                <a:cubicBezTo>
                  <a:pt x="4646363" y="0"/>
                  <a:pt x="4752975" y="106612"/>
                  <a:pt x="4752975" y="238125"/>
                </a:cubicBezTo>
                <a:lnTo>
                  <a:pt x="4752975" y="2362200"/>
                </a:lnTo>
                <a:cubicBezTo>
                  <a:pt x="4752975" y="2493713"/>
                  <a:pt x="4646363" y="2600325"/>
                  <a:pt x="4514850" y="2600325"/>
                </a:cubicBezTo>
                <a:lnTo>
                  <a:pt x="238125" y="2600325"/>
                </a:lnTo>
                <a:cubicBezTo>
                  <a:pt x="106612" y="2600325"/>
                  <a:pt x="0" y="2493713"/>
                  <a:pt x="0" y="23622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EFF4FA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" name="Constraint set boundary">
            <a:extLst xmlns:a="http://schemas.openxmlformats.org/drawingml/2006/main">
              <a:ext uri="{FF2B5EF4-FFF2-40B4-BE49-F238E27FC236}">
                <a16:creationId xmlns:a16="http://schemas.microsoft.com/office/drawing/2014/main" id="{FFB8A204-AFC2-4B09-A329-5489FCD2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885825"/>
            <a:ext cx="1209675" cy="742950"/>
          </a:xfrm>
          <a:custGeom xmlns:a="http://schemas.openxmlformats.org/drawingml/2006/main">
            <a:pathLst>
              <a:path w="1209675" h="742950">
                <a:moveTo>
                  <a:pt x="123825" y="0"/>
                </a:moveTo>
                <a:lnTo>
                  <a:pt x="1085850" y="0"/>
                </a:lnTo>
                <a:cubicBezTo>
                  <a:pt x="1154237" y="0"/>
                  <a:pt x="1209675" y="55438"/>
                  <a:pt x="1209675" y="123825"/>
                </a:cubicBezTo>
                <a:lnTo>
                  <a:pt x="1209675" y="619125"/>
                </a:lnTo>
                <a:cubicBezTo>
                  <a:pt x="1209675" y="687512"/>
                  <a:pt x="1154237" y="742950"/>
                  <a:pt x="1085850" y="742950"/>
                </a:cubicBezTo>
                <a:lnTo>
                  <a:pt x="123825" y="742950"/>
                </a:lnTo>
                <a:cubicBezTo>
                  <a:pt x="55438" y="742950"/>
                  <a:pt x="0" y="687512"/>
                  <a:pt x="0" y="6191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95959"/>
            </a:solidFill>
            <a:prstDash val="dash"/>
          </a:ln>
        </p:spPr>
      </p:sp>
      <p:sp>
        <p:nvSpPr>
          <p:cNvPr id="10" name="Offline style encoder top">
            <a:extLst xmlns:a="http://schemas.openxmlformats.org/drawingml/2006/main">
              <a:ext uri="{FF2B5EF4-FFF2-40B4-BE49-F238E27FC236}">
                <a16:creationId xmlns:a16="http://schemas.microsoft.com/office/drawing/2014/main" id="{00309482-5352-42AE-A45D-9987EC83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762375"/>
            <a:ext cx="1276350" cy="942975"/>
          </a:xfrm>
          <a:custGeom xmlns:a="http://schemas.openxmlformats.org/drawingml/2006/main">
            <a:pathLst>
              <a:path w="1276350" h="942975">
                <a:moveTo>
                  <a:pt x="0" y="0"/>
                </a:moveTo>
                <a:lnTo>
                  <a:pt x="1276350" y="190500"/>
                </a:lnTo>
                <a:lnTo>
                  <a:pt x="1276350" y="742950"/>
                </a:lnTo>
                <a:lnTo>
                  <a:pt x="0" y="94297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3813">
            <a:solidFill>
              <a:srgbClr val="888888"/>
            </a:solidFill>
            <a:prstDash val="solid"/>
          </a:ln>
        </p:spPr>
      </p:sp>
      <p:sp>
        <p:nvSpPr>
          <p:cNvPr id="11" name="Offline style encoder bottom">
            <a:extLst xmlns:a="http://schemas.openxmlformats.org/drawingml/2006/main">
              <a:ext uri="{FF2B5EF4-FFF2-40B4-BE49-F238E27FC236}">
                <a16:creationId xmlns:a16="http://schemas.microsoft.com/office/drawing/2014/main" id="{006DFD24-A0B3-4982-8091-665C9B3A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200650"/>
            <a:ext cx="1266825" cy="952500"/>
          </a:xfrm>
          <a:custGeom xmlns:a="http://schemas.openxmlformats.org/drawingml/2006/main">
            <a:pathLst>
              <a:path w="1266825" h="952500">
                <a:moveTo>
                  <a:pt x="0" y="0"/>
                </a:moveTo>
                <a:lnTo>
                  <a:pt x="1266825" y="200025"/>
                </a:lnTo>
                <a:lnTo>
                  <a:pt x="1266825" y="771525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3813">
            <a:solidFill>
              <a:srgbClr val="888888"/>
            </a:solidFill>
            <a:prstDash val="solid"/>
          </a:ln>
        </p:spPr>
      </p:sp>
      <p:sp>
        <p:nvSpPr>
          <p:cNvPr id="12" name="Offline relation network">
            <a:extLst xmlns:a="http://schemas.openxmlformats.org/drawingml/2006/main">
              <a:ext uri="{FF2B5EF4-FFF2-40B4-BE49-F238E27FC236}">
                <a16:creationId xmlns:a16="http://schemas.microsoft.com/office/drawing/2014/main" id="{4632B07F-26A7-484D-AC6B-C0CEAFD9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324350"/>
            <a:ext cx="904875" cy="1085850"/>
          </a:xfrm>
          <a:custGeom xmlns:a="http://schemas.openxmlformats.org/drawingml/2006/main">
            <a:pathLst>
              <a:path w="904875" h="1085850">
                <a:moveTo>
                  <a:pt x="152400" y="0"/>
                </a:moveTo>
                <a:lnTo>
                  <a:pt x="752475" y="0"/>
                </a:lnTo>
                <a:cubicBezTo>
                  <a:pt x="836643" y="0"/>
                  <a:pt x="904875" y="68232"/>
                  <a:pt x="904875" y="152400"/>
                </a:cubicBezTo>
                <a:lnTo>
                  <a:pt x="904875" y="933450"/>
                </a:lnTo>
                <a:cubicBezTo>
                  <a:pt x="904875" y="1017618"/>
                  <a:pt x="836643" y="1085850"/>
                  <a:pt x="752475" y="1085850"/>
                </a:cubicBezTo>
                <a:lnTo>
                  <a:pt x="152400" y="1085850"/>
                </a:lnTo>
                <a:cubicBezTo>
                  <a:pt x="68232" y="1085850"/>
                  <a:pt x="0" y="1017618"/>
                  <a:pt x="0" y="9334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3813">
            <a:solidFill>
              <a:srgbClr val="AAAAAA"/>
            </a:solidFill>
            <a:prstDash val="solid"/>
          </a:ln>
        </p:spPr>
      </p:sp>
      <p:sp>
        <p:nvSpPr>
          <p:cNvPr id="13" name="Relation labels">
            <a:extLst xmlns:a="http://schemas.openxmlformats.org/drawingml/2006/main">
              <a:ext uri="{FF2B5EF4-FFF2-40B4-BE49-F238E27FC236}">
                <a16:creationId xmlns:a16="http://schemas.microsoft.com/office/drawing/2014/main" id="{37542918-D8EF-4E60-B3EF-2B0CF2E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1828800" cy="390525"/>
          </a:xfrm>
          <a:custGeom xmlns:a="http://schemas.openxmlformats.org/drawingml/2006/main">
            <a:pathLst>
              <a:path w="1828800" h="390525">
                <a:moveTo>
                  <a:pt x="76200" y="0"/>
                </a:moveTo>
                <a:lnTo>
                  <a:pt x="1752600" y="0"/>
                </a:lnTo>
                <a:cubicBezTo>
                  <a:pt x="1794684" y="0"/>
                  <a:pt x="1828800" y="34116"/>
                  <a:pt x="1828800" y="76200"/>
                </a:cubicBezTo>
                <a:lnTo>
                  <a:pt x="1828800" y="314325"/>
                </a:lnTo>
                <a:cubicBezTo>
                  <a:pt x="1828800" y="356409"/>
                  <a:pt x="1794684" y="390525"/>
                  <a:pt x="1752600" y="390525"/>
                </a:cubicBezTo>
                <a:lnTo>
                  <a:pt x="76200" y="390525"/>
                </a:lnTo>
                <a:cubicBezTo>
                  <a:pt x="34116" y="390525"/>
                  <a:pt x="0" y="356409"/>
                  <a:pt x="0" y="3143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AAAAAA"/>
            </a:solidFill>
            <a:prstDash val="solid"/>
          </a:ln>
        </p:spPr>
      </p:sp>
      <p:sp>
        <p:nvSpPr>
          <p:cNvPr id="14" name="Cluster loss">
            <a:extLst xmlns:a="http://schemas.openxmlformats.org/drawingml/2006/main">
              <a:ext uri="{FF2B5EF4-FFF2-40B4-BE49-F238E27FC236}">
                <a16:creationId xmlns:a16="http://schemas.microsoft.com/office/drawing/2014/main" id="{7716E0E2-4764-4314-830D-CF5CEC93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33750"/>
            <a:ext cx="1295400" cy="476250"/>
          </a:xfrm>
          <a:custGeom xmlns:a="http://schemas.openxmlformats.org/drawingml/2006/main">
            <a:pathLst>
              <a:path w="1295400" h="476250">
                <a:moveTo>
                  <a:pt x="0" y="0"/>
                </a:moveTo>
                <a:lnTo>
                  <a:pt x="1295400" y="0"/>
                </a:lnTo>
                <a:lnTo>
                  <a:pt x="1295400" y="476250"/>
                </a:lnTo>
                <a:lnTo>
                  <a:pt x="0" y="476250"/>
                </a:lnTo>
                <a:close/>
              </a:path>
            </a:pathLst>
          </a:custGeom>
          <a:solidFill xmlns:a="http://schemas.openxmlformats.org/drawingml/2006/main">
            <a:srgbClr val="FBE5D7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" name="Prediction loss">
            <a:extLst xmlns:a="http://schemas.openxmlformats.org/drawingml/2006/main">
              <a:ext uri="{FF2B5EF4-FFF2-40B4-BE49-F238E27FC236}">
                <a16:creationId xmlns:a16="http://schemas.microsoft.com/office/drawing/2014/main" id="{F89A40E6-7E75-4EF6-A4B0-2199BDBB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457950"/>
            <a:ext cx="1295400" cy="495300"/>
          </a:xfrm>
          <a:custGeom xmlns:a="http://schemas.openxmlformats.org/drawingml/2006/main">
            <a:pathLst>
              <a:path w="1295400" h="495300">
                <a:moveTo>
                  <a:pt x="0" y="0"/>
                </a:moveTo>
                <a:lnTo>
                  <a:pt x="1295400" y="0"/>
                </a:lnTo>
                <a:lnTo>
                  <a:pt x="1295400" y="495300"/>
                </a:lnTo>
                <a:lnTo>
                  <a:pt x="0" y="495300"/>
                </a:lnTo>
                <a:close/>
              </a:path>
            </a:pathLst>
          </a:custGeom>
          <a:solidFill xmlns:a="http://schemas.openxmlformats.org/drawingml/2006/main">
            <a:srgbClr val="FBE5D7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6" name="Room style encoder observation">
            <a:extLst xmlns:a="http://schemas.openxmlformats.org/drawingml/2006/main">
              <a:ext uri="{FF2B5EF4-FFF2-40B4-BE49-F238E27FC236}">
                <a16:creationId xmlns:a16="http://schemas.microsoft.com/office/drawing/2014/main" id="{868C41FA-7C3D-49AB-8520-CB746FD9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200150"/>
            <a:ext cx="1400175" cy="1181100"/>
          </a:xfrm>
          <a:custGeom xmlns:a="http://schemas.openxmlformats.org/drawingml/2006/main">
            <a:pathLst>
              <a:path w="1400175" h="1181100">
                <a:moveTo>
                  <a:pt x="0" y="0"/>
                </a:moveTo>
                <a:lnTo>
                  <a:pt x="1400175" y="238125"/>
                </a:lnTo>
                <a:lnTo>
                  <a:pt x="1400175" y="942975"/>
                </a:lnTo>
                <a:lnTo>
                  <a:pt x="0" y="11811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3813">
            <a:solidFill>
              <a:srgbClr val="888888"/>
            </a:solidFill>
            <a:prstDash val="solid"/>
          </a:ln>
        </p:spPr>
      </p:sp>
      <p:sp>
        <p:nvSpPr>
          <p:cNvPr id="17" name="Room style encoder goal">
            <a:extLst xmlns:a="http://schemas.openxmlformats.org/drawingml/2006/main">
              <a:ext uri="{FF2B5EF4-FFF2-40B4-BE49-F238E27FC236}">
                <a16:creationId xmlns:a16="http://schemas.microsoft.com/office/drawing/2014/main" id="{90BD9C46-A848-4522-9C33-D8A5BB96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1400175" cy="1200150"/>
          </a:xfrm>
          <a:custGeom xmlns:a="http://schemas.openxmlformats.org/drawingml/2006/main">
            <a:pathLst>
              <a:path w="1400175" h="1200150">
                <a:moveTo>
                  <a:pt x="0" y="0"/>
                </a:moveTo>
                <a:lnTo>
                  <a:pt x="1400175" y="238125"/>
                </a:lnTo>
                <a:lnTo>
                  <a:pt x="1400175" y="962025"/>
                </a:lnTo>
                <a:lnTo>
                  <a:pt x="0" y="120015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3813">
            <a:solidFill>
              <a:srgbClr val="888888"/>
            </a:solidFill>
            <a:prstDash val="solid"/>
          </a:ln>
        </p:spPr>
      </p:sp>
      <p:sp>
        <p:nvSpPr>
          <p:cNvPr id="18" name="Room relation network">
            <a:extLst xmlns:a="http://schemas.openxmlformats.org/drawingml/2006/main">
              <a:ext uri="{FF2B5EF4-FFF2-40B4-BE49-F238E27FC236}">
                <a16:creationId xmlns:a16="http://schemas.microsoft.com/office/drawing/2014/main" id="{E19C6F49-E400-4918-8FE4-2384C96E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2057400"/>
            <a:ext cx="923925" cy="1257300"/>
          </a:xfrm>
          <a:custGeom xmlns:a="http://schemas.openxmlformats.org/drawingml/2006/main">
            <a:pathLst>
              <a:path w="923925" h="1257300">
                <a:moveTo>
                  <a:pt x="171450" y="0"/>
                </a:moveTo>
                <a:lnTo>
                  <a:pt x="752475" y="0"/>
                </a:lnTo>
                <a:cubicBezTo>
                  <a:pt x="847164" y="0"/>
                  <a:pt x="923925" y="76761"/>
                  <a:pt x="923925" y="171450"/>
                </a:cubicBezTo>
                <a:lnTo>
                  <a:pt x="923925" y="1085850"/>
                </a:lnTo>
                <a:cubicBezTo>
                  <a:pt x="923925" y="1180539"/>
                  <a:pt x="847164" y="1257300"/>
                  <a:pt x="752475" y="1257300"/>
                </a:cubicBezTo>
                <a:lnTo>
                  <a:pt x="171450" y="1257300"/>
                </a:lnTo>
                <a:cubicBezTo>
                  <a:pt x="76761" y="1257300"/>
                  <a:pt x="0" y="1180539"/>
                  <a:pt x="0" y="10858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3813">
            <a:solidFill>
              <a:srgbClr val="AAAAAA"/>
            </a:solidFill>
            <a:prstDash val="solid"/>
          </a:ln>
        </p:spPr>
      </p:sp>
      <p:sp>
        <p:nvSpPr>
          <p:cNvPr id="19" name="ResNet-9 module">
            <a:extLst xmlns:a="http://schemas.openxmlformats.org/drawingml/2006/main">
              <a:ext uri="{FF2B5EF4-FFF2-40B4-BE49-F238E27FC236}">
                <a16:creationId xmlns:a16="http://schemas.microsoft.com/office/drawing/2014/main" id="{4898C075-F0B4-496E-9029-B219EC51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048250"/>
            <a:ext cx="1400175" cy="1409700"/>
          </a:xfrm>
          <a:custGeom xmlns:a="http://schemas.openxmlformats.org/drawingml/2006/main">
            <a:pathLst>
              <a:path w="1400175" h="1409700">
                <a:moveTo>
                  <a:pt x="0" y="0"/>
                </a:moveTo>
                <a:lnTo>
                  <a:pt x="1400175" y="266700"/>
                </a:lnTo>
                <a:lnTo>
                  <a:pt x="1400175" y="1143000"/>
                </a:lnTo>
                <a:lnTo>
                  <a:pt x="0" y="1409700"/>
                </a:lnTo>
                <a:close/>
              </a:path>
            </a:pathLst>
          </a:custGeom>
          <a:solidFill xmlns:a="http://schemas.openxmlformats.org/drawingml/2006/main">
            <a:srgbClr val="D9E8FB"/>
          </a:solidFill>
          <a:ln xmlns:a="http://schemas.openxmlformats.org/drawingml/2006/main" w="23813">
            <a:solidFill>
              <a:srgbClr val="888888"/>
            </a:solidFill>
            <a:prstDash val="solid"/>
          </a:ln>
        </p:spPr>
      </p:sp>
      <p:sp>
        <p:nvSpPr>
          <p:cNvPr id="20" name="Flatten module">
            <a:extLst xmlns:a="http://schemas.openxmlformats.org/drawingml/2006/main">
              <a:ext uri="{FF2B5EF4-FFF2-40B4-BE49-F238E27FC236}">
                <a16:creationId xmlns:a16="http://schemas.microsoft.com/office/drawing/2014/main" id="{A1336160-60B3-45F5-93E2-DD2B1689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5067300"/>
            <a:ext cx="504825" cy="1295400"/>
          </a:xfrm>
          <a:custGeom xmlns:a="http://schemas.openxmlformats.org/drawingml/2006/main">
            <a:pathLst>
              <a:path w="504825" h="1295400">
                <a:moveTo>
                  <a:pt x="85725" y="0"/>
                </a:moveTo>
                <a:lnTo>
                  <a:pt x="419100" y="0"/>
                </a:lnTo>
                <a:cubicBezTo>
                  <a:pt x="466445" y="0"/>
                  <a:pt x="504825" y="38380"/>
                  <a:pt x="504825" y="85725"/>
                </a:cubicBezTo>
                <a:lnTo>
                  <a:pt x="504825" y="1209675"/>
                </a:lnTo>
                <a:cubicBezTo>
                  <a:pt x="504825" y="1257020"/>
                  <a:pt x="466445" y="1295400"/>
                  <a:pt x="419100" y="1295400"/>
                </a:cubicBezTo>
                <a:lnTo>
                  <a:pt x="85725" y="1295400"/>
                </a:lnTo>
                <a:cubicBezTo>
                  <a:pt x="38380" y="1295400"/>
                  <a:pt x="0" y="1257020"/>
                  <a:pt x="0" y="12096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D9E8FB"/>
          </a:solidFill>
          <a:ln xmlns:a="http://schemas.openxmlformats.org/drawingml/2006/main" w="23813">
            <a:solidFill>
              <a:srgbClr val="595959"/>
            </a:solidFill>
            <a:prstDash val="solid"/>
          </a:ln>
        </p:spPr>
      </p:sp>
      <p:sp>
        <p:nvSpPr>
          <p:cNvPr id="21" name="Environment">
            <a:extLst xmlns:a="http://schemas.openxmlformats.org/drawingml/2006/main">
              <a:ext uri="{FF2B5EF4-FFF2-40B4-BE49-F238E27FC236}">
                <a16:creationId xmlns:a16="http://schemas.microsoft.com/office/drawing/2014/main" id="{838DA44B-0F6B-48F5-80B5-F854136B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150"/>
            <a:ext cx="1990725" cy="609600"/>
          </a:xfrm>
          <a:custGeom xmlns:a="http://schemas.openxmlformats.org/drawingml/2006/main">
            <a:pathLst>
              <a:path w="1990725" h="609600">
                <a:moveTo>
                  <a:pt x="104775" y="0"/>
                </a:moveTo>
                <a:lnTo>
                  <a:pt x="1885950" y="0"/>
                </a:lnTo>
                <a:cubicBezTo>
                  <a:pt x="1943816" y="0"/>
                  <a:pt x="1990725" y="46909"/>
                  <a:pt x="1990725" y="104775"/>
                </a:cubicBezTo>
                <a:lnTo>
                  <a:pt x="1990725" y="504825"/>
                </a:lnTo>
                <a:cubicBezTo>
                  <a:pt x="1990725" y="562691"/>
                  <a:pt x="1943816" y="609600"/>
                  <a:pt x="1885950" y="609600"/>
                </a:cubicBezTo>
                <a:lnTo>
                  <a:pt x="104775" y="609600"/>
                </a:lnTo>
                <a:cubicBezTo>
                  <a:pt x="46909" y="609600"/>
                  <a:pt x="0" y="562691"/>
                  <a:pt x="0" y="50482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0955">
            <a:solidFill>
              <a:srgbClr val="AAAAAA"/>
            </a:solidFill>
            <a:prstDash val="solid"/>
          </a:ln>
        </p:spPr>
      </p:sp>
      <p:sp>
        <p:nvSpPr>
          <p:cNvPr id="22" name="Actions">
            <a:extLst xmlns:a="http://schemas.openxmlformats.org/drawingml/2006/main">
              <a:ext uri="{FF2B5EF4-FFF2-40B4-BE49-F238E27FC236}">
                <a16:creationId xmlns:a16="http://schemas.microsoft.com/office/drawing/2014/main" id="{657CD162-FA0A-4F90-A27C-058CE330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1428750"/>
            <a:ext cx="1619250" cy="1276350"/>
          </a:xfrm>
          <a:custGeom xmlns:a="http://schemas.openxmlformats.org/drawingml/2006/main">
            <a:pathLst>
              <a:path w="1619250" h="1276350">
                <a:moveTo>
                  <a:pt x="228600" y="0"/>
                </a:moveTo>
                <a:lnTo>
                  <a:pt x="1390650" y="0"/>
                </a:lnTo>
                <a:cubicBezTo>
                  <a:pt x="1516902" y="0"/>
                  <a:pt x="1619250" y="102348"/>
                  <a:pt x="1619250" y="228600"/>
                </a:cubicBezTo>
                <a:lnTo>
                  <a:pt x="1619250" y="1047750"/>
                </a:lnTo>
                <a:cubicBezTo>
                  <a:pt x="1619250" y="1174002"/>
                  <a:pt x="1516902" y="1276350"/>
                  <a:pt x="1390650" y="1276350"/>
                </a:cubicBezTo>
                <a:lnTo>
                  <a:pt x="228600" y="1276350"/>
                </a:lnTo>
                <a:cubicBezTo>
                  <a:pt x="102348" y="1276350"/>
                  <a:pt x="0" y="1174002"/>
                  <a:pt x="0" y="104775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0955">
            <a:solidFill>
              <a:srgbClr val="AAAAAA"/>
            </a:solidFill>
            <a:prstDash val="solid"/>
          </a:ln>
        </p:spPr>
      </p:sp>
      <p:sp>
        <p:nvSpPr>
          <p:cNvPr id="23" name="Actor">
            <a:extLst xmlns:a="http://schemas.openxmlformats.org/drawingml/2006/main">
              <a:ext uri="{FF2B5EF4-FFF2-40B4-BE49-F238E27FC236}">
                <a16:creationId xmlns:a16="http://schemas.microsoft.com/office/drawing/2014/main" id="{25C0CDD6-FEF8-45E6-AD1A-BDCF9A4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3286125"/>
            <a:ext cx="962025" cy="609600"/>
          </a:xfrm>
          <a:custGeom xmlns:a="http://schemas.openxmlformats.org/drawingml/2006/main">
            <a:pathLst>
              <a:path w="962025" h="609600">
                <a:moveTo>
                  <a:pt x="123825" y="0"/>
                </a:moveTo>
                <a:lnTo>
                  <a:pt x="838200" y="0"/>
                </a:lnTo>
                <a:cubicBezTo>
                  <a:pt x="906587" y="0"/>
                  <a:pt x="962025" y="55438"/>
                  <a:pt x="962025" y="123825"/>
                </a:cubicBezTo>
                <a:lnTo>
                  <a:pt x="962025" y="485775"/>
                </a:lnTo>
                <a:cubicBezTo>
                  <a:pt x="962025" y="554162"/>
                  <a:pt x="906587" y="609600"/>
                  <a:pt x="838200" y="609600"/>
                </a:cubicBezTo>
                <a:lnTo>
                  <a:pt x="123825" y="609600"/>
                </a:lnTo>
                <a:cubicBezTo>
                  <a:pt x="55438" y="609600"/>
                  <a:pt x="0" y="554162"/>
                  <a:pt x="0" y="48577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0955">
            <a:solidFill>
              <a:srgbClr val="AAAAAA"/>
            </a:solidFill>
            <a:prstDash val="solid"/>
          </a:ln>
        </p:spPr>
      </p:sp>
      <p:sp>
        <p:nvSpPr>
          <p:cNvPr id="24" name="Critic">
            <a:extLst xmlns:a="http://schemas.openxmlformats.org/drawingml/2006/main">
              <a:ext uri="{FF2B5EF4-FFF2-40B4-BE49-F238E27FC236}">
                <a16:creationId xmlns:a16="http://schemas.microsoft.com/office/drawing/2014/main" id="{0F5200E7-D3EA-4334-8C33-1ED1FD08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3286125"/>
            <a:ext cx="962025" cy="609600"/>
          </a:xfrm>
          <a:custGeom xmlns:a="http://schemas.openxmlformats.org/drawingml/2006/main">
            <a:pathLst>
              <a:path w="962025" h="609600">
                <a:moveTo>
                  <a:pt x="123825" y="0"/>
                </a:moveTo>
                <a:lnTo>
                  <a:pt x="838200" y="0"/>
                </a:lnTo>
                <a:cubicBezTo>
                  <a:pt x="906587" y="0"/>
                  <a:pt x="962025" y="55438"/>
                  <a:pt x="962025" y="123825"/>
                </a:cubicBezTo>
                <a:lnTo>
                  <a:pt x="962025" y="485775"/>
                </a:lnTo>
                <a:cubicBezTo>
                  <a:pt x="962025" y="554162"/>
                  <a:pt x="906587" y="609600"/>
                  <a:pt x="838200" y="609600"/>
                </a:cubicBezTo>
                <a:lnTo>
                  <a:pt x="123825" y="609600"/>
                </a:lnTo>
                <a:cubicBezTo>
                  <a:pt x="55438" y="609600"/>
                  <a:pt x="0" y="554162"/>
                  <a:pt x="0" y="48577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0955">
            <a:solidFill>
              <a:srgbClr val="AAAAAA"/>
            </a:solidFill>
            <a:prstDash val="solid"/>
          </a:ln>
        </p:spPr>
      </p:sp>
      <p:sp>
        <p:nvSpPr>
          <p:cNvPr id="25" name="Navigation policy">
            <a:extLst xmlns:a="http://schemas.openxmlformats.org/drawingml/2006/main">
              <a:ext uri="{FF2B5EF4-FFF2-40B4-BE49-F238E27FC236}">
                <a16:creationId xmlns:a16="http://schemas.microsoft.com/office/drawing/2014/main" id="{B0D0930A-0C2F-40D2-A3C3-952F836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3905250"/>
            <a:ext cx="1609725" cy="781050"/>
          </a:xfrm>
          <a:custGeom xmlns:a="http://schemas.openxmlformats.org/drawingml/2006/main">
            <a:pathLst>
              <a:path w="1609725" h="781050">
                <a:moveTo>
                  <a:pt x="133350" y="0"/>
                </a:moveTo>
                <a:lnTo>
                  <a:pt x="1476375" y="0"/>
                </a:lnTo>
                <a:cubicBezTo>
                  <a:pt x="1550022" y="0"/>
                  <a:pt x="1609725" y="59703"/>
                  <a:pt x="1609725" y="133350"/>
                </a:cubicBezTo>
                <a:lnTo>
                  <a:pt x="1609725" y="647700"/>
                </a:lnTo>
                <a:cubicBezTo>
                  <a:pt x="1609725" y="721347"/>
                  <a:pt x="1550022" y="781050"/>
                  <a:pt x="1476375" y="781050"/>
                </a:cubicBezTo>
                <a:lnTo>
                  <a:pt x="133350" y="781050"/>
                </a:lnTo>
                <a:cubicBezTo>
                  <a:pt x="59703" y="781050"/>
                  <a:pt x="0" y="721347"/>
                  <a:pt x="0" y="647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0955">
            <a:solidFill>
              <a:srgbClr val="AAAAAA"/>
            </a:solidFill>
            <a:prstDash val="solid"/>
          </a:ln>
        </p:spPr>
      </p:sp>
      <p:sp>
        <p:nvSpPr>
          <p:cNvPr id="26" name="Reward">
            <a:extLst xmlns:a="http://schemas.openxmlformats.org/drawingml/2006/main">
              <a:ext uri="{FF2B5EF4-FFF2-40B4-BE49-F238E27FC236}">
                <a16:creationId xmlns:a16="http://schemas.microsoft.com/office/drawing/2014/main" id="{8F9EF0C8-C932-4112-A002-43E9206E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5153025"/>
            <a:ext cx="1447800" cy="485775"/>
          </a:xfrm>
          <a:custGeom xmlns:a="http://schemas.openxmlformats.org/drawingml/2006/main">
            <a:pathLst>
              <a:path w="1447800" h="485775">
                <a:moveTo>
                  <a:pt x="95250" y="0"/>
                </a:moveTo>
                <a:lnTo>
                  <a:pt x="1352550" y="0"/>
                </a:lnTo>
                <a:cubicBezTo>
                  <a:pt x="1405155" y="0"/>
                  <a:pt x="1447800" y="42645"/>
                  <a:pt x="1447800" y="95250"/>
                </a:cubicBezTo>
                <a:lnTo>
                  <a:pt x="1447800" y="390525"/>
                </a:lnTo>
                <a:cubicBezTo>
                  <a:pt x="1447800" y="443130"/>
                  <a:pt x="1405155" y="485775"/>
                  <a:pt x="1352550" y="485775"/>
                </a:cubicBezTo>
                <a:lnTo>
                  <a:pt x="95250" y="485775"/>
                </a:lnTo>
                <a:cubicBezTo>
                  <a:pt x="42645" y="485775"/>
                  <a:pt x="0" y="443130"/>
                  <a:pt x="0" y="3905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0955">
            <a:solidFill>
              <a:srgbClr val="AAAAAA"/>
            </a:solidFill>
            <a:prstDash val="solid"/>
          </a:ln>
        </p:spPr>
      </p:sp>
      <p:sp>
        <p:nvSpPr>
          <p:cNvPr id="27" name="Channel concatenate boundary">
            <a:extLst xmlns:a="http://schemas.openxmlformats.org/drawingml/2006/main">
              <a:ext uri="{FF2B5EF4-FFF2-40B4-BE49-F238E27FC236}">
                <a16:creationId xmlns:a16="http://schemas.microsoft.com/office/drawing/2014/main" id="{2CC29F2E-C539-4856-ABB5-7646ED3E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33950"/>
            <a:ext cx="1981200" cy="1647825"/>
          </a:xfrm>
          <a:custGeom xmlns:a="http://schemas.openxmlformats.org/drawingml/2006/main">
            <a:pathLst>
              <a:path w="1981200" h="1647825">
                <a:moveTo>
                  <a:pt x="238125" y="0"/>
                </a:moveTo>
                <a:lnTo>
                  <a:pt x="1743075" y="0"/>
                </a:lnTo>
                <a:cubicBezTo>
                  <a:pt x="1874588" y="0"/>
                  <a:pt x="1981200" y="106612"/>
                  <a:pt x="1981200" y="238125"/>
                </a:cubicBezTo>
                <a:lnTo>
                  <a:pt x="1981200" y="1409700"/>
                </a:lnTo>
                <a:cubicBezTo>
                  <a:pt x="1981200" y="1541213"/>
                  <a:pt x="1874588" y="1647825"/>
                  <a:pt x="1743075" y="1647825"/>
                </a:cubicBezTo>
                <a:lnTo>
                  <a:pt x="238125" y="1647825"/>
                </a:lnTo>
                <a:cubicBezTo>
                  <a:pt x="106612" y="1647825"/>
                  <a:pt x="0" y="1541213"/>
                  <a:pt x="0" y="14097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95959"/>
            </a:solidFill>
            <a:prstDash val="dash"/>
          </a:ln>
        </p:spPr>
      </p:sp>
      <p:sp>
        <p:nvSpPr>
          <p:cNvPr id="28" name="Panel divider">
            <a:extLst xmlns:a="http://schemas.openxmlformats.org/drawingml/2006/main">
              <a:ext uri="{FF2B5EF4-FFF2-40B4-BE49-F238E27FC236}">
                <a16:creationId xmlns:a16="http://schemas.microsoft.com/office/drawing/2014/main" id="{A09F99E9-205E-4A83-B510-68228F44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7675"/>
            <a:ext cx="191" cy="6667500"/>
          </a:xfrm>
          <a:custGeom xmlns:a="http://schemas.openxmlformats.org/drawingml/2006/main">
            <a:pathLst>
              <a:path w="191" h="6667500">
                <a:moveTo>
                  <a:pt x="0" y="0"/>
                </a:moveTo>
                <a:lnTo>
                  <a:pt x="0" y="6667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  <a:prstDash val="dash"/>
          </a:ln>
        </p:spPr>
      </p:sp>
      <p:sp>
        <p:nvSpPr>
          <p:cNvPr id="29" name="Extracted features top">
            <a:extLst xmlns:a="http://schemas.openxmlformats.org/drawingml/2006/main">
              <a:ext uri="{FF2B5EF4-FFF2-40B4-BE49-F238E27FC236}">
                <a16:creationId xmlns:a16="http://schemas.microsoft.com/office/drawing/2014/main" id="{1EA5068F-F25C-4D01-8040-19E740CF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9775"/>
            <a:ext cx="723900" cy="285750"/>
          </a:xfrm>
          <a:custGeom xmlns:a="http://schemas.openxmlformats.org/drawingml/2006/main">
            <a:pathLst>
              <a:path w="723900" h="285750">
                <a:moveTo>
                  <a:pt x="0" y="285750"/>
                </a:moveTo>
                <a:lnTo>
                  <a:pt x="285750" y="0"/>
                </a:lnTo>
                <a:lnTo>
                  <a:pt x="723900" y="0"/>
                </a:lnTo>
                <a:lnTo>
                  <a:pt x="438150" y="28575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Extracted features right face">
            <a:extLst xmlns:a="http://schemas.openxmlformats.org/drawingml/2006/main">
              <a:ext uri="{FF2B5EF4-FFF2-40B4-BE49-F238E27FC236}">
                <a16:creationId xmlns:a16="http://schemas.microsoft.com/office/drawing/2014/main" id="{B997DE70-C79C-4CF9-8A46-6917B9A8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09775"/>
            <a:ext cx="285750" cy="742950"/>
          </a:xfrm>
          <a:custGeom xmlns:a="http://schemas.openxmlformats.org/drawingml/2006/main">
            <a:pathLst>
              <a:path w="285750" h="742950">
                <a:moveTo>
                  <a:pt x="0" y="285750"/>
                </a:moveTo>
                <a:lnTo>
                  <a:pt x="285750" y="0"/>
                </a:lnTo>
                <a:lnTo>
                  <a:pt x="285750" y="457200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C6AFB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Extracted features front">
            <a:extLst xmlns:a="http://schemas.openxmlformats.org/drawingml/2006/main">
              <a:ext uri="{FF2B5EF4-FFF2-40B4-BE49-F238E27FC236}">
                <a16:creationId xmlns:a16="http://schemas.microsoft.com/office/drawing/2014/main" id="{855FED13-845A-4DB3-89D7-280A00F1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95525"/>
            <a:ext cx="438150" cy="457200"/>
          </a:xfrm>
          <a:custGeom xmlns:a="http://schemas.openxmlformats.org/drawingml/2006/main">
            <a:pathLst>
              <a:path w="438150" h="457200">
                <a:moveTo>
                  <a:pt x="0" y="0"/>
                </a:moveTo>
                <a:lnTo>
                  <a:pt x="438150" y="0"/>
                </a:lnTo>
                <a:lnTo>
                  <a:pt x="43815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Extract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3244A132-488A-47AD-B6F6-84FB10E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100" y="2295525"/>
            <a:ext cx="191" cy="457200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Extract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A522A1A1-1172-451E-99F4-A0DF3DCE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47925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Extract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639AC5BB-9CCE-4D72-8744-87C855C9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100" y="2009775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Extract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7ACD0E4C-C76E-433E-9C81-9B3432F8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150" y="2295525"/>
            <a:ext cx="191" cy="457200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Extract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E5D27E8B-EC74-4B0F-85E1-79942DE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Extract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FC7B525F-3C82-4D69-A2C9-C8ED8AB2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150" y="2009775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Batched features top">
            <a:extLst xmlns:a="http://schemas.openxmlformats.org/drawingml/2006/main">
              <a:ext uri="{FF2B5EF4-FFF2-40B4-BE49-F238E27FC236}">
                <a16:creationId xmlns:a16="http://schemas.microsoft.com/office/drawing/2014/main" id="{1E4CB8C1-82A3-497F-9CCD-F88BDF2D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23900" cy="285750"/>
          </a:xfrm>
          <a:custGeom xmlns:a="http://schemas.openxmlformats.org/drawingml/2006/main">
            <a:pathLst>
              <a:path w="723900" h="285750">
                <a:moveTo>
                  <a:pt x="0" y="285750"/>
                </a:moveTo>
                <a:lnTo>
                  <a:pt x="285750" y="0"/>
                </a:lnTo>
                <a:lnTo>
                  <a:pt x="723900" y="0"/>
                </a:lnTo>
                <a:lnTo>
                  <a:pt x="438150" y="28575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Batched features right face">
            <a:extLst xmlns:a="http://schemas.openxmlformats.org/drawingml/2006/main">
              <a:ext uri="{FF2B5EF4-FFF2-40B4-BE49-F238E27FC236}">
                <a16:creationId xmlns:a16="http://schemas.microsoft.com/office/drawing/2014/main" id="{08B81149-FA4B-4F1D-81A2-0479E46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62375"/>
            <a:ext cx="285750" cy="742950"/>
          </a:xfrm>
          <a:custGeom xmlns:a="http://schemas.openxmlformats.org/drawingml/2006/main">
            <a:pathLst>
              <a:path w="285750" h="742950">
                <a:moveTo>
                  <a:pt x="0" y="285750"/>
                </a:moveTo>
                <a:lnTo>
                  <a:pt x="285750" y="0"/>
                </a:lnTo>
                <a:lnTo>
                  <a:pt x="285750" y="457200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C6AFB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Batched features front">
            <a:extLst xmlns:a="http://schemas.openxmlformats.org/drawingml/2006/main">
              <a:ext uri="{FF2B5EF4-FFF2-40B4-BE49-F238E27FC236}">
                <a16:creationId xmlns:a16="http://schemas.microsoft.com/office/drawing/2014/main" id="{030FECED-BA16-4E6D-BFFF-7C831971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48125"/>
            <a:ext cx="438150" cy="457200"/>
          </a:xfrm>
          <a:custGeom xmlns:a="http://schemas.openxmlformats.org/drawingml/2006/main">
            <a:pathLst>
              <a:path w="438150" h="457200">
                <a:moveTo>
                  <a:pt x="0" y="0"/>
                </a:moveTo>
                <a:lnTo>
                  <a:pt x="438150" y="0"/>
                </a:lnTo>
                <a:lnTo>
                  <a:pt x="43815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Batch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1DE796D7-0725-4314-834D-34E9C0E9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4048125"/>
            <a:ext cx="191" cy="457200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Batch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5010D267-AC36-4A52-8971-A530937D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00525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3" name="Batch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DBE3DF34-9C6D-411C-8352-55CD704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762375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Batch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65D9580E-4836-43CA-85B6-3BFED734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475" y="4048125"/>
            <a:ext cx="191" cy="457200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5" name="Batch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C825DA53-2E65-47B0-87A9-07FBA704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52925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Batch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C47A2821-D2CB-491B-A9BD-48C35A6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475" y="3762375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Shuffled features top">
            <a:extLst xmlns:a="http://schemas.openxmlformats.org/drawingml/2006/main">
              <a:ext uri="{FF2B5EF4-FFF2-40B4-BE49-F238E27FC236}">
                <a16:creationId xmlns:a16="http://schemas.microsoft.com/office/drawing/2014/main" id="{5517523F-06BD-4037-9264-78E43F0A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57800"/>
            <a:ext cx="723900" cy="285750"/>
          </a:xfrm>
          <a:custGeom xmlns:a="http://schemas.openxmlformats.org/drawingml/2006/main">
            <a:pathLst>
              <a:path w="723900" h="285750">
                <a:moveTo>
                  <a:pt x="0" y="285750"/>
                </a:moveTo>
                <a:lnTo>
                  <a:pt x="285750" y="0"/>
                </a:lnTo>
                <a:lnTo>
                  <a:pt x="723900" y="0"/>
                </a:lnTo>
                <a:lnTo>
                  <a:pt x="438150" y="28575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8" name="Shuffled features right face">
            <a:extLst xmlns:a="http://schemas.openxmlformats.org/drawingml/2006/main">
              <a:ext uri="{FF2B5EF4-FFF2-40B4-BE49-F238E27FC236}">
                <a16:creationId xmlns:a16="http://schemas.microsoft.com/office/drawing/2014/main" id="{0ED73E35-CBC0-40DE-8A25-A2974C69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57800"/>
            <a:ext cx="285750" cy="742950"/>
          </a:xfrm>
          <a:custGeom xmlns:a="http://schemas.openxmlformats.org/drawingml/2006/main">
            <a:pathLst>
              <a:path w="285750" h="742950">
                <a:moveTo>
                  <a:pt x="0" y="285750"/>
                </a:moveTo>
                <a:lnTo>
                  <a:pt x="285750" y="0"/>
                </a:lnTo>
                <a:lnTo>
                  <a:pt x="285750" y="457200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C6AFB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9" name="Shuffled features front">
            <a:extLst xmlns:a="http://schemas.openxmlformats.org/drawingml/2006/main">
              <a:ext uri="{FF2B5EF4-FFF2-40B4-BE49-F238E27FC236}">
                <a16:creationId xmlns:a16="http://schemas.microsoft.com/office/drawing/2014/main" id="{22215098-A05B-4C25-9571-EBC13B01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43550"/>
            <a:ext cx="438150" cy="457200"/>
          </a:xfrm>
          <a:custGeom xmlns:a="http://schemas.openxmlformats.org/drawingml/2006/main">
            <a:pathLst>
              <a:path w="438150" h="457200">
                <a:moveTo>
                  <a:pt x="0" y="0"/>
                </a:moveTo>
                <a:lnTo>
                  <a:pt x="438150" y="0"/>
                </a:lnTo>
                <a:lnTo>
                  <a:pt x="43815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Shuffl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251280A2-C0A3-4A40-88F9-81A7FFD2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50" y="5543550"/>
            <a:ext cx="191" cy="457200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1" name="Shuffl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9EA7DE18-4228-4BF6-9487-9AC7A898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9595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2" name="Shuffl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C8DA8C4B-231C-487D-8517-DFBDAE90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50" y="52578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3" name="Shuffl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84C43943-6F23-4865-BF13-8C6EE2C2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5543550"/>
            <a:ext cx="191" cy="457200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Shuffl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1ABDC305-8E0C-4D96-8487-7B9347B4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84835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5" name="Shuffl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2372B784-BDB0-4261-A24A-C14E5632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52578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6" name="Observation relation vector front">
            <a:extLst xmlns:a="http://schemas.openxmlformats.org/drawingml/2006/main">
              <a:ext uri="{FF2B5EF4-FFF2-40B4-BE49-F238E27FC236}">
                <a16:creationId xmlns:a16="http://schemas.microsoft.com/office/drawing/2014/main" id="{F68B77DE-B715-4C11-A544-D44FCEFD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1971675"/>
            <a:ext cx="247650" cy="228600"/>
          </a:xfrm>
          <a:custGeom xmlns:a="http://schemas.openxmlformats.org/drawingml/2006/main">
            <a:pathLst>
              <a:path w="247650" h="228600">
                <a:moveTo>
                  <a:pt x="0" y="0"/>
                </a:moveTo>
                <a:lnTo>
                  <a:pt x="247650" y="0"/>
                </a:lnTo>
                <a:lnTo>
                  <a:pt x="24765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57" name="Observation relation vector top">
            <a:extLst xmlns:a="http://schemas.openxmlformats.org/drawingml/2006/main">
              <a:ext uri="{FF2B5EF4-FFF2-40B4-BE49-F238E27FC236}">
                <a16:creationId xmlns:a16="http://schemas.microsoft.com/office/drawing/2014/main" id="{9161DEB0-3734-4E95-9BE8-2BE12AE0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1400175"/>
            <a:ext cx="819150" cy="571500"/>
          </a:xfrm>
          <a:custGeom xmlns:a="http://schemas.openxmlformats.org/drawingml/2006/main">
            <a:pathLst>
              <a:path w="819150" h="571500">
                <a:moveTo>
                  <a:pt x="0" y="571500"/>
                </a:moveTo>
                <a:lnTo>
                  <a:pt x="571500" y="0"/>
                </a:lnTo>
                <a:lnTo>
                  <a:pt x="819150" y="0"/>
                </a:lnTo>
                <a:lnTo>
                  <a:pt x="247650" y="5715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58" name="Observation relation vector side">
            <a:extLst xmlns:a="http://schemas.openxmlformats.org/drawingml/2006/main">
              <a:ext uri="{FF2B5EF4-FFF2-40B4-BE49-F238E27FC236}">
                <a16:creationId xmlns:a16="http://schemas.microsoft.com/office/drawing/2014/main" id="{FDE04A98-0D14-4C8E-9DFB-629EE061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1400175"/>
            <a:ext cx="571500" cy="800100"/>
          </a:xfrm>
          <a:custGeom xmlns:a="http://schemas.openxmlformats.org/drawingml/2006/main">
            <a:pathLst>
              <a:path w="571500" h="800100">
                <a:moveTo>
                  <a:pt x="0" y="571500"/>
                </a:moveTo>
                <a:lnTo>
                  <a:pt x="571500" y="0"/>
                </a:lnTo>
                <a:lnTo>
                  <a:pt x="571500" y="228600"/>
                </a:lnTo>
                <a:lnTo>
                  <a:pt x="0" y="800100"/>
                </a:lnTo>
                <a:close/>
              </a:path>
            </a:pathLst>
          </a:custGeom>
          <a:solidFill xmlns:a="http://schemas.openxmlformats.org/drawingml/2006/main">
            <a:srgbClr val="C6B8BD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59" name="Goal relation vector front">
            <a:extLst xmlns:a="http://schemas.openxmlformats.org/drawingml/2006/main">
              <a:ext uri="{FF2B5EF4-FFF2-40B4-BE49-F238E27FC236}">
                <a16:creationId xmlns:a16="http://schemas.microsoft.com/office/drawing/2014/main" id="{56E8DDAF-7EBF-4B69-B4D8-4744C798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3724275"/>
            <a:ext cx="247650" cy="228600"/>
          </a:xfrm>
          <a:custGeom xmlns:a="http://schemas.openxmlformats.org/drawingml/2006/main">
            <a:pathLst>
              <a:path w="247650" h="228600">
                <a:moveTo>
                  <a:pt x="0" y="0"/>
                </a:moveTo>
                <a:lnTo>
                  <a:pt x="247650" y="0"/>
                </a:lnTo>
                <a:lnTo>
                  <a:pt x="24765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60" name="Goal relation vector top">
            <a:extLst xmlns:a="http://schemas.openxmlformats.org/drawingml/2006/main">
              <a:ext uri="{FF2B5EF4-FFF2-40B4-BE49-F238E27FC236}">
                <a16:creationId xmlns:a16="http://schemas.microsoft.com/office/drawing/2014/main" id="{8BD75DEB-9ABE-49E6-BB0C-8D76D8B8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3152775"/>
            <a:ext cx="819150" cy="571500"/>
          </a:xfrm>
          <a:custGeom xmlns:a="http://schemas.openxmlformats.org/drawingml/2006/main">
            <a:pathLst>
              <a:path w="819150" h="571500">
                <a:moveTo>
                  <a:pt x="0" y="571500"/>
                </a:moveTo>
                <a:lnTo>
                  <a:pt x="571500" y="0"/>
                </a:lnTo>
                <a:lnTo>
                  <a:pt x="819150" y="0"/>
                </a:lnTo>
                <a:lnTo>
                  <a:pt x="247650" y="5715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61" name="Goal relation vector side">
            <a:extLst xmlns:a="http://schemas.openxmlformats.org/drawingml/2006/main">
              <a:ext uri="{FF2B5EF4-FFF2-40B4-BE49-F238E27FC236}">
                <a16:creationId xmlns:a16="http://schemas.microsoft.com/office/drawing/2014/main" id="{9BDA2691-607C-4A81-B6DD-61F399BB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3152775"/>
            <a:ext cx="571500" cy="800100"/>
          </a:xfrm>
          <a:custGeom xmlns:a="http://schemas.openxmlformats.org/drawingml/2006/main">
            <a:pathLst>
              <a:path w="571500" h="800100">
                <a:moveTo>
                  <a:pt x="0" y="571500"/>
                </a:moveTo>
                <a:lnTo>
                  <a:pt x="571500" y="0"/>
                </a:lnTo>
                <a:lnTo>
                  <a:pt x="571500" y="228600"/>
                </a:lnTo>
                <a:lnTo>
                  <a:pt x="0" y="800100"/>
                </a:lnTo>
                <a:close/>
              </a:path>
            </a:pathLst>
          </a:custGeom>
          <a:solidFill xmlns:a="http://schemas.openxmlformats.org/drawingml/2006/main">
            <a:srgbClr val="C6B8BD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62" name="Visual feature vector front">
            <a:extLst xmlns:a="http://schemas.openxmlformats.org/drawingml/2006/main">
              <a:ext uri="{FF2B5EF4-FFF2-40B4-BE49-F238E27FC236}">
                <a16:creationId xmlns:a16="http://schemas.microsoft.com/office/drawing/2014/main" id="{7B7F51DC-D0E0-45C2-81AE-3AD0F3D0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5924550"/>
            <a:ext cx="247650" cy="228600"/>
          </a:xfrm>
          <a:custGeom xmlns:a="http://schemas.openxmlformats.org/drawingml/2006/main">
            <a:pathLst>
              <a:path w="247650" h="228600">
                <a:moveTo>
                  <a:pt x="0" y="0"/>
                </a:moveTo>
                <a:lnTo>
                  <a:pt x="247650" y="0"/>
                </a:lnTo>
                <a:lnTo>
                  <a:pt x="24765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C4DBEC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63" name="Visual feature vector top">
            <a:extLst xmlns:a="http://schemas.openxmlformats.org/drawingml/2006/main">
              <a:ext uri="{FF2B5EF4-FFF2-40B4-BE49-F238E27FC236}">
                <a16:creationId xmlns:a16="http://schemas.microsoft.com/office/drawing/2014/main" id="{B17BCE3D-00C1-4A03-B7D2-E006BC0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5353050"/>
            <a:ext cx="819150" cy="571500"/>
          </a:xfrm>
          <a:custGeom xmlns:a="http://schemas.openxmlformats.org/drawingml/2006/main">
            <a:pathLst>
              <a:path w="819150" h="571500">
                <a:moveTo>
                  <a:pt x="0" y="571500"/>
                </a:moveTo>
                <a:lnTo>
                  <a:pt x="571500" y="0"/>
                </a:lnTo>
                <a:lnTo>
                  <a:pt x="819150" y="0"/>
                </a:lnTo>
                <a:lnTo>
                  <a:pt x="247650" y="571500"/>
                </a:lnTo>
                <a:close/>
              </a:path>
            </a:pathLst>
          </a:custGeom>
          <a:solidFill xmlns:a="http://schemas.openxmlformats.org/drawingml/2006/main">
            <a:srgbClr val="C4DBEC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64" name="Visual feature vector side">
            <a:extLst xmlns:a="http://schemas.openxmlformats.org/drawingml/2006/main">
              <a:ext uri="{FF2B5EF4-FFF2-40B4-BE49-F238E27FC236}">
                <a16:creationId xmlns:a16="http://schemas.microsoft.com/office/drawing/2014/main" id="{A3699373-DF49-40E8-AB81-60078623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353050"/>
            <a:ext cx="571500" cy="800100"/>
          </a:xfrm>
          <a:custGeom xmlns:a="http://schemas.openxmlformats.org/drawingml/2006/main">
            <a:pathLst>
              <a:path w="571500" h="800100">
                <a:moveTo>
                  <a:pt x="0" y="571500"/>
                </a:moveTo>
                <a:lnTo>
                  <a:pt x="571500" y="0"/>
                </a:lnTo>
                <a:lnTo>
                  <a:pt x="571500" y="228600"/>
                </a:lnTo>
                <a:lnTo>
                  <a:pt x="0" y="800100"/>
                </a:lnTo>
                <a:close/>
              </a:path>
            </a:pathLst>
          </a:custGeom>
          <a:solidFill xmlns:a="http://schemas.openxmlformats.org/drawingml/2006/main">
            <a:srgbClr val="B8CBDC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65" name="Distance matrix cell 1-1">
            <a:extLst xmlns:a="http://schemas.openxmlformats.org/drawingml/2006/main">
              <a:ext uri="{FF2B5EF4-FFF2-40B4-BE49-F238E27FC236}">
                <a16:creationId xmlns:a16="http://schemas.microsoft.com/office/drawing/2014/main" id="{66397915-3F49-44B1-8E51-EC92E009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288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395723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66" name="Distance matrix cell 1-2">
            <a:extLst xmlns:a="http://schemas.openxmlformats.org/drawingml/2006/main">
              <a:ext uri="{FF2B5EF4-FFF2-40B4-BE49-F238E27FC236}">
                <a16:creationId xmlns:a16="http://schemas.microsoft.com/office/drawing/2014/main" id="{3526A10B-80D0-42A8-B90D-F2276F21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8288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538234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67" name="Distance matrix cell 1-3">
            <a:extLst xmlns:a="http://schemas.openxmlformats.org/drawingml/2006/main">
              <a:ext uri="{FF2B5EF4-FFF2-40B4-BE49-F238E27FC236}">
                <a16:creationId xmlns:a16="http://schemas.microsoft.com/office/drawing/2014/main" id="{5B17D63A-B66B-47C7-8C66-5049552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288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A8D18D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68" name="Distance matrix cell 1-4">
            <a:extLst xmlns:a="http://schemas.openxmlformats.org/drawingml/2006/main">
              <a:ext uri="{FF2B5EF4-FFF2-40B4-BE49-F238E27FC236}">
                <a16:creationId xmlns:a16="http://schemas.microsoft.com/office/drawing/2014/main" id="{51D5C3B0-985E-482F-9491-C9DEDE70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288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69" name="Distance matrix cell 1-5">
            <a:extLst xmlns:a="http://schemas.openxmlformats.org/drawingml/2006/main">
              <a:ext uri="{FF2B5EF4-FFF2-40B4-BE49-F238E27FC236}">
                <a16:creationId xmlns:a16="http://schemas.microsoft.com/office/drawing/2014/main" id="{9C3ECF79-05C2-4333-9B66-9C301634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288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0" name="Distance matrix cell 2-1">
            <a:extLst xmlns:a="http://schemas.openxmlformats.org/drawingml/2006/main">
              <a:ext uri="{FF2B5EF4-FFF2-40B4-BE49-F238E27FC236}">
                <a16:creationId xmlns:a16="http://schemas.microsoft.com/office/drawing/2014/main" id="{F85730CD-D9E7-4D55-858D-DFDBF24D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1" name="Distance matrix cell 2-2">
            <a:extLst xmlns:a="http://schemas.openxmlformats.org/drawingml/2006/main">
              <a:ext uri="{FF2B5EF4-FFF2-40B4-BE49-F238E27FC236}">
                <a16:creationId xmlns:a16="http://schemas.microsoft.com/office/drawing/2014/main" id="{F0CF08D5-488E-4844-971D-E2F1F20D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0478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2F5596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2" name="Distance matrix cell 2-3">
            <a:extLst xmlns:a="http://schemas.openxmlformats.org/drawingml/2006/main">
              <a:ext uri="{FF2B5EF4-FFF2-40B4-BE49-F238E27FC236}">
                <a16:creationId xmlns:a16="http://schemas.microsoft.com/office/drawing/2014/main" id="{4C28E9C7-93FA-4107-AD36-B1143A21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478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8FABDD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3" name="Distance matrix cell 2-4">
            <a:extLst xmlns:a="http://schemas.openxmlformats.org/drawingml/2006/main">
              <a:ext uri="{FF2B5EF4-FFF2-40B4-BE49-F238E27FC236}">
                <a16:creationId xmlns:a16="http://schemas.microsoft.com/office/drawing/2014/main" id="{58B20737-BC92-4DFD-AD75-FF3C781F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478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4" name="Distance matrix cell 2-5">
            <a:extLst xmlns:a="http://schemas.openxmlformats.org/drawingml/2006/main">
              <a:ext uri="{FF2B5EF4-FFF2-40B4-BE49-F238E27FC236}">
                <a16:creationId xmlns:a16="http://schemas.microsoft.com/office/drawing/2014/main" id="{04C4B36F-863E-434A-BC8B-C574F90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478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DAE3F4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5" name="Distance matrix cell 3-1">
            <a:extLst xmlns:a="http://schemas.openxmlformats.org/drawingml/2006/main">
              <a:ext uri="{FF2B5EF4-FFF2-40B4-BE49-F238E27FC236}">
                <a16:creationId xmlns:a16="http://schemas.microsoft.com/office/drawing/2014/main" id="{0CDF1BC6-4235-4423-B0C1-DAB937A8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7E6000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6" name="Distance matrix cell 3-2">
            <a:extLst xmlns:a="http://schemas.openxmlformats.org/drawingml/2006/main">
              <a:ext uri="{FF2B5EF4-FFF2-40B4-BE49-F238E27FC236}">
                <a16:creationId xmlns:a16="http://schemas.microsoft.com/office/drawing/2014/main" id="{B2925D8E-83FA-4A63-A4A0-AB024A92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669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BF9100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7" name="Distance matrix cell 3-3">
            <a:extLst xmlns:a="http://schemas.openxmlformats.org/drawingml/2006/main">
              <a:ext uri="{FF2B5EF4-FFF2-40B4-BE49-F238E27FC236}">
                <a16:creationId xmlns:a16="http://schemas.microsoft.com/office/drawing/2014/main" id="{AAA6B3EB-1D87-434E-82E2-9DC1D1CB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669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ED966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8" name="Distance matrix cell 3-4">
            <a:extLst xmlns:a="http://schemas.openxmlformats.org/drawingml/2006/main">
              <a:ext uri="{FF2B5EF4-FFF2-40B4-BE49-F238E27FC236}">
                <a16:creationId xmlns:a16="http://schemas.microsoft.com/office/drawing/2014/main" id="{B52C78C0-3958-4ADC-9EE6-1B11BEAC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2669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79" name="Distance matrix cell 3-5">
            <a:extLst xmlns:a="http://schemas.openxmlformats.org/drawingml/2006/main">
              <a:ext uri="{FF2B5EF4-FFF2-40B4-BE49-F238E27FC236}">
                <a16:creationId xmlns:a16="http://schemas.microsoft.com/office/drawing/2014/main" id="{0863DC89-5A85-4019-8F3B-57C1EF1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FF2CD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0" name="Distance matrix cell 4-1">
            <a:extLst xmlns:a="http://schemas.openxmlformats.org/drawingml/2006/main">
              <a:ext uri="{FF2B5EF4-FFF2-40B4-BE49-F238E27FC236}">
                <a16:creationId xmlns:a16="http://schemas.microsoft.com/office/drawing/2014/main" id="{E7DF993F-83B0-439D-8171-9C640925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860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1" name="Distance matrix cell 4-2">
            <a:extLst xmlns:a="http://schemas.openxmlformats.org/drawingml/2006/main">
              <a:ext uri="{FF2B5EF4-FFF2-40B4-BE49-F238E27FC236}">
                <a16:creationId xmlns:a16="http://schemas.microsoft.com/office/drawing/2014/main" id="{02E0DDC4-0145-4CCC-9F70-BEF8720F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860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C55B11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2" name="Distance matrix cell 4-3">
            <a:extLst xmlns:a="http://schemas.openxmlformats.org/drawingml/2006/main">
              <a:ext uri="{FF2B5EF4-FFF2-40B4-BE49-F238E27FC236}">
                <a16:creationId xmlns:a16="http://schemas.microsoft.com/office/drawing/2014/main" id="{F18ADA78-27E8-4CA8-AE00-EB6A8EF6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860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4B184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3" name="Distance matrix cell 4-4">
            <a:extLst xmlns:a="http://schemas.openxmlformats.org/drawingml/2006/main">
              <a:ext uri="{FF2B5EF4-FFF2-40B4-BE49-F238E27FC236}">
                <a16:creationId xmlns:a16="http://schemas.microsoft.com/office/drawing/2014/main" id="{EBB93968-2313-4A0F-AB59-1C8D59D1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860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8CBAC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4" name="Distance matrix cell 4-5">
            <a:extLst xmlns:a="http://schemas.openxmlformats.org/drawingml/2006/main">
              <a:ext uri="{FF2B5EF4-FFF2-40B4-BE49-F238E27FC236}">
                <a16:creationId xmlns:a16="http://schemas.microsoft.com/office/drawing/2014/main" id="{8DA6F7B2-8DC6-4A8A-B331-191C06E3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860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BE5D7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5" name="Distance matrix cell 5-1">
            <a:extLst xmlns:a="http://schemas.openxmlformats.org/drawingml/2006/main">
              <a:ext uri="{FF2B5EF4-FFF2-40B4-BE49-F238E27FC236}">
                <a16:creationId xmlns:a16="http://schemas.microsoft.com/office/drawing/2014/main" id="{AB3DEED3-D027-40F1-A534-664785E4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051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6" name="Distance matrix cell 5-2">
            <a:extLst xmlns:a="http://schemas.openxmlformats.org/drawingml/2006/main">
              <a:ext uri="{FF2B5EF4-FFF2-40B4-BE49-F238E27FC236}">
                <a16:creationId xmlns:a16="http://schemas.microsoft.com/office/drawing/2014/main" id="{486BA389-2A3B-477F-BCB8-A569DF8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051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7" name="Distance matrix cell 5-3">
            <a:extLst xmlns:a="http://schemas.openxmlformats.org/drawingml/2006/main">
              <a:ext uri="{FF2B5EF4-FFF2-40B4-BE49-F238E27FC236}">
                <a16:creationId xmlns:a16="http://schemas.microsoft.com/office/drawing/2014/main" id="{37D605EC-0268-4C5A-86F9-57C144A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8" name="Distance matrix cell 5-4">
            <a:extLst xmlns:a="http://schemas.openxmlformats.org/drawingml/2006/main">
              <a:ext uri="{FF2B5EF4-FFF2-40B4-BE49-F238E27FC236}">
                <a16:creationId xmlns:a16="http://schemas.microsoft.com/office/drawing/2014/main" id="{C4DC7E2B-3B29-4B39-A10B-D9D68601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051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89" name="Distance matrix cell 5-5">
            <a:extLst xmlns:a="http://schemas.openxmlformats.org/drawingml/2006/main">
              <a:ext uri="{FF2B5EF4-FFF2-40B4-BE49-F238E27FC236}">
                <a16:creationId xmlns:a16="http://schemas.microsoft.com/office/drawing/2014/main" id="{DAD5438D-B134-4061-A4A8-22146134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051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595959"/>
            </a:solidFill>
            <a:prstDash val="solid"/>
          </a:ln>
        </p:spPr>
      </p:sp>
      <p:sp>
        <p:nvSpPr>
          <p:cNvPr id="90" name="Cluster assignment stripes">
            <a:extLst xmlns:a="http://schemas.openxmlformats.org/drawingml/2006/main">
              <a:ext uri="{FF2B5EF4-FFF2-40B4-BE49-F238E27FC236}">
                <a16:creationId xmlns:a16="http://schemas.microsoft.com/office/drawing/2014/main" id="{F836CE0D-9882-4001-8EAB-2074713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542925" cy="971550"/>
          </a:xfrm>
          <a:custGeom xmlns:a="http://schemas.openxmlformats.org/drawingml/2006/main">
            <a:pathLst>
              <a:path w="542925" h="971550">
                <a:moveTo>
                  <a:pt x="85725" y="0"/>
                </a:moveTo>
                <a:lnTo>
                  <a:pt x="457200" y="0"/>
                </a:lnTo>
                <a:cubicBezTo>
                  <a:pt x="504545" y="0"/>
                  <a:pt x="542925" y="38380"/>
                  <a:pt x="542925" y="85725"/>
                </a:cubicBezTo>
                <a:lnTo>
                  <a:pt x="542925" y="885825"/>
                </a:lnTo>
                <a:cubicBezTo>
                  <a:pt x="542925" y="933170"/>
                  <a:pt x="504545" y="971550"/>
                  <a:pt x="457200" y="971550"/>
                </a:cubicBezTo>
                <a:lnTo>
                  <a:pt x="85725" y="971550"/>
                </a:lnTo>
                <a:cubicBezTo>
                  <a:pt x="38380" y="971550"/>
                  <a:pt x="0" y="933170"/>
                  <a:pt x="0" y="88582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88888"/>
            </a:solidFill>
            <a:prstDash val="solid"/>
          </a:ln>
        </p:spPr>
      </p:sp>
      <p:sp>
        <p:nvSpPr>
          <p:cNvPr id="91" name="Cluster assignment stripe 1">
            <a:extLst xmlns:a="http://schemas.openxmlformats.org/drawingml/2006/main">
              <a:ext uri="{FF2B5EF4-FFF2-40B4-BE49-F238E27FC236}">
                <a16:creationId xmlns:a16="http://schemas.microsoft.com/office/drawing/2014/main" id="{9B87FA24-35D2-4ED0-8320-C584F085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81200"/>
            <a:ext cx="428625" cy="47625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A7D08E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2" name="Cluster assignment stripe 2">
            <a:extLst xmlns:a="http://schemas.openxmlformats.org/drawingml/2006/main">
              <a:ext uri="{FF2B5EF4-FFF2-40B4-BE49-F238E27FC236}">
                <a16:creationId xmlns:a16="http://schemas.microsoft.com/office/drawing/2014/main" id="{658FD8F2-92F1-4895-8CF6-E50D571A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28625" cy="47625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9DC3E7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3" name="Cluster assignment stripe 3">
            <a:extLst xmlns:a="http://schemas.openxmlformats.org/drawingml/2006/main">
              <a:ext uri="{FF2B5EF4-FFF2-40B4-BE49-F238E27FC236}">
                <a16:creationId xmlns:a16="http://schemas.microsoft.com/office/drawing/2014/main" id="{A9581F20-C149-4829-AED7-1E18E1AD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09800"/>
            <a:ext cx="428625" cy="47625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FEE697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4" name="Cluster assignment stripe 4">
            <a:extLst xmlns:a="http://schemas.openxmlformats.org/drawingml/2006/main">
              <a:ext uri="{FF2B5EF4-FFF2-40B4-BE49-F238E27FC236}">
                <a16:creationId xmlns:a16="http://schemas.microsoft.com/office/drawing/2014/main" id="{A1F9081F-E1CB-4E08-82D1-AADD2A6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24100"/>
            <a:ext cx="428625" cy="47625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F3B182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5" name="Cluster assignment stripe 5">
            <a:extLst xmlns:a="http://schemas.openxmlformats.org/drawingml/2006/main">
              <a:ext uri="{FF2B5EF4-FFF2-40B4-BE49-F238E27FC236}">
                <a16:creationId xmlns:a16="http://schemas.microsoft.com/office/drawing/2014/main" id="{9777525E-5F64-4F02-9ED7-5D2B5CF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428625" cy="47625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6" name="Cluster assignment stripe 6">
            <a:extLst xmlns:a="http://schemas.openxmlformats.org/drawingml/2006/main">
              <a:ext uri="{FF2B5EF4-FFF2-40B4-BE49-F238E27FC236}">
                <a16:creationId xmlns:a16="http://schemas.microsoft.com/office/drawing/2014/main" id="{C266974D-C258-4511-8DB4-82ED79B8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428625" cy="47625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8497A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7" name="Cluster assignment stripe 7">
            <a:extLst xmlns:a="http://schemas.openxmlformats.org/drawingml/2006/main">
              <a:ext uri="{FF2B5EF4-FFF2-40B4-BE49-F238E27FC236}">
                <a16:creationId xmlns:a16="http://schemas.microsoft.com/office/drawing/2014/main" id="{1FD9A3EF-3A8A-4E16-9F6E-C20AF77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428625" cy="47625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A7D18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8" name="Cluster assignment stripe 8">
            <a:extLst xmlns:a="http://schemas.openxmlformats.org/drawingml/2006/main">
              <a:ext uri="{FF2B5EF4-FFF2-40B4-BE49-F238E27FC236}">
                <a16:creationId xmlns:a16="http://schemas.microsoft.com/office/drawing/2014/main" id="{D4FE3D38-D660-4308-8190-BD3A983F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28625" cy="47625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99" name="Constraint relation edge">
            <a:extLst xmlns:a="http://schemas.openxmlformats.org/drawingml/2006/main">
              <a:ext uri="{FF2B5EF4-FFF2-40B4-BE49-F238E27FC236}">
                <a16:creationId xmlns:a16="http://schemas.microsoft.com/office/drawing/2014/main" id="{DE9BDBB4-5518-49D8-B355-DDF2EF73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19175"/>
            <a:ext cx="352425" cy="114300"/>
          </a:xfrm>
          <a:custGeom xmlns:a="http://schemas.openxmlformats.org/drawingml/2006/main">
            <a:pathLst>
              <a:path w="352425" h="114300">
                <a:moveTo>
                  <a:pt x="0" y="11430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7777"/>
            </a:solidFill>
            <a:prstDash val="solid"/>
          </a:ln>
        </p:spPr>
      </p:sp>
      <p:sp>
        <p:nvSpPr>
          <p:cNvPr id="100" name="Constraint relation edge">
            <a:extLst xmlns:a="http://schemas.openxmlformats.org/drawingml/2006/main">
              <a:ext uri="{FF2B5EF4-FFF2-40B4-BE49-F238E27FC236}">
                <a16:creationId xmlns:a16="http://schemas.microsoft.com/office/drawing/2014/main" id="{75F13769-5EEC-442B-9CA9-CBF65503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019175"/>
            <a:ext cx="533400" cy="38100"/>
          </a:xfrm>
          <a:custGeom xmlns:a="http://schemas.openxmlformats.org/drawingml/2006/main">
            <a:pathLst>
              <a:path w="533400" h="38100">
                <a:moveTo>
                  <a:pt x="0" y="0"/>
                </a:moveTo>
                <a:lnTo>
                  <a:pt x="53340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7777"/>
            </a:solidFill>
            <a:prstDash val="solid"/>
          </a:ln>
        </p:spPr>
      </p:sp>
      <p:sp>
        <p:nvSpPr>
          <p:cNvPr id="101" name="Constraint relation edge">
            <a:extLst xmlns:a="http://schemas.openxmlformats.org/drawingml/2006/main">
              <a:ext uri="{FF2B5EF4-FFF2-40B4-BE49-F238E27FC236}">
                <a16:creationId xmlns:a16="http://schemas.microsoft.com/office/drawing/2014/main" id="{F4207E7B-4307-4BFC-84E1-FE0A7D82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71600"/>
            <a:ext cx="352425" cy="95250"/>
          </a:xfrm>
          <a:custGeom xmlns:a="http://schemas.openxmlformats.org/drawingml/2006/main">
            <a:pathLst>
              <a:path w="352425" h="95250">
                <a:moveTo>
                  <a:pt x="0" y="0"/>
                </a:moveTo>
                <a:lnTo>
                  <a:pt x="35242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7777"/>
            </a:solidFill>
            <a:prstDash val="solid"/>
          </a:ln>
        </p:spPr>
      </p:sp>
      <p:sp>
        <p:nvSpPr>
          <p:cNvPr id="102" name="Constraint relation edge">
            <a:extLst xmlns:a="http://schemas.openxmlformats.org/drawingml/2006/main">
              <a:ext uri="{FF2B5EF4-FFF2-40B4-BE49-F238E27FC236}">
                <a16:creationId xmlns:a16="http://schemas.microsoft.com/office/drawing/2014/main" id="{54710588-BA77-476B-9546-51D580D5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323975"/>
            <a:ext cx="333375" cy="171450"/>
          </a:xfrm>
          <a:custGeom xmlns:a="http://schemas.openxmlformats.org/drawingml/2006/main">
            <a:pathLst>
              <a:path w="333375" h="171450">
                <a:moveTo>
                  <a:pt x="0" y="0"/>
                </a:moveTo>
                <a:lnTo>
                  <a:pt x="33337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77777"/>
            </a:solidFill>
            <a:prstDash val="solid"/>
          </a:ln>
        </p:spPr>
      </p:sp>
      <p:sp>
        <p:nvSpPr>
          <p:cNvPr id="103" name="Constraint node 1">
            <a:extLst xmlns:a="http://schemas.openxmlformats.org/drawingml/2006/main">
              <a:ext uri="{FF2B5EF4-FFF2-40B4-BE49-F238E27FC236}">
                <a16:creationId xmlns:a16="http://schemas.microsoft.com/office/drawing/2014/main" id="{84764EC9-2D5C-4991-838D-86181353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047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4" name="Constraint node 2">
            <a:extLst xmlns:a="http://schemas.openxmlformats.org/drawingml/2006/main">
              <a:ext uri="{FF2B5EF4-FFF2-40B4-BE49-F238E27FC236}">
                <a16:creationId xmlns:a16="http://schemas.microsoft.com/office/drawing/2014/main" id="{F7D564C2-4219-4B98-8014-9770731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9334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5" name="Constraint node 3">
            <a:extLst xmlns:a="http://schemas.openxmlformats.org/drawingml/2006/main">
              <a:ext uri="{FF2B5EF4-FFF2-40B4-BE49-F238E27FC236}">
                <a16:creationId xmlns:a16="http://schemas.microsoft.com/office/drawing/2014/main" id="{04CED4C4-2E98-47D1-9B57-6918FEAF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0287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6" name="Constraint node 4">
            <a:extLst xmlns:a="http://schemas.openxmlformats.org/drawingml/2006/main">
              <a:ext uri="{FF2B5EF4-FFF2-40B4-BE49-F238E27FC236}">
                <a16:creationId xmlns:a16="http://schemas.microsoft.com/office/drawing/2014/main" id="{7E886BBC-CE73-450D-9FEB-01BD2A84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971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7" name="Constraint node 5">
            <a:extLst xmlns:a="http://schemas.openxmlformats.org/drawingml/2006/main">
              <a:ext uri="{FF2B5EF4-FFF2-40B4-BE49-F238E27FC236}">
                <a16:creationId xmlns:a16="http://schemas.microsoft.com/office/drawing/2014/main" id="{8AB96E53-E7BD-47D1-8EE2-05910B7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858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8" name="Constraint node 6">
            <a:extLst xmlns:a="http://schemas.openxmlformats.org/drawingml/2006/main">
              <a:ext uri="{FF2B5EF4-FFF2-40B4-BE49-F238E27FC236}">
                <a16:creationId xmlns:a16="http://schemas.microsoft.com/office/drawing/2014/main" id="{8D3D4456-64FC-49C7-A410-B754364F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238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09" name="Constraint node 7">
            <a:extLst xmlns:a="http://schemas.openxmlformats.org/drawingml/2006/main">
              <a:ext uri="{FF2B5EF4-FFF2-40B4-BE49-F238E27FC236}">
                <a16:creationId xmlns:a16="http://schemas.microsoft.com/office/drawing/2014/main" id="{B09E9B3E-DEC5-4890-B8DD-67234662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097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10" name="Constraint yellow diamond">
            <a:extLst xmlns:a="http://schemas.openxmlformats.org/drawingml/2006/main">
              <a:ext uri="{FF2B5EF4-FFF2-40B4-BE49-F238E27FC236}">
                <a16:creationId xmlns:a16="http://schemas.microsoft.com/office/drawing/2014/main" id="{C584E3E7-8715-48FF-9ECF-435E4452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362075"/>
            <a:ext cx="152400" cy="161925"/>
          </a:xfrm>
          <a:custGeom xmlns:a="http://schemas.openxmlformats.org/drawingml/2006/main">
            <a:pathLst>
              <a:path w="152400" h="161925">
                <a:moveTo>
                  <a:pt x="76200" y="0"/>
                </a:moveTo>
                <a:lnTo>
                  <a:pt x="152400" y="76200"/>
                </a:lnTo>
                <a:lnTo>
                  <a:pt x="76200" y="161925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11" name="Relation prediction card 1">
            <a:extLst xmlns:a="http://schemas.openxmlformats.org/drawingml/2006/main">
              <a:ext uri="{FF2B5EF4-FFF2-40B4-BE49-F238E27FC236}">
                <a16:creationId xmlns:a16="http://schemas.microsoft.com/office/drawing/2014/main" id="{2FECC72C-3160-41F4-B2E4-61CA4F71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43400"/>
            <a:ext cx="323850" cy="809625"/>
          </a:xfrm>
          <a:custGeom xmlns:a="http://schemas.openxmlformats.org/drawingml/2006/main">
            <a:pathLst>
              <a:path w="323850" h="809625">
                <a:moveTo>
                  <a:pt x="0" y="0"/>
                </a:moveTo>
                <a:lnTo>
                  <a:pt x="323850" y="0"/>
                </a:lnTo>
                <a:lnTo>
                  <a:pt x="32385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2" name="Relation prediction card pink region 1">
            <a:extLst xmlns:a="http://schemas.openxmlformats.org/drawingml/2006/main">
              <a:ext uri="{FF2B5EF4-FFF2-40B4-BE49-F238E27FC236}">
                <a16:creationId xmlns:a16="http://schemas.microsoft.com/office/drawing/2014/main" id="{6948ED6F-AEEE-44B7-AA92-256EE25F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762500"/>
            <a:ext cx="323850" cy="390525"/>
          </a:xfrm>
          <a:custGeom xmlns:a="http://schemas.openxmlformats.org/drawingml/2006/main">
            <a:pathLst>
              <a:path w="323850" h="390525">
                <a:moveTo>
                  <a:pt x="0" y="0"/>
                </a:moveTo>
                <a:lnTo>
                  <a:pt x="323850" y="0"/>
                </a:lnTo>
                <a:lnTo>
                  <a:pt x="32385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3" name="Relation prediction card 2">
            <a:extLst xmlns:a="http://schemas.openxmlformats.org/drawingml/2006/main">
              <a:ext uri="{FF2B5EF4-FFF2-40B4-BE49-F238E27FC236}">
                <a16:creationId xmlns:a16="http://schemas.microsoft.com/office/drawing/2014/main" id="{74CB64F7-85E5-4E8C-9A89-80503DDF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323850" cy="809625"/>
          </a:xfrm>
          <a:custGeom xmlns:a="http://schemas.openxmlformats.org/drawingml/2006/main">
            <a:pathLst>
              <a:path w="323850" h="809625">
                <a:moveTo>
                  <a:pt x="0" y="0"/>
                </a:moveTo>
                <a:lnTo>
                  <a:pt x="323850" y="0"/>
                </a:lnTo>
                <a:lnTo>
                  <a:pt x="32385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4" name="Relation prediction card pink region 2">
            <a:extLst xmlns:a="http://schemas.openxmlformats.org/drawingml/2006/main">
              <a:ext uri="{FF2B5EF4-FFF2-40B4-BE49-F238E27FC236}">
                <a16:creationId xmlns:a16="http://schemas.microsoft.com/office/drawing/2014/main" id="{115B466F-3C21-47E5-906F-B28A0848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323850" cy="390525"/>
          </a:xfrm>
          <a:custGeom xmlns:a="http://schemas.openxmlformats.org/drawingml/2006/main">
            <a:pathLst>
              <a:path w="323850" h="390525">
                <a:moveTo>
                  <a:pt x="0" y="0"/>
                </a:moveTo>
                <a:lnTo>
                  <a:pt x="323850" y="0"/>
                </a:lnTo>
                <a:lnTo>
                  <a:pt x="32385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5" name="Relation prediction card 3">
            <a:extLst xmlns:a="http://schemas.openxmlformats.org/drawingml/2006/main">
              <a:ext uri="{FF2B5EF4-FFF2-40B4-BE49-F238E27FC236}">
                <a16:creationId xmlns:a16="http://schemas.microsoft.com/office/drawing/2014/main" id="{A0F8DE8A-EB3B-4EAB-9540-8C9A0563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33900"/>
            <a:ext cx="323850" cy="809625"/>
          </a:xfrm>
          <a:custGeom xmlns:a="http://schemas.openxmlformats.org/drawingml/2006/main">
            <a:pathLst>
              <a:path w="323850" h="809625">
                <a:moveTo>
                  <a:pt x="0" y="0"/>
                </a:moveTo>
                <a:lnTo>
                  <a:pt x="323850" y="0"/>
                </a:lnTo>
                <a:lnTo>
                  <a:pt x="32385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6" name="Relation prediction card pink region 3">
            <a:extLst xmlns:a="http://schemas.openxmlformats.org/drawingml/2006/main">
              <a:ext uri="{FF2B5EF4-FFF2-40B4-BE49-F238E27FC236}">
                <a16:creationId xmlns:a16="http://schemas.microsoft.com/office/drawing/2014/main" id="{C881E23F-1FAB-4273-B669-8849B540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53000"/>
            <a:ext cx="323850" cy="390525"/>
          </a:xfrm>
          <a:custGeom xmlns:a="http://schemas.openxmlformats.org/drawingml/2006/main">
            <a:pathLst>
              <a:path w="323850" h="390525">
                <a:moveTo>
                  <a:pt x="0" y="0"/>
                </a:moveTo>
                <a:lnTo>
                  <a:pt x="323850" y="0"/>
                </a:lnTo>
                <a:lnTo>
                  <a:pt x="32385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7" name="Relation prediction card 4">
            <a:extLst xmlns:a="http://schemas.openxmlformats.org/drawingml/2006/main">
              <a:ext uri="{FF2B5EF4-FFF2-40B4-BE49-F238E27FC236}">
                <a16:creationId xmlns:a16="http://schemas.microsoft.com/office/drawing/2014/main" id="{67FF318C-8937-486E-95AD-C93888EF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29150"/>
            <a:ext cx="323850" cy="809625"/>
          </a:xfrm>
          <a:custGeom xmlns:a="http://schemas.openxmlformats.org/drawingml/2006/main">
            <a:pathLst>
              <a:path w="323850" h="809625">
                <a:moveTo>
                  <a:pt x="0" y="0"/>
                </a:moveTo>
                <a:lnTo>
                  <a:pt x="323850" y="0"/>
                </a:lnTo>
                <a:lnTo>
                  <a:pt x="32385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8" name="Relation prediction card pink region 4">
            <a:extLst xmlns:a="http://schemas.openxmlformats.org/drawingml/2006/main">
              <a:ext uri="{FF2B5EF4-FFF2-40B4-BE49-F238E27FC236}">
                <a16:creationId xmlns:a16="http://schemas.microsoft.com/office/drawing/2014/main" id="{7C4517C4-416B-4182-953A-3ADEFC5E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48250"/>
            <a:ext cx="323850" cy="390525"/>
          </a:xfrm>
          <a:custGeom xmlns:a="http://schemas.openxmlformats.org/drawingml/2006/main">
            <a:pathLst>
              <a:path w="323850" h="390525">
                <a:moveTo>
                  <a:pt x="0" y="0"/>
                </a:moveTo>
                <a:lnTo>
                  <a:pt x="323850" y="0"/>
                </a:lnTo>
                <a:lnTo>
                  <a:pt x="32385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9" name="Room relation output vector">
            <a:extLst xmlns:a="http://schemas.openxmlformats.org/drawingml/2006/main">
              <a:ext uri="{FF2B5EF4-FFF2-40B4-BE49-F238E27FC236}">
                <a16:creationId xmlns:a16="http://schemas.microsoft.com/office/drawing/2014/main" id="{4898EB90-F2C7-444E-9394-5D67D59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286000"/>
            <a:ext cx="333375" cy="819150"/>
          </a:xfrm>
          <a:custGeom xmlns:a="http://schemas.openxmlformats.org/drawingml/2006/main">
            <a:pathLst>
              <a:path w="333375" h="819150">
                <a:moveTo>
                  <a:pt x="0" y="0"/>
                </a:moveTo>
                <a:lnTo>
                  <a:pt x="333375" y="0"/>
                </a:lnTo>
                <a:lnTo>
                  <a:pt x="333375" y="81915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0" name="Room relation output pink segment">
            <a:extLst xmlns:a="http://schemas.openxmlformats.org/drawingml/2006/main">
              <a:ext uri="{FF2B5EF4-FFF2-40B4-BE49-F238E27FC236}">
                <a16:creationId xmlns:a16="http://schemas.microsoft.com/office/drawing/2014/main" id="{8C25C114-40FB-4644-A8E7-578D85D8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695575"/>
            <a:ext cx="333375" cy="409575"/>
          </a:xfrm>
          <a:custGeom xmlns:a="http://schemas.openxmlformats.org/drawingml/2006/main">
            <a:pathLst>
              <a:path w="333375" h="409575">
                <a:moveTo>
                  <a:pt x="0" y="0"/>
                </a:moveTo>
                <a:lnTo>
                  <a:pt x="333375" y="0"/>
                </a:lnTo>
                <a:lnTo>
                  <a:pt x="333375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1" name="Visual feature output segment 1">
            <a:extLst xmlns:a="http://schemas.openxmlformats.org/drawingml/2006/main">
              <a:ext uri="{FF2B5EF4-FFF2-40B4-BE49-F238E27FC236}">
                <a16:creationId xmlns:a16="http://schemas.microsoft.com/office/drawing/2014/main" id="{22EC9AD4-2484-429E-8297-F23743ED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4933950"/>
            <a:ext cx="342900" cy="400050"/>
          </a:xfrm>
          <a:custGeom xmlns:a="http://schemas.openxmlformats.org/drawingml/2006/main">
            <a:pathLst>
              <a:path w="342900" h="400050">
                <a:moveTo>
                  <a:pt x="0" y="0"/>
                </a:moveTo>
                <a:lnTo>
                  <a:pt x="342900" y="0"/>
                </a:lnTo>
                <a:lnTo>
                  <a:pt x="3429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DEEAF6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2" name="Visual feature output segment 2">
            <a:extLst xmlns:a="http://schemas.openxmlformats.org/drawingml/2006/main">
              <a:ext uri="{FF2B5EF4-FFF2-40B4-BE49-F238E27FC236}">
                <a16:creationId xmlns:a16="http://schemas.microsoft.com/office/drawing/2014/main" id="{EC0564E8-8021-42C7-B33F-2A6473C2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5334000"/>
            <a:ext cx="342900" cy="400050"/>
          </a:xfrm>
          <a:custGeom xmlns:a="http://schemas.openxmlformats.org/drawingml/2006/main">
            <a:pathLst>
              <a:path w="342900" h="400050">
                <a:moveTo>
                  <a:pt x="0" y="0"/>
                </a:moveTo>
                <a:lnTo>
                  <a:pt x="342900" y="0"/>
                </a:lnTo>
                <a:lnTo>
                  <a:pt x="3429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3" name="Visual feature output segment 3">
            <a:extLst xmlns:a="http://schemas.openxmlformats.org/drawingml/2006/main">
              <a:ext uri="{FF2B5EF4-FFF2-40B4-BE49-F238E27FC236}">
                <a16:creationId xmlns:a16="http://schemas.microsoft.com/office/drawing/2014/main" id="{D07EB48D-65DF-4234-BE14-C54DBA6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5743575"/>
            <a:ext cx="342900" cy="400050"/>
          </a:xfrm>
          <a:custGeom xmlns:a="http://schemas.openxmlformats.org/drawingml/2006/main">
            <a:pathLst>
              <a:path w="342900" h="400050">
                <a:moveTo>
                  <a:pt x="0" y="0"/>
                </a:moveTo>
                <a:lnTo>
                  <a:pt x="342900" y="0"/>
                </a:lnTo>
                <a:lnTo>
                  <a:pt x="3429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9DC3E7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4" name="Visual feature output segment 4">
            <a:extLst xmlns:a="http://schemas.openxmlformats.org/drawingml/2006/main">
              <a:ext uri="{FF2B5EF4-FFF2-40B4-BE49-F238E27FC236}">
                <a16:creationId xmlns:a16="http://schemas.microsoft.com/office/drawing/2014/main" id="{20696ED3-75C2-46D5-A613-0B948133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153150"/>
            <a:ext cx="342900" cy="400050"/>
          </a:xfrm>
          <a:custGeom xmlns:a="http://schemas.openxmlformats.org/drawingml/2006/main">
            <a:pathLst>
              <a:path w="342900" h="400050">
                <a:moveTo>
                  <a:pt x="0" y="0"/>
                </a:moveTo>
                <a:lnTo>
                  <a:pt x="342900" y="0"/>
                </a:lnTo>
                <a:lnTo>
                  <a:pt x="3429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2E75B5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5" name="Pseudo-label feedback">
            <a:extLst xmlns:a="http://schemas.openxmlformats.org/drawingml/2006/main">
              <a:ext uri="{FF2B5EF4-FFF2-40B4-BE49-F238E27FC236}">
                <a16:creationId xmlns:a16="http://schemas.microsoft.com/office/drawing/2014/main" id="{38293BC8-10D1-4FFE-AD16-8BDE997B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38175"/>
            <a:ext cx="5800725" cy="1247775"/>
          </a:xfrm>
          <a:custGeom xmlns:a="http://schemas.openxmlformats.org/drawingml/2006/main">
            <a:pathLst>
              <a:path w="5800725" h="1247775">
                <a:moveTo>
                  <a:pt x="5800725" y="1247775"/>
                </a:moveTo>
                <a:lnTo>
                  <a:pt x="5800725" y="0"/>
                </a:lnTo>
                <a:lnTo>
                  <a:pt x="0" y="0"/>
                </a:ln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26" name="Pseudo-label feedback arrowhead">
            <a:extLst xmlns:a="http://schemas.openxmlformats.org/drawingml/2006/main">
              <a:ext uri="{FF2B5EF4-FFF2-40B4-BE49-F238E27FC236}">
                <a16:creationId xmlns:a16="http://schemas.microsoft.com/office/drawing/2014/main" id="{3759F418-FB5B-41B3-B907-932A5E4A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6205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27" name="Unlabeled constraint features">
            <a:extLst xmlns:a="http://schemas.openxmlformats.org/drawingml/2006/main">
              <a:ext uri="{FF2B5EF4-FFF2-40B4-BE49-F238E27FC236}">
                <a16:creationId xmlns:a16="http://schemas.microsoft.com/office/drawing/2014/main" id="{CAF0BA5D-0718-4D3F-841E-DBC1CF32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190625" cy="1181100"/>
          </a:xfrm>
          <a:custGeom xmlns:a="http://schemas.openxmlformats.org/drawingml/2006/main">
            <a:pathLst>
              <a:path w="1190625" h="1181100">
                <a:moveTo>
                  <a:pt x="0" y="1181100"/>
                </a:moveTo>
                <a:lnTo>
                  <a:pt x="95250" y="1181100"/>
                </a:lnTo>
                <a:lnTo>
                  <a:pt x="95250" y="0"/>
                </a:ln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28" name="Unlabeled constraint features arrowhead">
            <a:extLst xmlns:a="http://schemas.openxmlformats.org/drawingml/2006/main">
              <a:ext uri="{FF2B5EF4-FFF2-40B4-BE49-F238E27FC236}">
                <a16:creationId xmlns:a16="http://schemas.microsoft.com/office/drawing/2014/main" id="{DFB97363-1205-4C50-8BD8-41C15322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096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29" name="Extract features">
            <a:extLst xmlns:a="http://schemas.openxmlformats.org/drawingml/2006/main">
              <a:ext uri="{FF2B5EF4-FFF2-40B4-BE49-F238E27FC236}">
                <a16:creationId xmlns:a16="http://schemas.microsoft.com/office/drawing/2014/main" id="{D6E71507-516A-46CA-A5A4-BAFE02AD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38400"/>
            <a:ext cx="1457325" cy="191"/>
          </a:xfrm>
          <a:custGeom xmlns:a="http://schemas.openxmlformats.org/drawingml/2006/main">
            <a:pathLst>
              <a:path w="1457325" h="191">
                <a:moveTo>
                  <a:pt x="0" y="0"/>
                </a:moveTo>
                <a:lnTo>
                  <a:pt x="1457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30" name="Extract features arrowhead">
            <a:extLst xmlns:a="http://schemas.openxmlformats.org/drawingml/2006/main">
              <a:ext uri="{FF2B5EF4-FFF2-40B4-BE49-F238E27FC236}">
                <a16:creationId xmlns:a16="http://schemas.microsoft.com/office/drawing/2014/main" id="{33918533-E8EE-4872-9731-8EBF163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907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31" name="Feature to distance">
            <a:extLst xmlns:a="http://schemas.openxmlformats.org/drawingml/2006/main">
              <a:ext uri="{FF2B5EF4-FFF2-40B4-BE49-F238E27FC236}">
                <a16:creationId xmlns:a16="http://schemas.microsoft.com/office/drawing/2014/main" id="{80AE8E2A-315B-46A2-8926-35E54C1A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2887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32" name="Feature to distance arrowhead">
            <a:extLst xmlns:a="http://schemas.openxmlformats.org/drawingml/2006/main">
              <a:ext uri="{FF2B5EF4-FFF2-40B4-BE49-F238E27FC236}">
                <a16:creationId xmlns:a16="http://schemas.microsoft.com/office/drawing/2014/main" id="{EBB9F3A8-1867-49D7-86A5-29CD9B4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33" name="Refined distance matrix">
            <a:extLst xmlns:a="http://schemas.openxmlformats.org/drawingml/2006/main">
              <a:ext uri="{FF2B5EF4-FFF2-40B4-BE49-F238E27FC236}">
                <a16:creationId xmlns:a16="http://schemas.microsoft.com/office/drawing/2014/main" id="{2CE99433-82AD-47F4-B010-1B2E8C86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257300"/>
            <a:ext cx="1419225" cy="314325"/>
          </a:xfrm>
          <a:custGeom xmlns:a="http://schemas.openxmlformats.org/drawingml/2006/main">
            <a:pathLst>
              <a:path w="1419225" h="314325">
                <a:moveTo>
                  <a:pt x="0" y="0"/>
                </a:moveTo>
                <a:lnTo>
                  <a:pt x="1419225" y="0"/>
                </a:lnTo>
                <a:lnTo>
                  <a:pt x="1419225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34" name="Refined distance matrix arrowhead">
            <a:extLst xmlns:a="http://schemas.openxmlformats.org/drawingml/2006/main">
              <a:ext uri="{FF2B5EF4-FFF2-40B4-BE49-F238E27FC236}">
                <a16:creationId xmlns:a16="http://schemas.microsoft.com/office/drawing/2014/main" id="{99126DC8-7245-4217-8DB1-A62198E2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46685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35" name="Matrix to clusters">
            <a:extLst xmlns:a="http://schemas.openxmlformats.org/drawingml/2006/main">
              <a:ext uri="{FF2B5EF4-FFF2-40B4-BE49-F238E27FC236}">
                <a16:creationId xmlns:a16="http://schemas.microsoft.com/office/drawing/2014/main" id="{AD236E50-6624-4C68-B182-CFA8BDF1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323850" cy="191"/>
          </a:xfrm>
          <a:custGeom xmlns:a="http://schemas.openxmlformats.org/drawingml/2006/main">
            <a:pathLst>
              <a:path w="323850" h="191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36" name="Matrix to clusters arrowhead">
            <a:extLst xmlns:a="http://schemas.openxmlformats.org/drawingml/2006/main">
              <a:ext uri="{FF2B5EF4-FFF2-40B4-BE49-F238E27FC236}">
                <a16:creationId xmlns:a16="http://schemas.microsoft.com/office/drawing/2014/main" id="{3BFF6106-5E8D-49F5-83C0-394209DD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241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37" name="Batching arrow">
            <a:extLst xmlns:a="http://schemas.openxmlformats.org/drawingml/2006/main">
              <a:ext uri="{FF2B5EF4-FFF2-40B4-BE49-F238E27FC236}">
                <a16:creationId xmlns:a16="http://schemas.microsoft.com/office/drawing/2014/main" id="{8BC165BB-A5D7-4391-99BF-82425F17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86125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38" name="Batching arrow arrowhead">
            <a:extLst xmlns:a="http://schemas.openxmlformats.org/drawingml/2006/main">
              <a:ext uri="{FF2B5EF4-FFF2-40B4-BE49-F238E27FC236}">
                <a16:creationId xmlns:a16="http://schemas.microsoft.com/office/drawing/2014/main" id="{BD7D2EBD-125B-4477-92A8-B41B512E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7187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39" name="Shuffle arrow">
            <a:extLst xmlns:a="http://schemas.openxmlformats.org/drawingml/2006/main">
              <a:ext uri="{FF2B5EF4-FFF2-40B4-BE49-F238E27FC236}">
                <a16:creationId xmlns:a16="http://schemas.microsoft.com/office/drawing/2014/main" id="{DD231B77-3A2F-405E-8DE8-FCDDFDDA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762500"/>
            <a:ext cx="191" cy="371475"/>
          </a:xfrm>
          <a:custGeom xmlns:a="http://schemas.openxmlformats.org/drawingml/2006/main">
            <a:pathLst>
              <a:path w="191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40" name="Shuffle arrow arrowhead">
            <a:extLst xmlns:a="http://schemas.openxmlformats.org/drawingml/2006/main">
              <a:ext uri="{FF2B5EF4-FFF2-40B4-BE49-F238E27FC236}">
                <a16:creationId xmlns:a16="http://schemas.microsoft.com/office/drawing/2014/main" id="{3026E3E0-C827-492D-827F-6B150BE0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41" name="Batch image to style encoder">
            <a:extLst xmlns:a="http://schemas.openxmlformats.org/drawingml/2006/main">
              <a:ext uri="{FF2B5EF4-FFF2-40B4-BE49-F238E27FC236}">
                <a16:creationId xmlns:a16="http://schemas.microsoft.com/office/drawing/2014/main" id="{7FC4E012-E965-42BA-A998-29490478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19575"/>
            <a:ext cx="428625" cy="191"/>
          </a:xfrm>
          <a:custGeom xmlns:a="http://schemas.openxmlformats.org/drawingml/2006/main">
            <a:pathLst>
              <a:path w="428625" h="191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42" name="Batch image to style encoder arrowhead">
            <a:extLst xmlns:a="http://schemas.openxmlformats.org/drawingml/2006/main">
              <a:ext uri="{FF2B5EF4-FFF2-40B4-BE49-F238E27FC236}">
                <a16:creationId xmlns:a16="http://schemas.microsoft.com/office/drawing/2014/main" id="{10E5ACB9-10F9-4865-AFCC-46BDB7D4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719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43" name="Style encoder to feature">
            <a:extLst xmlns:a="http://schemas.openxmlformats.org/drawingml/2006/main">
              <a:ext uri="{FF2B5EF4-FFF2-40B4-BE49-F238E27FC236}">
                <a16:creationId xmlns:a16="http://schemas.microsoft.com/office/drawing/2014/main" id="{5B888240-DA3D-4F91-93F2-DBE6C97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9575"/>
            <a:ext cx="314325" cy="191"/>
          </a:xfrm>
          <a:custGeom xmlns:a="http://schemas.openxmlformats.org/drawingml/2006/main">
            <a:pathLst>
              <a:path w="314325" h="191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44" name="Style encoder to feature arrowhead">
            <a:extLst xmlns:a="http://schemas.openxmlformats.org/drawingml/2006/main">
              <a:ext uri="{FF2B5EF4-FFF2-40B4-BE49-F238E27FC236}">
                <a16:creationId xmlns:a16="http://schemas.microsoft.com/office/drawing/2014/main" id="{695C4866-9384-41FC-8D2A-982E7C91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719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45" name="Shuffled image to style encoder">
            <a:extLst xmlns:a="http://schemas.openxmlformats.org/drawingml/2006/main">
              <a:ext uri="{FF2B5EF4-FFF2-40B4-BE49-F238E27FC236}">
                <a16:creationId xmlns:a16="http://schemas.microsoft.com/office/drawing/2014/main" id="{C4E84A34-0719-4D7F-84F4-B31379FF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67375"/>
            <a:ext cx="485775" cy="191"/>
          </a:xfrm>
          <a:custGeom xmlns:a="http://schemas.openxmlformats.org/drawingml/2006/main">
            <a:pathLst>
              <a:path w="485775" h="191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46" name="Shuffled image to style encoder arrowhead">
            <a:extLst xmlns:a="http://schemas.openxmlformats.org/drawingml/2006/main">
              <a:ext uri="{FF2B5EF4-FFF2-40B4-BE49-F238E27FC236}">
                <a16:creationId xmlns:a16="http://schemas.microsoft.com/office/drawing/2014/main" id="{4018E6CA-8B5A-4255-A8C6-E26D0D05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97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47" name="Shuffled encoder to feature">
            <a:extLst xmlns:a="http://schemas.openxmlformats.org/drawingml/2006/main">
              <a:ext uri="{FF2B5EF4-FFF2-40B4-BE49-F238E27FC236}">
                <a16:creationId xmlns:a16="http://schemas.microsoft.com/office/drawing/2014/main" id="{C62A7D2F-F92E-4434-9720-49D2A1D1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67375"/>
            <a:ext cx="314325" cy="191"/>
          </a:xfrm>
          <a:custGeom xmlns:a="http://schemas.openxmlformats.org/drawingml/2006/main">
            <a:pathLst>
              <a:path w="314325" h="191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48" name="Shuffled encoder to feature arrowhead">
            <a:extLst xmlns:a="http://schemas.openxmlformats.org/drawingml/2006/main">
              <a:ext uri="{FF2B5EF4-FFF2-40B4-BE49-F238E27FC236}">
                <a16:creationId xmlns:a16="http://schemas.microsoft.com/office/drawing/2014/main" id="{7F5BCD62-D739-484C-A539-BA1C0D1D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6197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49" name="Upper feature fusion">
            <a:extLst xmlns:a="http://schemas.openxmlformats.org/drawingml/2006/main">
              <a:ext uri="{FF2B5EF4-FFF2-40B4-BE49-F238E27FC236}">
                <a16:creationId xmlns:a16="http://schemas.microsoft.com/office/drawing/2014/main" id="{F26B509B-4112-405B-96BA-A1CE1B36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76700"/>
            <a:ext cx="342900" cy="609600"/>
          </a:xfrm>
          <a:custGeom xmlns:a="http://schemas.openxmlformats.org/drawingml/2006/main">
            <a:pathLst>
              <a:path w="342900" h="609600">
                <a:moveTo>
                  <a:pt x="0" y="0"/>
                </a:moveTo>
                <a:lnTo>
                  <a:pt x="342900" y="0"/>
                </a:lnTo>
                <a:lnTo>
                  <a:pt x="342900" y="60960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50" name="Upper feature fusion arrowhead">
            <a:extLst xmlns:a="http://schemas.openxmlformats.org/drawingml/2006/main">
              <a:ext uri="{FF2B5EF4-FFF2-40B4-BE49-F238E27FC236}">
                <a16:creationId xmlns:a16="http://schemas.microsoft.com/office/drawing/2014/main" id="{4C9F6FB8-4860-4645-9C21-8E2EBB62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8152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1" name="Lower feature fusion">
            <a:extLst xmlns:a="http://schemas.openxmlformats.org/drawingml/2006/main">
              <a:ext uri="{FF2B5EF4-FFF2-40B4-BE49-F238E27FC236}">
                <a16:creationId xmlns:a16="http://schemas.microsoft.com/office/drawing/2014/main" id="{BD5FBAF3-E7F6-41F2-BDDA-1FD44D91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67300"/>
            <a:ext cx="342900" cy="523875"/>
          </a:xfrm>
          <a:custGeom xmlns:a="http://schemas.openxmlformats.org/drawingml/2006/main">
            <a:pathLst>
              <a:path w="342900" h="523875">
                <a:moveTo>
                  <a:pt x="0" y="523875"/>
                </a:moveTo>
                <a:lnTo>
                  <a:pt x="342900" y="523875"/>
                </a:ln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52" name="Lower feature fusion arrowhead">
            <a:extLst xmlns:a="http://schemas.openxmlformats.org/drawingml/2006/main">
              <a:ext uri="{FF2B5EF4-FFF2-40B4-BE49-F238E27FC236}">
                <a16:creationId xmlns:a16="http://schemas.microsoft.com/office/drawing/2014/main" id="{F1EFCD25-A19E-4315-A854-A5C02596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06730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0"/>
                </a:moveTo>
                <a:lnTo>
                  <a:pt x="952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3" name="Fused features to relation network">
            <a:extLst xmlns:a="http://schemas.openxmlformats.org/drawingml/2006/main">
              <a:ext uri="{FF2B5EF4-FFF2-40B4-BE49-F238E27FC236}">
                <a16:creationId xmlns:a16="http://schemas.microsoft.com/office/drawing/2014/main" id="{92C625C6-8DC0-462C-A017-92BEEFD2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76800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54" name="Fused features to relation network arrowhead">
            <a:extLst xmlns:a="http://schemas.openxmlformats.org/drawingml/2006/main">
              <a:ext uri="{FF2B5EF4-FFF2-40B4-BE49-F238E27FC236}">
                <a16:creationId xmlns:a16="http://schemas.microsoft.com/office/drawing/2014/main" id="{53544B23-2583-4E4B-990C-A7FDE859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291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5" name="Relation output">
            <a:extLst xmlns:a="http://schemas.openxmlformats.org/drawingml/2006/main">
              <a:ext uri="{FF2B5EF4-FFF2-40B4-BE49-F238E27FC236}">
                <a16:creationId xmlns:a16="http://schemas.microsoft.com/office/drawing/2014/main" id="{FE3228B2-4B1B-4222-ADF4-E4E06FAE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76800"/>
            <a:ext cx="333375" cy="191"/>
          </a:xfrm>
          <a:custGeom xmlns:a="http://schemas.openxmlformats.org/drawingml/2006/main">
            <a:pathLst>
              <a:path w="333375" h="191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56" name="Relation output arrowhead">
            <a:extLst xmlns:a="http://schemas.openxmlformats.org/drawingml/2006/main">
              <a:ext uri="{FF2B5EF4-FFF2-40B4-BE49-F238E27FC236}">
                <a16:creationId xmlns:a16="http://schemas.microsoft.com/office/drawing/2014/main" id="{8BB54227-12D5-4C8D-8BC2-CB532A0B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8291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7" name="Environment observation feedback">
            <a:extLst xmlns:a="http://schemas.openxmlformats.org/drawingml/2006/main">
              <a:ext uri="{FF2B5EF4-FFF2-40B4-BE49-F238E27FC236}">
                <a16:creationId xmlns:a16="http://schemas.microsoft.com/office/drawing/2014/main" id="{4D0200C5-0085-4C50-A647-FF24FC3A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7675"/>
            <a:ext cx="2771775" cy="352425"/>
          </a:xfrm>
          <a:custGeom xmlns:a="http://schemas.openxmlformats.org/drawingml/2006/main">
            <a:pathLst>
              <a:path w="2771775" h="352425">
                <a:moveTo>
                  <a:pt x="2771775" y="0"/>
                </a:moveTo>
                <a:lnTo>
                  <a:pt x="0" y="0"/>
                </a:ln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58" name="Environment observation feedback arrowhead">
            <a:extLst xmlns:a="http://schemas.openxmlformats.org/drawingml/2006/main">
              <a:ext uri="{FF2B5EF4-FFF2-40B4-BE49-F238E27FC236}">
                <a16:creationId xmlns:a16="http://schemas.microsoft.com/office/drawing/2014/main" id="{C79B2AC1-94B9-464A-A20B-79B81403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9532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9" name="Observation to style encoder">
            <a:extLst xmlns:a="http://schemas.openxmlformats.org/drawingml/2006/main">
              <a:ext uri="{FF2B5EF4-FFF2-40B4-BE49-F238E27FC236}">
                <a16:creationId xmlns:a16="http://schemas.microsoft.com/office/drawing/2014/main" id="{ED3F0256-318E-4098-A20C-597D6BF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19275"/>
            <a:ext cx="590550" cy="191"/>
          </a:xfrm>
          <a:custGeom xmlns:a="http://schemas.openxmlformats.org/drawingml/2006/main">
            <a:pathLst>
              <a:path w="590550" h="191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60" name="Observation to style encoder arrowhead">
            <a:extLst xmlns:a="http://schemas.openxmlformats.org/drawingml/2006/main">
              <a:ext uri="{FF2B5EF4-FFF2-40B4-BE49-F238E27FC236}">
                <a16:creationId xmlns:a16="http://schemas.microsoft.com/office/drawing/2014/main" id="{1D31A9E5-858D-42C1-B87A-3252799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7716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61" name="Goal to style encoder">
            <a:extLst xmlns:a="http://schemas.openxmlformats.org/drawingml/2006/main">
              <a:ext uri="{FF2B5EF4-FFF2-40B4-BE49-F238E27FC236}">
                <a16:creationId xmlns:a16="http://schemas.microsoft.com/office/drawing/2014/main" id="{5E588D63-2DA4-4CDA-9083-E5C26173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81400"/>
            <a:ext cx="590550" cy="191"/>
          </a:xfrm>
          <a:custGeom xmlns:a="http://schemas.openxmlformats.org/drawingml/2006/main">
            <a:pathLst>
              <a:path w="590550" h="191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62" name="Goal to style encoder arrowhead">
            <a:extLst xmlns:a="http://schemas.openxmlformats.org/drawingml/2006/main">
              <a:ext uri="{FF2B5EF4-FFF2-40B4-BE49-F238E27FC236}">
                <a16:creationId xmlns:a16="http://schemas.microsoft.com/office/drawing/2014/main" id="{D1F2FD7A-55E7-40DC-90EC-8E4E755B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5337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63" name="Observation style vector">
            <a:extLst xmlns:a="http://schemas.openxmlformats.org/drawingml/2006/main">
              <a:ext uri="{FF2B5EF4-FFF2-40B4-BE49-F238E27FC236}">
                <a16:creationId xmlns:a16="http://schemas.microsoft.com/office/drawing/2014/main" id="{C4CF5395-7825-4D98-A89A-0A97DC2C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1790700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64" name="Observation style vector arrowhead">
            <a:extLst xmlns:a="http://schemas.openxmlformats.org/drawingml/2006/main">
              <a:ext uri="{FF2B5EF4-FFF2-40B4-BE49-F238E27FC236}">
                <a16:creationId xmlns:a16="http://schemas.microsoft.com/office/drawing/2014/main" id="{86ECB832-30A9-419D-AE2B-3B77A513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7430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65" name="Goal style vector">
            <a:extLst xmlns:a="http://schemas.openxmlformats.org/drawingml/2006/main">
              <a:ext uri="{FF2B5EF4-FFF2-40B4-BE49-F238E27FC236}">
                <a16:creationId xmlns:a16="http://schemas.microsoft.com/office/drawing/2014/main" id="{2856953D-9E4B-412E-A568-F4AC98F1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543300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66" name="Goal style vector arrowhead">
            <a:extLst xmlns:a="http://schemas.openxmlformats.org/drawingml/2006/main">
              <a:ext uri="{FF2B5EF4-FFF2-40B4-BE49-F238E27FC236}">
                <a16:creationId xmlns:a16="http://schemas.microsoft.com/office/drawing/2014/main" id="{E60AC83F-E993-4607-872A-FC743C55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4956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67" name="Observation vector to relation">
            <a:extLst xmlns:a="http://schemas.openxmlformats.org/drawingml/2006/main">
              <a:ext uri="{FF2B5EF4-FFF2-40B4-BE49-F238E27FC236}">
                <a16:creationId xmlns:a16="http://schemas.microsoft.com/office/drawing/2014/main" id="{65EA4B8D-24AF-493D-851C-5058D47B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1771650"/>
            <a:ext cx="523875" cy="285750"/>
          </a:xfrm>
          <a:custGeom xmlns:a="http://schemas.openxmlformats.org/drawingml/2006/main">
            <a:pathLst>
              <a:path w="523875" h="285750">
                <a:moveTo>
                  <a:pt x="0" y="0"/>
                </a:moveTo>
                <a:lnTo>
                  <a:pt x="523875" y="0"/>
                </a:lnTo>
                <a:lnTo>
                  <a:pt x="523875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68" name="Observation vector to relation arrowhead">
            <a:extLst xmlns:a="http://schemas.openxmlformats.org/drawingml/2006/main">
              <a:ext uri="{FF2B5EF4-FFF2-40B4-BE49-F238E27FC236}">
                <a16:creationId xmlns:a16="http://schemas.microsoft.com/office/drawing/2014/main" id="{140EA97A-AE68-447E-BB13-83394EA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195262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69" name="Goal vector to relation">
            <a:extLst xmlns:a="http://schemas.openxmlformats.org/drawingml/2006/main">
              <a:ext uri="{FF2B5EF4-FFF2-40B4-BE49-F238E27FC236}">
                <a16:creationId xmlns:a16="http://schemas.microsoft.com/office/drawing/2014/main" id="{4182FC8D-83A2-4619-838E-12A8C564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324225"/>
            <a:ext cx="523875" cy="352425"/>
          </a:xfrm>
          <a:custGeom xmlns:a="http://schemas.openxmlformats.org/drawingml/2006/main">
            <a:pathLst>
              <a:path w="523875" h="352425">
                <a:moveTo>
                  <a:pt x="0" y="352425"/>
                </a:moveTo>
                <a:lnTo>
                  <a:pt x="523875" y="352425"/>
                </a:ln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70" name="Goal vector to relation arrowhead">
            <a:extLst xmlns:a="http://schemas.openxmlformats.org/drawingml/2006/main">
              <a:ext uri="{FF2B5EF4-FFF2-40B4-BE49-F238E27FC236}">
                <a16:creationId xmlns:a16="http://schemas.microsoft.com/office/drawing/2014/main" id="{E87FFC90-B249-4F6F-A473-00EC56F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32422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0"/>
                </a:moveTo>
                <a:lnTo>
                  <a:pt x="952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71" name="Room relation output">
            <a:extLst xmlns:a="http://schemas.openxmlformats.org/drawingml/2006/main">
              <a:ext uri="{FF2B5EF4-FFF2-40B4-BE49-F238E27FC236}">
                <a16:creationId xmlns:a16="http://schemas.microsoft.com/office/drawing/2014/main" id="{2DAE46E2-1965-4C18-BAB7-5B82E58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705100"/>
            <a:ext cx="476250" cy="191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72" name="Room relation output arrowhead">
            <a:extLst xmlns:a="http://schemas.openxmlformats.org/drawingml/2006/main">
              <a:ext uri="{FF2B5EF4-FFF2-40B4-BE49-F238E27FC236}">
                <a16:creationId xmlns:a16="http://schemas.microsoft.com/office/drawing/2014/main" id="{B3CB777C-BA2F-4060-AA61-0FD12B2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26574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73" name="Room feature to policy fusion">
            <a:extLst xmlns:a="http://schemas.openxmlformats.org/drawingml/2006/main">
              <a:ext uri="{FF2B5EF4-FFF2-40B4-BE49-F238E27FC236}">
                <a16:creationId xmlns:a16="http://schemas.microsoft.com/office/drawing/2014/main" id="{37470B26-9266-46DE-A182-556D88B3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2695575"/>
            <a:ext cx="295275" cy="1409700"/>
          </a:xfrm>
          <a:custGeom xmlns:a="http://schemas.openxmlformats.org/drawingml/2006/main">
            <a:pathLst>
              <a:path w="295275" h="1409700">
                <a:moveTo>
                  <a:pt x="0" y="0"/>
                </a:moveTo>
                <a:lnTo>
                  <a:pt x="295275" y="0"/>
                </a:lnTo>
                <a:lnTo>
                  <a:pt x="295275" y="140970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74" name="Room feature to policy fusion arrowhead">
            <a:extLst xmlns:a="http://schemas.openxmlformats.org/drawingml/2006/main">
              <a:ext uri="{FF2B5EF4-FFF2-40B4-BE49-F238E27FC236}">
                <a16:creationId xmlns:a16="http://schemas.microsoft.com/office/drawing/2014/main" id="{403B5B4D-373D-42C6-A301-A370666E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00050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75" name="Channel concatenation to ResNet">
            <a:extLst xmlns:a="http://schemas.openxmlformats.org/drawingml/2006/main">
              <a:ext uri="{FF2B5EF4-FFF2-40B4-BE49-F238E27FC236}">
                <a16:creationId xmlns:a16="http://schemas.microsoft.com/office/drawing/2014/main" id="{4902669D-A1FE-45E5-A2A4-A5EAA421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53100"/>
            <a:ext cx="390525" cy="191"/>
          </a:xfrm>
          <a:custGeom xmlns:a="http://schemas.openxmlformats.org/drawingml/2006/main">
            <a:pathLst>
              <a:path w="390525" h="191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76" name="Channel concatenation to ResNet arrowhead">
            <a:extLst xmlns:a="http://schemas.openxmlformats.org/drawingml/2006/main">
              <a:ext uri="{FF2B5EF4-FFF2-40B4-BE49-F238E27FC236}">
                <a16:creationId xmlns:a16="http://schemas.microsoft.com/office/drawing/2014/main" id="{C704807A-199B-46F0-9663-208091E8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054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77" name="ResNet to feature">
            <a:extLst xmlns:a="http://schemas.openxmlformats.org/drawingml/2006/main">
              <a:ext uri="{FF2B5EF4-FFF2-40B4-BE49-F238E27FC236}">
                <a16:creationId xmlns:a16="http://schemas.microsoft.com/office/drawing/2014/main" id="{8E398481-5456-4F84-9A46-F9157673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724525"/>
            <a:ext cx="371475" cy="191"/>
          </a:xfrm>
          <a:custGeom xmlns:a="http://schemas.openxmlformats.org/drawingml/2006/main">
            <a:pathLst>
              <a:path w="371475" h="191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78" name="ResNet to feature arrowhead">
            <a:extLst xmlns:a="http://schemas.openxmlformats.org/drawingml/2006/main">
              <a:ext uri="{FF2B5EF4-FFF2-40B4-BE49-F238E27FC236}">
                <a16:creationId xmlns:a16="http://schemas.microsoft.com/office/drawing/2014/main" id="{0E99FB99-1A6D-4678-816B-F978BADB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6769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79" name="Feature to flatten">
            <a:extLst xmlns:a="http://schemas.openxmlformats.org/drawingml/2006/main">
              <a:ext uri="{FF2B5EF4-FFF2-40B4-BE49-F238E27FC236}">
                <a16:creationId xmlns:a16="http://schemas.microsoft.com/office/drawing/2014/main" id="{F9BFBE2D-5D4C-47EB-87FC-20626F90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72452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80" name="Feature to flatten arrowhead">
            <a:extLst xmlns:a="http://schemas.openxmlformats.org/drawingml/2006/main">
              <a:ext uri="{FF2B5EF4-FFF2-40B4-BE49-F238E27FC236}">
                <a16:creationId xmlns:a16="http://schemas.microsoft.com/office/drawing/2014/main" id="{731D20C1-6015-46C9-B96F-6C9E5D22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6769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81" name="Flatten to visual vector">
            <a:extLst xmlns:a="http://schemas.openxmlformats.org/drawingml/2006/main">
              <a:ext uri="{FF2B5EF4-FFF2-40B4-BE49-F238E27FC236}">
                <a16:creationId xmlns:a16="http://schemas.microsoft.com/office/drawing/2014/main" id="{0E34FE6E-73AC-40C7-93F1-3627B876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5724525"/>
            <a:ext cx="476250" cy="191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82" name="Flatten to visual vector arrowhead">
            <a:extLst xmlns:a="http://schemas.openxmlformats.org/drawingml/2006/main">
              <a:ext uri="{FF2B5EF4-FFF2-40B4-BE49-F238E27FC236}">
                <a16:creationId xmlns:a16="http://schemas.microsoft.com/office/drawing/2014/main" id="{7E13B0C1-7AA1-4AD0-B4D7-D53BD3F5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56769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83" name="Visual vector to policy fusion">
            <a:extLst xmlns:a="http://schemas.openxmlformats.org/drawingml/2006/main">
              <a:ext uri="{FF2B5EF4-FFF2-40B4-BE49-F238E27FC236}">
                <a16:creationId xmlns:a16="http://schemas.microsoft.com/office/drawing/2014/main" id="{8BA0D339-3BB2-4CF2-8C57-D3AB0D98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4467225"/>
            <a:ext cx="352425" cy="1285875"/>
          </a:xfrm>
          <a:custGeom xmlns:a="http://schemas.openxmlformats.org/drawingml/2006/main">
            <a:pathLst>
              <a:path w="352425" h="1285875">
                <a:moveTo>
                  <a:pt x="0" y="1285875"/>
                </a:moveTo>
                <a:lnTo>
                  <a:pt x="352425" y="1285875"/>
                </a:ln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84" name="Visual vector to policy fusion arrowhead">
            <a:extLst xmlns:a="http://schemas.openxmlformats.org/drawingml/2006/main">
              <a:ext uri="{FF2B5EF4-FFF2-40B4-BE49-F238E27FC236}">
                <a16:creationId xmlns:a16="http://schemas.microsoft.com/office/drawing/2014/main" id="{200DBBC6-3F64-49AB-A670-100CA0E7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46722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0"/>
                </a:moveTo>
                <a:lnTo>
                  <a:pt x="952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85" name="Fused navigation vector">
            <a:extLst xmlns:a="http://schemas.openxmlformats.org/drawingml/2006/main">
              <a:ext uri="{FF2B5EF4-FFF2-40B4-BE49-F238E27FC236}">
                <a16:creationId xmlns:a16="http://schemas.microsoft.com/office/drawing/2014/main" id="{CFD86F66-391A-47AC-B8F1-F6A2FE48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4286250"/>
            <a:ext cx="419100" cy="191"/>
          </a:xfrm>
          <a:custGeom xmlns:a="http://schemas.openxmlformats.org/drawingml/2006/main">
            <a:pathLst>
              <a:path w="419100" h="191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86" name="Fused navigation vector arrowhead">
            <a:extLst xmlns:a="http://schemas.openxmlformats.org/drawingml/2006/main">
              <a:ext uri="{FF2B5EF4-FFF2-40B4-BE49-F238E27FC236}">
                <a16:creationId xmlns:a16="http://schemas.microsoft.com/office/drawing/2014/main" id="{76CAABC6-49DF-49B6-8EBF-44A060ED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42386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87" name="Environment action loop without an invented arrowhead">
            <a:extLst xmlns:a="http://schemas.openxmlformats.org/drawingml/2006/main">
              <a:ext uri="{FF2B5EF4-FFF2-40B4-BE49-F238E27FC236}">
                <a16:creationId xmlns:a16="http://schemas.microsoft.com/office/drawing/2014/main" id="{15C7F8CC-537A-402A-9B99-6580BCA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47675"/>
            <a:ext cx="2638425" cy="981075"/>
          </a:xfrm>
          <a:custGeom xmlns:a="http://schemas.openxmlformats.org/drawingml/2006/main">
            <a:pathLst>
              <a:path w="2638425" h="981075">
                <a:moveTo>
                  <a:pt x="0" y="0"/>
                </a:moveTo>
                <a:lnTo>
                  <a:pt x="2638425" y="0"/>
                </a:lnTo>
                <a:lnTo>
                  <a:pt x="2638425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solid"/>
          </a:ln>
        </p:spPr>
      </p:sp>
      <p:sp>
        <p:nvSpPr>
          <p:cNvPr id="188" name="Batch feature cluster loss">
            <a:extLst xmlns:a="http://schemas.openxmlformats.org/drawingml/2006/main">
              <a:ext uri="{FF2B5EF4-FFF2-40B4-BE49-F238E27FC236}">
                <a16:creationId xmlns:a16="http://schemas.microsoft.com/office/drawing/2014/main" id="{1A860832-A792-4A7D-80F4-E5D53758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71875"/>
            <a:ext cx="866775" cy="171450"/>
          </a:xfrm>
          <a:custGeom xmlns:a="http://schemas.openxmlformats.org/drawingml/2006/main">
            <a:pathLst>
              <a:path w="866775" h="171450">
                <a:moveTo>
                  <a:pt x="0" y="171450"/>
                </a:moveTo>
                <a:lnTo>
                  <a:pt x="0" y="0"/>
                </a:ln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dash"/>
          </a:ln>
        </p:spPr>
      </p:sp>
      <p:sp>
        <p:nvSpPr>
          <p:cNvPr id="189" name="Batch feature cluster loss arrowhead">
            <a:extLst xmlns:a="http://schemas.openxmlformats.org/drawingml/2006/main">
              <a:ext uri="{FF2B5EF4-FFF2-40B4-BE49-F238E27FC236}">
                <a16:creationId xmlns:a16="http://schemas.microsoft.com/office/drawing/2014/main" id="{D785C217-07D9-4CDA-AC4D-7B00628D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90" name="Clusters to clustering loss">
            <a:extLst xmlns:a="http://schemas.openxmlformats.org/drawingml/2006/main">
              <a:ext uri="{FF2B5EF4-FFF2-40B4-BE49-F238E27FC236}">
                <a16:creationId xmlns:a16="http://schemas.microsoft.com/office/drawing/2014/main" id="{5E7F6BA3-A54A-469D-AEEA-A2EA34A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5650"/>
            <a:ext cx="552450" cy="276225"/>
          </a:xfrm>
          <a:custGeom xmlns:a="http://schemas.openxmlformats.org/drawingml/2006/main">
            <a:pathLst>
              <a:path w="552450" h="276225">
                <a:moveTo>
                  <a:pt x="552450" y="0"/>
                </a:moveTo>
                <a:lnTo>
                  <a:pt x="552450" y="276225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dash"/>
          </a:ln>
        </p:spPr>
      </p:sp>
      <p:sp>
        <p:nvSpPr>
          <p:cNvPr id="191" name="Clusters to clustering loss arrowhead">
            <a:extLst xmlns:a="http://schemas.openxmlformats.org/drawingml/2006/main">
              <a:ext uri="{FF2B5EF4-FFF2-40B4-BE49-F238E27FC236}">
                <a16:creationId xmlns:a16="http://schemas.microsoft.com/office/drawing/2014/main" id="{5142E418-6BD7-44C3-A4E1-3A697E21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0" y="47625"/>
                </a:moveTo>
                <a:lnTo>
                  <a:pt x="104775" y="0"/>
                </a:lnTo>
                <a:lnTo>
                  <a:pt x="104775" y="9525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92" name="Relation prediction loss">
            <a:extLst xmlns:a="http://schemas.openxmlformats.org/drawingml/2006/main">
              <a:ext uri="{FF2B5EF4-FFF2-40B4-BE49-F238E27FC236}">
                <a16:creationId xmlns:a16="http://schemas.microsoft.com/office/drawing/2014/main" id="{F15A8300-25FD-469D-96C2-77A01746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76875"/>
            <a:ext cx="1171575" cy="1228725"/>
          </a:xfrm>
          <a:custGeom xmlns:a="http://schemas.openxmlformats.org/drawingml/2006/main">
            <a:pathLst>
              <a:path w="1171575" h="1228725">
                <a:moveTo>
                  <a:pt x="1171575" y="0"/>
                </a:moveTo>
                <a:lnTo>
                  <a:pt x="1171575" y="1228725"/>
                </a:lnTo>
                <a:lnTo>
                  <a:pt x="0" y="12287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dash"/>
          </a:ln>
        </p:spPr>
      </p:sp>
      <p:sp>
        <p:nvSpPr>
          <p:cNvPr id="193" name="Relation prediction loss arrowhead">
            <a:extLst xmlns:a="http://schemas.openxmlformats.org/drawingml/2006/main">
              <a:ext uri="{FF2B5EF4-FFF2-40B4-BE49-F238E27FC236}">
                <a16:creationId xmlns:a16="http://schemas.microsoft.com/office/drawing/2014/main" id="{8B0F7D0F-2856-4446-AB37-E15A39D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657975"/>
            <a:ext cx="104775" cy="95250"/>
          </a:xfrm>
          <a:custGeom xmlns:a="http://schemas.openxmlformats.org/drawingml/2006/main">
            <a:pathLst>
              <a:path w="104775" h="95250">
                <a:moveTo>
                  <a:pt x="0" y="47625"/>
                </a:moveTo>
                <a:lnTo>
                  <a:pt x="104775" y="0"/>
                </a:lnTo>
                <a:lnTo>
                  <a:pt x="104775" y="9525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94" name="Relation labels loss">
            <a:extLst xmlns:a="http://schemas.openxmlformats.org/drawingml/2006/main">
              <a:ext uri="{FF2B5EF4-FFF2-40B4-BE49-F238E27FC236}">
                <a16:creationId xmlns:a16="http://schemas.microsoft.com/office/drawing/2014/main" id="{16BEE9E6-80D2-49FB-A24C-5190C76A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705600"/>
            <a:ext cx="2152650" cy="191"/>
          </a:xfrm>
          <a:custGeom xmlns:a="http://schemas.openxmlformats.org/drawingml/2006/main">
            <a:pathLst>
              <a:path w="2152650" h="191">
                <a:moveTo>
                  <a:pt x="0" y="0"/>
                </a:moveTo>
                <a:lnTo>
                  <a:pt x="2152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595959"/>
            </a:solidFill>
            <a:prstDash val="dash"/>
          </a:ln>
        </p:spPr>
      </p:sp>
      <p:sp>
        <p:nvSpPr>
          <p:cNvPr id="195" name="Relation labels loss arrowhead">
            <a:extLst xmlns:a="http://schemas.openxmlformats.org/drawingml/2006/main">
              <a:ext uri="{FF2B5EF4-FFF2-40B4-BE49-F238E27FC236}">
                <a16:creationId xmlns:a16="http://schemas.microsoft.com/office/drawing/2014/main" id="{47E00EDD-E3DF-48BD-8E3B-2153EFF7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6579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96" name="Shared style weights">
            <a:extLst xmlns:a="http://schemas.openxmlformats.org/drawingml/2006/main">
              <a:ext uri="{FF2B5EF4-FFF2-40B4-BE49-F238E27FC236}">
                <a16:creationId xmlns:a16="http://schemas.microsoft.com/office/drawing/2014/main" id="{99A41BF1-9A70-40FD-9227-96956912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238375"/>
            <a:ext cx="191" cy="866775"/>
          </a:xfrm>
          <a:custGeom xmlns:a="http://schemas.openxmlformats.org/drawingml/2006/main">
            <a:pathLst>
              <a:path w="191" h="866775">
                <a:moveTo>
                  <a:pt x="0" y="0"/>
                </a:moveTo>
                <a:lnTo>
                  <a:pt x="0" y="314325"/>
                </a:lnTo>
                <a:moveTo>
                  <a:pt x="0" y="638175"/>
                </a:moveTo>
                <a:lnTo>
                  <a:pt x="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77777"/>
            </a:solidFill>
            <a:prstDash val="dash"/>
          </a:ln>
        </p:spPr>
      </p:sp>
      <p:sp>
        <p:nvSpPr>
          <p:cNvPr id="197" name="Relation label supervision">
            <a:extLst xmlns:a="http://schemas.openxmlformats.org/drawingml/2006/main">
              <a:ext uri="{FF2B5EF4-FFF2-40B4-BE49-F238E27FC236}">
                <a16:creationId xmlns:a16="http://schemas.microsoft.com/office/drawing/2014/main" id="{B40154BB-0954-4F1C-B158-96A5150A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191000"/>
            <a:ext cx="676275" cy="2514600"/>
          </a:xfrm>
          <a:custGeom xmlns:a="http://schemas.openxmlformats.org/drawingml/2006/main">
            <a:pathLst>
              <a:path w="676275" h="2514600">
                <a:moveTo>
                  <a:pt x="676275" y="0"/>
                </a:moveTo>
                <a:lnTo>
                  <a:pt x="457200" y="0"/>
                </a:lnTo>
                <a:lnTo>
                  <a:pt x="457200" y="838200"/>
                </a:lnTo>
                <a:lnTo>
                  <a:pt x="0" y="838200"/>
                </a:lnTo>
                <a:lnTo>
                  <a:pt x="0" y="2514600"/>
                </a:lnTo>
                <a:lnTo>
                  <a:pt x="447675" y="2514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95959"/>
            </a:solidFill>
            <a:prstDash val="solid"/>
          </a:ln>
        </p:spPr>
      </p:sp>
      <p:sp>
        <p:nvSpPr>
          <p:cNvPr id="198" name="Relation label supervision lower branch">
            <a:extLst xmlns:a="http://schemas.openxmlformats.org/drawingml/2006/main">
              <a:ext uri="{FF2B5EF4-FFF2-40B4-BE49-F238E27FC236}">
                <a16:creationId xmlns:a16="http://schemas.microsoft.com/office/drawing/2014/main" id="{5AA6E470-B117-4CFB-9F62-96D4CCB4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29200"/>
            <a:ext cx="114300" cy="838200"/>
          </a:xfrm>
          <a:custGeom xmlns:a="http://schemas.openxmlformats.org/drawingml/2006/main">
            <a:pathLst>
              <a:path w="114300" h="838200">
                <a:moveTo>
                  <a:pt x="0" y="0"/>
                </a:moveTo>
                <a:lnTo>
                  <a:pt x="0" y="838200"/>
                </a:lnTo>
                <a:lnTo>
                  <a:pt x="11430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95959"/>
            </a:solidFill>
            <a:prstDash val="solid"/>
          </a:ln>
        </p:spPr>
      </p:sp>
      <p:sp>
        <p:nvSpPr>
          <p:cNvPr id="199" name="Offline feature fusion">
            <a:extLst xmlns:a="http://schemas.openxmlformats.org/drawingml/2006/main">
              <a:ext uri="{FF2B5EF4-FFF2-40B4-BE49-F238E27FC236}">
                <a16:creationId xmlns:a16="http://schemas.microsoft.com/office/drawing/2014/main" id="{E27A7B9A-36C1-4B99-B547-C46DB0D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1487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85A82"/>
            </a:solidFill>
            <a:prstDash val="solid"/>
          </a:ln>
        </p:spPr>
      </p:sp>
      <p:sp>
        <p:nvSpPr>
          <p:cNvPr id="200" name="Offline feature fusion cross">
            <a:extLst xmlns:a="http://schemas.openxmlformats.org/drawingml/2006/main">
              <a:ext uri="{FF2B5EF4-FFF2-40B4-BE49-F238E27FC236}">
                <a16:creationId xmlns:a16="http://schemas.microsoft.com/office/drawing/2014/main" id="{BD9E91B0-7443-43C5-9420-67D5C57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0" y="152400"/>
                </a:moveTo>
                <a:lnTo>
                  <a:pt x="304800" y="152400"/>
                </a:lnTo>
                <a:moveTo>
                  <a:pt x="152400" y="0"/>
                </a:moveTo>
                <a:lnTo>
                  <a:pt x="1524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A82"/>
            </a:solidFill>
            <a:prstDash val="solid"/>
          </a:ln>
        </p:spPr>
      </p:sp>
      <p:sp>
        <p:nvSpPr>
          <p:cNvPr id="201" name="Navigation feature fusion">
            <a:extLst xmlns:a="http://schemas.openxmlformats.org/drawingml/2006/main">
              <a:ext uri="{FF2B5EF4-FFF2-40B4-BE49-F238E27FC236}">
                <a16:creationId xmlns:a16="http://schemas.microsoft.com/office/drawing/2014/main" id="{FE845F5A-054D-4AD4-99AC-101CFF7D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412432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85A82"/>
            </a:solidFill>
            <a:prstDash val="solid"/>
          </a:ln>
        </p:spPr>
      </p:sp>
      <p:sp>
        <p:nvSpPr>
          <p:cNvPr id="202" name="Navigation feature fusion cross">
            <a:extLst xmlns:a="http://schemas.openxmlformats.org/drawingml/2006/main">
              <a:ext uri="{FF2B5EF4-FFF2-40B4-BE49-F238E27FC236}">
                <a16:creationId xmlns:a16="http://schemas.microsoft.com/office/drawing/2014/main" id="{8423A77C-EB72-4630-8F94-4C0B6610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975" y="4133850"/>
            <a:ext cx="304800" cy="304800"/>
          </a:xfrm>
          <a:custGeom xmlns:a="http://schemas.openxmlformats.org/drawingml/2006/main">
            <a:pathLst>
              <a:path w="304800" h="304800">
                <a:moveTo>
                  <a:pt x="0" y="152400"/>
                </a:moveTo>
                <a:lnTo>
                  <a:pt x="304800" y="152400"/>
                </a:lnTo>
                <a:moveTo>
                  <a:pt x="152400" y="0"/>
                </a:moveTo>
                <a:lnTo>
                  <a:pt x="1524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A82"/>
            </a:solidFill>
            <a:prstDash val="solid"/>
          </a:ln>
        </p:spPr>
      </p:sp>
      <p:sp>
        <p:nvSpPr>
          <p:cNvPr id="203" name="Goal concatenate arrow">
            <a:extLst xmlns:a="http://schemas.openxmlformats.org/drawingml/2006/main">
              <a:ext uri="{FF2B5EF4-FFF2-40B4-BE49-F238E27FC236}">
                <a16:creationId xmlns:a16="http://schemas.microsoft.com/office/drawing/2014/main" id="{2CEB0A43-DF02-4909-82E2-E8913142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495800"/>
            <a:ext cx="438150" cy="390525"/>
          </a:xfrm>
          <a:custGeom xmlns:a="http://schemas.openxmlformats.org/drawingml/2006/main">
            <a:pathLst>
              <a:path w="438150" h="390525">
                <a:moveTo>
                  <a:pt x="76200" y="0"/>
                </a:moveTo>
                <a:lnTo>
                  <a:pt x="361950" y="0"/>
                </a:lnTo>
                <a:lnTo>
                  <a:pt x="361950" y="238125"/>
                </a:lnTo>
                <a:lnTo>
                  <a:pt x="438150" y="238125"/>
                </a:lnTo>
                <a:lnTo>
                  <a:pt x="219075" y="390525"/>
                </a:lnTo>
                <a:lnTo>
                  <a:pt x="0" y="238125"/>
                </a:lnTo>
                <a:lnTo>
                  <a:pt x="76200" y="23812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04" name="Policy learning arrow">
            <a:extLst xmlns:a="http://schemas.openxmlformats.org/drawingml/2006/main">
              <a:ext uri="{FF2B5EF4-FFF2-40B4-BE49-F238E27FC236}">
                <a16:creationId xmlns:a16="http://schemas.microsoft.com/office/drawing/2014/main" id="{BB88EA39-897D-48F7-AE50-EFA39C6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4724400"/>
            <a:ext cx="428625" cy="400050"/>
          </a:xfrm>
          <a:custGeom xmlns:a="http://schemas.openxmlformats.org/drawingml/2006/main">
            <a:pathLst>
              <a:path w="428625" h="400050">
                <a:moveTo>
                  <a:pt x="66675" y="400050"/>
                </a:moveTo>
                <a:lnTo>
                  <a:pt x="361950" y="400050"/>
                </a:lnTo>
                <a:lnTo>
                  <a:pt x="361950" y="142875"/>
                </a:lnTo>
                <a:lnTo>
                  <a:pt x="428625" y="142875"/>
                </a:lnTo>
                <a:lnTo>
                  <a:pt x="214313" y="0"/>
                </a:lnTo>
                <a:lnTo>
                  <a:pt x="0" y="142875"/>
                </a:lnTo>
                <a:lnTo>
                  <a:pt x="66675" y="1428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05" name="Actor-critic to actions arrow">
            <a:extLst xmlns:a="http://schemas.openxmlformats.org/drawingml/2006/main">
              <a:ext uri="{FF2B5EF4-FFF2-40B4-BE49-F238E27FC236}">
                <a16:creationId xmlns:a16="http://schemas.microsoft.com/office/drawing/2014/main" id="{BECE3A88-78AA-4C8A-9646-7E7457D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819400"/>
            <a:ext cx="428625" cy="381000"/>
          </a:xfrm>
          <a:custGeom xmlns:a="http://schemas.openxmlformats.org/drawingml/2006/main">
            <a:pathLst>
              <a:path w="428625" h="381000">
                <a:moveTo>
                  <a:pt x="66675" y="381000"/>
                </a:moveTo>
                <a:lnTo>
                  <a:pt x="361950" y="381000"/>
                </a:lnTo>
                <a:lnTo>
                  <a:pt x="361950" y="142875"/>
                </a:lnTo>
                <a:lnTo>
                  <a:pt x="428625" y="142875"/>
                </a:lnTo>
                <a:lnTo>
                  <a:pt x="214313" y="0"/>
                </a:lnTo>
                <a:lnTo>
                  <a:pt x="0" y="142875"/>
                </a:lnTo>
                <a:lnTo>
                  <a:pt x="66675" y="1428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06" name="Action icon white tile">
            <a:extLst xmlns:a="http://schemas.openxmlformats.org/drawingml/2006/main">
              <a:ext uri="{FF2B5EF4-FFF2-40B4-BE49-F238E27FC236}">
                <a16:creationId xmlns:a16="http://schemas.microsoft.com/office/drawing/2014/main" id="{4DC289AB-070F-4002-9403-CBD8E823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1762125"/>
            <a:ext cx="409575" cy="428625"/>
          </a:xfrm>
          <a:custGeom xmlns:a="http://schemas.openxmlformats.org/drawingml/2006/main">
            <a:pathLst>
              <a:path w="409575" h="428625">
                <a:moveTo>
                  <a:pt x="0" y="0"/>
                </a:moveTo>
                <a:lnTo>
                  <a:pt x="409575" y="0"/>
                </a:lnTo>
                <a:lnTo>
                  <a:pt x="409575" y="428625"/>
                </a:lnTo>
                <a:lnTo>
                  <a:pt x="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07" name="Action icon white tile">
            <a:extLst xmlns:a="http://schemas.openxmlformats.org/drawingml/2006/main">
              <a:ext uri="{FF2B5EF4-FFF2-40B4-BE49-F238E27FC236}">
                <a16:creationId xmlns:a16="http://schemas.microsoft.com/office/drawing/2014/main" id="{F9DEF68B-D392-4F71-BF18-66F50379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1504950"/>
            <a:ext cx="447675" cy="428625"/>
          </a:xfrm>
          <a:custGeom xmlns:a="http://schemas.openxmlformats.org/drawingml/2006/main"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08" name="Action icon white tile">
            <a:extLst xmlns:a="http://schemas.openxmlformats.org/drawingml/2006/main">
              <a:ext uri="{FF2B5EF4-FFF2-40B4-BE49-F238E27FC236}">
                <a16:creationId xmlns:a16="http://schemas.microsoft.com/office/drawing/2014/main" id="{42687C6E-B13F-48D4-80FD-27FC8C5E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1762125"/>
            <a:ext cx="409575" cy="428625"/>
          </a:xfrm>
          <a:custGeom xmlns:a="http://schemas.openxmlformats.org/drawingml/2006/main">
            <a:pathLst>
              <a:path w="409575" h="428625">
                <a:moveTo>
                  <a:pt x="0" y="0"/>
                </a:moveTo>
                <a:lnTo>
                  <a:pt x="409575" y="0"/>
                </a:lnTo>
                <a:lnTo>
                  <a:pt x="409575" y="428625"/>
                </a:lnTo>
                <a:lnTo>
                  <a:pt x="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09" name="Forward action arrow">
            <a:extLst xmlns:a="http://schemas.openxmlformats.org/drawingml/2006/main">
              <a:ext uri="{FF2B5EF4-FFF2-40B4-BE49-F238E27FC236}">
                <a16:creationId xmlns:a16="http://schemas.microsoft.com/office/drawing/2014/main" id="{C6FF28A7-9E49-40A1-A24E-67E9B25B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552575"/>
            <a:ext cx="323850" cy="314325"/>
          </a:xfrm>
          <a:custGeom xmlns:a="http://schemas.openxmlformats.org/drawingml/2006/main">
            <a:pathLst>
              <a:path w="323850" h="314325">
                <a:moveTo>
                  <a:pt x="66675" y="314325"/>
                </a:moveTo>
                <a:lnTo>
                  <a:pt x="66675" y="104775"/>
                </a:lnTo>
                <a:lnTo>
                  <a:pt x="0" y="104775"/>
                </a:lnTo>
                <a:lnTo>
                  <a:pt x="161925" y="0"/>
                </a:lnTo>
                <a:lnTo>
                  <a:pt x="323850" y="104775"/>
                </a:lnTo>
                <a:lnTo>
                  <a:pt x="257175" y="104775"/>
                </a:lnTo>
                <a:lnTo>
                  <a:pt x="257175" y="314325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10" name="Left action curved arrow">
            <a:extLst xmlns:a="http://schemas.openxmlformats.org/drawingml/2006/main">
              <a:ext uri="{FF2B5EF4-FFF2-40B4-BE49-F238E27FC236}">
                <a16:creationId xmlns:a16="http://schemas.microsoft.com/office/drawing/2014/main" id="{534F0D03-36F0-43EE-ADFC-4755CD9A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943100"/>
            <a:ext cx="276225" cy="152400"/>
          </a:xfrm>
          <a:custGeom xmlns:a="http://schemas.openxmlformats.org/drawingml/2006/main">
            <a:pathLst>
              <a:path w="276225" h="152400">
                <a:moveTo>
                  <a:pt x="276225" y="152400"/>
                </a:moveTo>
                <a:cubicBezTo>
                  <a:pt x="200025" y="28575"/>
                  <a:pt x="95250" y="0"/>
                  <a:pt x="0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548235"/>
            </a:solidFill>
            <a:prstDash val="solid"/>
          </a:ln>
        </p:spPr>
      </p:sp>
      <p:sp>
        <p:nvSpPr>
          <p:cNvPr id="211" name="Left action arrowhead">
            <a:extLst xmlns:a="http://schemas.openxmlformats.org/drawingml/2006/main">
              <a:ext uri="{FF2B5EF4-FFF2-40B4-BE49-F238E27FC236}">
                <a16:creationId xmlns:a16="http://schemas.microsoft.com/office/drawing/2014/main" id="{331D5025-0C13-4E9A-B67E-DBDB50D0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1857375"/>
            <a:ext cx="123825" cy="228600"/>
          </a:xfrm>
          <a:custGeom xmlns:a="http://schemas.openxmlformats.org/drawingml/2006/main">
            <a:pathLst>
              <a:path w="123825" h="228600">
                <a:moveTo>
                  <a:pt x="0" y="123825"/>
                </a:moveTo>
                <a:lnTo>
                  <a:pt x="123825" y="0"/>
                </a:lnTo>
                <a:lnTo>
                  <a:pt x="123825" y="22860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12" name="Right action curved arrow">
            <a:extLst xmlns:a="http://schemas.openxmlformats.org/drawingml/2006/main">
              <a:ext uri="{FF2B5EF4-FFF2-40B4-BE49-F238E27FC236}">
                <a16:creationId xmlns:a16="http://schemas.microsoft.com/office/drawing/2014/main" id="{CF2281BD-0F4A-4BBC-A4E5-07D13E4D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1943100"/>
            <a:ext cx="276225" cy="152400"/>
          </a:xfrm>
          <a:custGeom xmlns:a="http://schemas.openxmlformats.org/drawingml/2006/main">
            <a:pathLst>
              <a:path w="276225" h="152400">
                <a:moveTo>
                  <a:pt x="0" y="152400"/>
                </a:moveTo>
                <a:cubicBezTo>
                  <a:pt x="76200" y="28575"/>
                  <a:pt x="180975" y="0"/>
                  <a:pt x="276225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548235"/>
            </a:solidFill>
            <a:prstDash val="solid"/>
          </a:ln>
        </p:spPr>
      </p:sp>
      <p:sp>
        <p:nvSpPr>
          <p:cNvPr id="213" name="Right action arrowhead">
            <a:extLst xmlns:a="http://schemas.openxmlformats.org/drawingml/2006/main">
              <a:ext uri="{FF2B5EF4-FFF2-40B4-BE49-F238E27FC236}">
                <a16:creationId xmlns:a16="http://schemas.microsoft.com/office/drawing/2014/main" id="{57A0BD37-29F1-42BC-8946-7D644DCD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857375"/>
            <a:ext cx="123825" cy="228600"/>
          </a:xfrm>
          <a:custGeom xmlns:a="http://schemas.openxmlformats.org/drawingml/2006/main">
            <a:pathLst>
              <a:path w="123825" h="228600">
                <a:moveTo>
                  <a:pt x="123825" y="123825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14" name="Stop action">
            <a:extLst xmlns:a="http://schemas.openxmlformats.org/drawingml/2006/main">
              <a:ext uri="{FF2B5EF4-FFF2-40B4-BE49-F238E27FC236}">
                <a16:creationId xmlns:a16="http://schemas.microsoft.com/office/drawing/2014/main" id="{C1FF6E2A-7D71-4407-B0F5-65B2D66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2009775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15" name="Stop action horizontal bar">
            <a:extLst xmlns:a="http://schemas.openxmlformats.org/drawingml/2006/main">
              <a:ext uri="{FF2B5EF4-FFF2-40B4-BE49-F238E27FC236}">
                <a16:creationId xmlns:a16="http://schemas.microsoft.com/office/drawing/2014/main" id="{9FEE9B59-6557-4FD5-98D6-F8F1D27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152650"/>
            <a:ext cx="228600" cy="57150"/>
          </a:xfrm>
          <a:custGeom xmlns:a="http://schemas.openxmlformats.org/drawingml/2006/main">
            <a:pathLst>
              <a:path w="228600" h="57150">
                <a:moveTo>
                  <a:pt x="0" y="0"/>
                </a:moveTo>
                <a:lnTo>
                  <a:pt x="228600" y="0"/>
                </a:lnTo>
                <a:lnTo>
                  <a:pt x="2286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16" name="Trainable visual extractor flame contour 1">
            <a:extLst xmlns:a="http://schemas.openxmlformats.org/drawingml/2006/main">
              <a:ext uri="{FF2B5EF4-FFF2-40B4-BE49-F238E27FC236}">
                <a16:creationId xmlns:a16="http://schemas.microsoft.com/office/drawing/2014/main" id="{DB7B6A3E-8098-44B7-8B0F-A296AC59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91125"/>
            <a:ext cx="190500" cy="276225"/>
          </a:xfrm>
          <a:custGeom xmlns:a="http://schemas.openxmlformats.org/drawingml/2006/main">
            <a:pathLst>
              <a:path w="190500" h="276225">
                <a:moveTo>
                  <a:pt x="95250" y="0"/>
                </a:moveTo>
                <a:lnTo>
                  <a:pt x="95250" y="28575"/>
                </a:lnTo>
                <a:lnTo>
                  <a:pt x="76200" y="66675"/>
                </a:lnTo>
                <a:lnTo>
                  <a:pt x="9525" y="133350"/>
                </a:lnTo>
                <a:lnTo>
                  <a:pt x="0" y="152400"/>
                </a:lnTo>
                <a:lnTo>
                  <a:pt x="0" y="209550"/>
                </a:lnTo>
                <a:lnTo>
                  <a:pt x="19050" y="238125"/>
                </a:lnTo>
                <a:lnTo>
                  <a:pt x="19050" y="200025"/>
                </a:lnTo>
                <a:lnTo>
                  <a:pt x="28575" y="190500"/>
                </a:lnTo>
                <a:lnTo>
                  <a:pt x="28575" y="171450"/>
                </a:lnTo>
                <a:lnTo>
                  <a:pt x="47625" y="152400"/>
                </a:lnTo>
                <a:lnTo>
                  <a:pt x="57150" y="161925"/>
                </a:lnTo>
                <a:lnTo>
                  <a:pt x="57150" y="190500"/>
                </a:lnTo>
                <a:lnTo>
                  <a:pt x="66675" y="200025"/>
                </a:lnTo>
                <a:lnTo>
                  <a:pt x="66675" y="219075"/>
                </a:lnTo>
                <a:lnTo>
                  <a:pt x="85725" y="238125"/>
                </a:lnTo>
                <a:lnTo>
                  <a:pt x="95250" y="266700"/>
                </a:lnTo>
                <a:lnTo>
                  <a:pt x="104775" y="276225"/>
                </a:lnTo>
                <a:lnTo>
                  <a:pt x="123825" y="276225"/>
                </a:lnTo>
                <a:lnTo>
                  <a:pt x="142875" y="266700"/>
                </a:lnTo>
                <a:lnTo>
                  <a:pt x="180975" y="228600"/>
                </a:lnTo>
                <a:lnTo>
                  <a:pt x="180975" y="209550"/>
                </a:lnTo>
                <a:lnTo>
                  <a:pt x="190500" y="200025"/>
                </a:lnTo>
                <a:lnTo>
                  <a:pt x="190500" y="152400"/>
                </a:lnTo>
                <a:lnTo>
                  <a:pt x="190500" y="161925"/>
                </a:lnTo>
                <a:lnTo>
                  <a:pt x="152400" y="190500"/>
                </a:lnTo>
                <a:lnTo>
                  <a:pt x="114300" y="161925"/>
                </a:lnTo>
                <a:lnTo>
                  <a:pt x="114300" y="123825"/>
                </a:lnTo>
                <a:lnTo>
                  <a:pt x="133350" y="95250"/>
                </a:lnTo>
                <a:lnTo>
                  <a:pt x="133350" y="47625"/>
                </a:lnTo>
                <a:lnTo>
                  <a:pt x="123825" y="28575"/>
                </a:lnTo>
                <a:close/>
              </a:path>
            </a:pathLst>
          </a:custGeom>
          <a:solidFill xmlns:a="http://schemas.openxmlformats.org/drawingml/2006/main">
            <a:srgbClr val="EF5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Trainable navigation policy flame contour 1">
            <a:extLst xmlns:a="http://schemas.openxmlformats.org/drawingml/2006/main">
              <a:ext uri="{FF2B5EF4-FFF2-40B4-BE49-F238E27FC236}">
                <a16:creationId xmlns:a16="http://schemas.microsoft.com/office/drawing/2014/main" id="{899D9711-965E-4746-BD38-7EE57A24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4295775"/>
            <a:ext cx="200025" cy="276225"/>
          </a:xfrm>
          <a:custGeom xmlns:a="http://schemas.openxmlformats.org/drawingml/2006/main">
            <a:pathLst>
              <a:path w="200025" h="276225">
                <a:moveTo>
                  <a:pt x="95250" y="0"/>
                </a:moveTo>
                <a:lnTo>
                  <a:pt x="95250" y="38100"/>
                </a:lnTo>
                <a:lnTo>
                  <a:pt x="66675" y="76200"/>
                </a:lnTo>
                <a:lnTo>
                  <a:pt x="66675" y="85725"/>
                </a:lnTo>
                <a:lnTo>
                  <a:pt x="47625" y="95250"/>
                </a:lnTo>
                <a:lnTo>
                  <a:pt x="19050" y="123825"/>
                </a:lnTo>
                <a:lnTo>
                  <a:pt x="0" y="161925"/>
                </a:lnTo>
                <a:lnTo>
                  <a:pt x="0" y="200025"/>
                </a:lnTo>
                <a:lnTo>
                  <a:pt x="9525" y="209550"/>
                </a:lnTo>
                <a:lnTo>
                  <a:pt x="9525" y="228600"/>
                </a:lnTo>
                <a:lnTo>
                  <a:pt x="28575" y="247650"/>
                </a:lnTo>
                <a:lnTo>
                  <a:pt x="28575" y="190500"/>
                </a:lnTo>
                <a:lnTo>
                  <a:pt x="47625" y="161925"/>
                </a:lnTo>
                <a:lnTo>
                  <a:pt x="104775" y="276225"/>
                </a:lnTo>
                <a:lnTo>
                  <a:pt x="123825" y="276225"/>
                </a:lnTo>
                <a:lnTo>
                  <a:pt x="161925" y="257175"/>
                </a:lnTo>
                <a:lnTo>
                  <a:pt x="180975" y="238125"/>
                </a:lnTo>
                <a:lnTo>
                  <a:pt x="190500" y="219075"/>
                </a:lnTo>
                <a:lnTo>
                  <a:pt x="190500" y="190500"/>
                </a:lnTo>
                <a:lnTo>
                  <a:pt x="200025" y="180975"/>
                </a:lnTo>
                <a:lnTo>
                  <a:pt x="190500" y="161925"/>
                </a:lnTo>
                <a:lnTo>
                  <a:pt x="171450" y="180975"/>
                </a:lnTo>
                <a:lnTo>
                  <a:pt x="133350" y="180975"/>
                </a:lnTo>
                <a:lnTo>
                  <a:pt x="123825" y="171450"/>
                </a:lnTo>
                <a:lnTo>
                  <a:pt x="114300" y="142875"/>
                </a:lnTo>
                <a:lnTo>
                  <a:pt x="133350" y="114300"/>
                </a:lnTo>
                <a:lnTo>
                  <a:pt x="133350" y="47625"/>
                </a:lnTo>
                <a:lnTo>
                  <a:pt x="123825" y="28575"/>
                </a:lnTo>
                <a:close/>
              </a:path>
            </a:pathLst>
          </a:custGeom>
          <a:solidFill xmlns:a="http://schemas.openxmlformats.org/drawingml/2006/main">
            <a:srgbClr val="EF5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Navigation robot artwork contour 1">
            <a:extLst xmlns:a="http://schemas.openxmlformats.org/drawingml/2006/main">
              <a:ext uri="{FF2B5EF4-FFF2-40B4-BE49-F238E27FC236}">
                <a16:creationId xmlns:a16="http://schemas.microsoft.com/office/drawing/2014/main" id="{ABB1832A-55C9-4B55-AAF6-F6F73CD0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496050"/>
            <a:ext cx="457200" cy="142875"/>
          </a:xfrm>
          <a:custGeom xmlns:a="http://schemas.openxmlformats.org/drawingml/2006/main">
            <a:pathLst>
              <a:path w="457200" h="142875">
                <a:moveTo>
                  <a:pt x="0" y="47625"/>
                </a:moveTo>
                <a:lnTo>
                  <a:pt x="0" y="85725"/>
                </a:lnTo>
                <a:lnTo>
                  <a:pt x="28575" y="123825"/>
                </a:lnTo>
                <a:lnTo>
                  <a:pt x="47625" y="133350"/>
                </a:lnTo>
                <a:lnTo>
                  <a:pt x="104775" y="133350"/>
                </a:lnTo>
                <a:lnTo>
                  <a:pt x="114300" y="142875"/>
                </a:lnTo>
                <a:lnTo>
                  <a:pt x="390525" y="142875"/>
                </a:lnTo>
                <a:lnTo>
                  <a:pt x="400050" y="133350"/>
                </a:lnTo>
                <a:lnTo>
                  <a:pt x="419100" y="133350"/>
                </a:lnTo>
                <a:lnTo>
                  <a:pt x="438150" y="123825"/>
                </a:lnTo>
                <a:lnTo>
                  <a:pt x="457200" y="95250"/>
                </a:lnTo>
                <a:lnTo>
                  <a:pt x="457200" y="38100"/>
                </a:lnTo>
                <a:lnTo>
                  <a:pt x="447675" y="19050"/>
                </a:lnTo>
                <a:lnTo>
                  <a:pt x="438150" y="19050"/>
                </a:lnTo>
                <a:lnTo>
                  <a:pt x="419100" y="0"/>
                </a:lnTo>
                <a:lnTo>
                  <a:pt x="47625" y="0"/>
                </a:lnTo>
                <a:lnTo>
                  <a:pt x="28575" y="9525"/>
                </a:lnTo>
                <a:close/>
              </a:path>
            </a:pathLst>
          </a:custGeom>
          <a:solidFill xmlns:a="http://schemas.openxmlformats.org/drawingml/2006/main">
            <a:srgbClr val="385C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Navigation robot artwork contour 2">
            <a:extLst xmlns:a="http://schemas.openxmlformats.org/drawingml/2006/main">
              <a:ext uri="{FF2B5EF4-FFF2-40B4-BE49-F238E27FC236}">
                <a16:creationId xmlns:a16="http://schemas.microsoft.com/office/drawing/2014/main" id="{41767B01-637C-46B0-8265-4A18824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6076950"/>
            <a:ext cx="600075" cy="381000"/>
          </a:xfrm>
          <a:custGeom xmlns:a="http://schemas.openxmlformats.org/drawingml/2006/main">
            <a:pathLst>
              <a:path w="600075" h="381000">
                <a:moveTo>
                  <a:pt x="0" y="9525"/>
                </a:moveTo>
                <a:lnTo>
                  <a:pt x="0" y="47625"/>
                </a:lnTo>
                <a:lnTo>
                  <a:pt x="38100" y="95250"/>
                </a:lnTo>
                <a:lnTo>
                  <a:pt x="38100" y="180975"/>
                </a:lnTo>
                <a:lnTo>
                  <a:pt x="76200" y="209550"/>
                </a:lnTo>
                <a:lnTo>
                  <a:pt x="142875" y="209550"/>
                </a:lnTo>
                <a:lnTo>
                  <a:pt x="152400" y="219075"/>
                </a:lnTo>
                <a:lnTo>
                  <a:pt x="152400" y="371475"/>
                </a:lnTo>
                <a:lnTo>
                  <a:pt x="161925" y="381000"/>
                </a:lnTo>
                <a:lnTo>
                  <a:pt x="457200" y="381000"/>
                </a:lnTo>
                <a:lnTo>
                  <a:pt x="457200" y="209550"/>
                </a:lnTo>
                <a:lnTo>
                  <a:pt x="466725" y="200025"/>
                </a:lnTo>
                <a:lnTo>
                  <a:pt x="514350" y="200025"/>
                </a:lnTo>
                <a:lnTo>
                  <a:pt x="523875" y="209550"/>
                </a:lnTo>
                <a:lnTo>
                  <a:pt x="523875" y="276225"/>
                </a:lnTo>
                <a:lnTo>
                  <a:pt x="485775" y="314325"/>
                </a:lnTo>
                <a:lnTo>
                  <a:pt x="485775" y="342900"/>
                </a:lnTo>
                <a:lnTo>
                  <a:pt x="476250" y="361950"/>
                </a:lnTo>
                <a:lnTo>
                  <a:pt x="495300" y="381000"/>
                </a:lnTo>
                <a:lnTo>
                  <a:pt x="504825" y="381000"/>
                </a:lnTo>
                <a:lnTo>
                  <a:pt x="514350" y="371475"/>
                </a:lnTo>
                <a:lnTo>
                  <a:pt x="514350" y="342900"/>
                </a:lnTo>
                <a:lnTo>
                  <a:pt x="533400" y="323850"/>
                </a:lnTo>
                <a:lnTo>
                  <a:pt x="552450" y="323850"/>
                </a:lnTo>
                <a:lnTo>
                  <a:pt x="561975" y="333375"/>
                </a:lnTo>
                <a:lnTo>
                  <a:pt x="561975" y="361950"/>
                </a:lnTo>
                <a:lnTo>
                  <a:pt x="581025" y="381000"/>
                </a:lnTo>
                <a:lnTo>
                  <a:pt x="590550" y="381000"/>
                </a:lnTo>
                <a:lnTo>
                  <a:pt x="600075" y="361950"/>
                </a:lnTo>
                <a:lnTo>
                  <a:pt x="600075" y="333375"/>
                </a:lnTo>
                <a:lnTo>
                  <a:pt x="590550" y="314325"/>
                </a:lnTo>
                <a:lnTo>
                  <a:pt x="561975" y="285750"/>
                </a:lnTo>
                <a:lnTo>
                  <a:pt x="561975" y="209550"/>
                </a:lnTo>
                <a:lnTo>
                  <a:pt x="552450" y="200025"/>
                </a:lnTo>
                <a:lnTo>
                  <a:pt x="552450" y="180975"/>
                </a:lnTo>
                <a:lnTo>
                  <a:pt x="533400" y="171450"/>
                </a:lnTo>
                <a:lnTo>
                  <a:pt x="495300" y="171450"/>
                </a:lnTo>
                <a:lnTo>
                  <a:pt x="485775" y="161925"/>
                </a:lnTo>
                <a:lnTo>
                  <a:pt x="466725" y="161925"/>
                </a:lnTo>
                <a:lnTo>
                  <a:pt x="457200" y="152400"/>
                </a:lnTo>
                <a:lnTo>
                  <a:pt x="457200" y="114300"/>
                </a:lnTo>
                <a:lnTo>
                  <a:pt x="390525" y="114300"/>
                </a:lnTo>
                <a:lnTo>
                  <a:pt x="381000" y="123825"/>
                </a:lnTo>
                <a:lnTo>
                  <a:pt x="361950" y="114300"/>
                </a:lnTo>
                <a:lnTo>
                  <a:pt x="323850" y="114300"/>
                </a:lnTo>
                <a:lnTo>
                  <a:pt x="314325" y="123825"/>
                </a:lnTo>
                <a:lnTo>
                  <a:pt x="285750" y="123825"/>
                </a:lnTo>
                <a:lnTo>
                  <a:pt x="276225" y="114300"/>
                </a:lnTo>
                <a:lnTo>
                  <a:pt x="161925" y="114300"/>
                </a:lnTo>
                <a:lnTo>
                  <a:pt x="152400" y="123825"/>
                </a:lnTo>
                <a:lnTo>
                  <a:pt x="152400" y="161925"/>
                </a:lnTo>
                <a:lnTo>
                  <a:pt x="133350" y="180975"/>
                </a:lnTo>
                <a:lnTo>
                  <a:pt x="114300" y="180975"/>
                </a:lnTo>
                <a:lnTo>
                  <a:pt x="76200" y="161925"/>
                </a:lnTo>
                <a:lnTo>
                  <a:pt x="76200" y="95250"/>
                </a:lnTo>
                <a:lnTo>
                  <a:pt x="114300" y="57150"/>
                </a:lnTo>
                <a:lnTo>
                  <a:pt x="114300" y="0"/>
                </a:lnTo>
                <a:lnTo>
                  <a:pt x="95250" y="0"/>
                </a:lnTo>
                <a:lnTo>
                  <a:pt x="85725" y="9525"/>
                </a:lnTo>
                <a:lnTo>
                  <a:pt x="85725" y="38100"/>
                </a:lnTo>
                <a:lnTo>
                  <a:pt x="76200" y="47625"/>
                </a:lnTo>
                <a:lnTo>
                  <a:pt x="47625" y="47625"/>
                </a:lnTo>
                <a:lnTo>
                  <a:pt x="28575" y="28575"/>
                </a:lnTo>
                <a:lnTo>
                  <a:pt x="28575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385C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Navigation robot artwork contour 3">
            <a:extLst xmlns:a="http://schemas.openxmlformats.org/drawingml/2006/main">
              <a:ext uri="{FF2B5EF4-FFF2-40B4-BE49-F238E27FC236}">
                <a16:creationId xmlns:a16="http://schemas.microsoft.com/office/drawing/2014/main" id="{05C71AC4-5876-4BE5-9024-A86B7E05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857875"/>
            <a:ext cx="238125" cy="304800"/>
          </a:xfrm>
          <a:custGeom xmlns:a="http://schemas.openxmlformats.org/drawingml/2006/main">
            <a:pathLst>
              <a:path w="238125" h="304800">
                <a:moveTo>
                  <a:pt x="104775" y="0"/>
                </a:moveTo>
                <a:lnTo>
                  <a:pt x="85725" y="9525"/>
                </a:lnTo>
                <a:lnTo>
                  <a:pt x="85725" y="47625"/>
                </a:lnTo>
                <a:lnTo>
                  <a:pt x="104775" y="76200"/>
                </a:lnTo>
                <a:lnTo>
                  <a:pt x="104775" y="104775"/>
                </a:lnTo>
                <a:lnTo>
                  <a:pt x="95250" y="114300"/>
                </a:lnTo>
                <a:lnTo>
                  <a:pt x="19050" y="114300"/>
                </a:lnTo>
                <a:lnTo>
                  <a:pt x="0" y="133350"/>
                </a:lnTo>
                <a:lnTo>
                  <a:pt x="0" y="285750"/>
                </a:lnTo>
                <a:lnTo>
                  <a:pt x="28575" y="304800"/>
                </a:lnTo>
                <a:lnTo>
                  <a:pt x="209550" y="304800"/>
                </a:lnTo>
                <a:lnTo>
                  <a:pt x="228600" y="285750"/>
                </a:lnTo>
                <a:lnTo>
                  <a:pt x="238125" y="285750"/>
                </a:lnTo>
                <a:lnTo>
                  <a:pt x="238125" y="133350"/>
                </a:lnTo>
                <a:lnTo>
                  <a:pt x="219075" y="114300"/>
                </a:lnTo>
                <a:lnTo>
                  <a:pt x="142875" y="114300"/>
                </a:lnTo>
                <a:lnTo>
                  <a:pt x="133350" y="104775"/>
                </a:lnTo>
                <a:lnTo>
                  <a:pt x="133350" y="66675"/>
                </a:lnTo>
                <a:lnTo>
                  <a:pt x="152400" y="47625"/>
                </a:lnTo>
                <a:lnTo>
                  <a:pt x="152400" y="1905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385C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Frozen expert snowflake">
            <a:extLst xmlns:a="http://schemas.openxmlformats.org/drawingml/2006/main">
              <a:ext uri="{FF2B5EF4-FFF2-40B4-BE49-F238E27FC236}">
                <a16:creationId xmlns:a16="http://schemas.microsoft.com/office/drawing/2014/main" id="{A73F5E6A-17AE-4C4C-93DE-A30742B0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310713"/>
            <a:ext cx="228600" cy="197973"/>
          </a:xfrm>
          <a:custGeom xmlns:a="http://schemas.openxmlformats.org/drawingml/2006/main">
            <a:pathLst>
              <a:path w="228600" h="197973">
                <a:moveTo>
                  <a:pt x="114300" y="98987"/>
                </a:moveTo>
                <a:lnTo>
                  <a:pt x="228600" y="98987"/>
                </a:lnTo>
                <a:moveTo>
                  <a:pt x="142875" y="127562"/>
                </a:moveTo>
                <a:lnTo>
                  <a:pt x="180975" y="98987"/>
                </a:lnTo>
                <a:lnTo>
                  <a:pt x="142875" y="70412"/>
                </a:lnTo>
                <a:moveTo>
                  <a:pt x="114300" y="98987"/>
                </a:moveTo>
                <a:lnTo>
                  <a:pt x="171450" y="197973"/>
                </a:lnTo>
                <a:moveTo>
                  <a:pt x="103841" y="138021"/>
                </a:moveTo>
                <a:lnTo>
                  <a:pt x="147638" y="156729"/>
                </a:lnTo>
                <a:lnTo>
                  <a:pt x="153334" y="109446"/>
                </a:lnTo>
                <a:moveTo>
                  <a:pt x="114300" y="98987"/>
                </a:moveTo>
                <a:lnTo>
                  <a:pt x="57150" y="197973"/>
                </a:lnTo>
                <a:moveTo>
                  <a:pt x="75266" y="109446"/>
                </a:moveTo>
                <a:lnTo>
                  <a:pt x="80963" y="156729"/>
                </a:lnTo>
                <a:lnTo>
                  <a:pt x="124759" y="138021"/>
                </a:lnTo>
                <a:moveTo>
                  <a:pt x="114300" y="98987"/>
                </a:moveTo>
                <a:lnTo>
                  <a:pt x="0" y="98987"/>
                </a:lnTo>
                <a:moveTo>
                  <a:pt x="85725" y="70412"/>
                </a:moveTo>
                <a:lnTo>
                  <a:pt x="47625" y="98987"/>
                </a:lnTo>
                <a:lnTo>
                  <a:pt x="85725" y="127562"/>
                </a:lnTo>
                <a:moveTo>
                  <a:pt x="114300" y="98987"/>
                </a:moveTo>
                <a:lnTo>
                  <a:pt x="57150" y="0"/>
                </a:lnTo>
                <a:moveTo>
                  <a:pt x="124759" y="59953"/>
                </a:moveTo>
                <a:lnTo>
                  <a:pt x="80963" y="41244"/>
                </a:lnTo>
                <a:lnTo>
                  <a:pt x="75266" y="88528"/>
                </a:lnTo>
                <a:moveTo>
                  <a:pt x="114300" y="98987"/>
                </a:moveTo>
                <a:lnTo>
                  <a:pt x="171450" y="0"/>
                </a:lnTo>
                <a:moveTo>
                  <a:pt x="153334" y="88528"/>
                </a:moveTo>
                <a:lnTo>
                  <a:pt x="147638" y="41244"/>
                </a:lnTo>
                <a:lnTo>
                  <a:pt x="103841" y="5995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CCFE2"/>
            </a:solidFill>
            <a:prstDash val="solid"/>
          </a:ln>
        </p:spPr>
      </p:sp>
      <p:sp>
        <p:nvSpPr>
          <p:cNvPr id="222" name="Frozen expert snowflake">
            <a:extLst xmlns:a="http://schemas.openxmlformats.org/drawingml/2006/main">
              <a:ext uri="{FF2B5EF4-FFF2-40B4-BE49-F238E27FC236}">
                <a16:creationId xmlns:a16="http://schemas.microsoft.com/office/drawing/2014/main" id="{1502B7D4-9459-4ADF-90A6-8FAB6B40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72838"/>
            <a:ext cx="228600" cy="197973"/>
          </a:xfrm>
          <a:custGeom xmlns:a="http://schemas.openxmlformats.org/drawingml/2006/main">
            <a:pathLst>
              <a:path w="228600" h="197973">
                <a:moveTo>
                  <a:pt x="114300" y="98987"/>
                </a:moveTo>
                <a:lnTo>
                  <a:pt x="228600" y="98987"/>
                </a:lnTo>
                <a:moveTo>
                  <a:pt x="142875" y="127562"/>
                </a:moveTo>
                <a:lnTo>
                  <a:pt x="180975" y="98987"/>
                </a:lnTo>
                <a:lnTo>
                  <a:pt x="142875" y="70412"/>
                </a:lnTo>
                <a:moveTo>
                  <a:pt x="114300" y="98987"/>
                </a:moveTo>
                <a:lnTo>
                  <a:pt x="171450" y="197973"/>
                </a:lnTo>
                <a:moveTo>
                  <a:pt x="103841" y="138021"/>
                </a:moveTo>
                <a:lnTo>
                  <a:pt x="147638" y="156729"/>
                </a:lnTo>
                <a:lnTo>
                  <a:pt x="153334" y="109446"/>
                </a:lnTo>
                <a:moveTo>
                  <a:pt x="114300" y="98987"/>
                </a:moveTo>
                <a:lnTo>
                  <a:pt x="57150" y="197973"/>
                </a:lnTo>
                <a:moveTo>
                  <a:pt x="75266" y="109446"/>
                </a:moveTo>
                <a:lnTo>
                  <a:pt x="80963" y="156729"/>
                </a:lnTo>
                <a:lnTo>
                  <a:pt x="124759" y="138021"/>
                </a:lnTo>
                <a:moveTo>
                  <a:pt x="114300" y="98987"/>
                </a:moveTo>
                <a:lnTo>
                  <a:pt x="0" y="98987"/>
                </a:lnTo>
                <a:moveTo>
                  <a:pt x="85725" y="70412"/>
                </a:moveTo>
                <a:lnTo>
                  <a:pt x="47625" y="98987"/>
                </a:lnTo>
                <a:lnTo>
                  <a:pt x="85725" y="127562"/>
                </a:lnTo>
                <a:moveTo>
                  <a:pt x="114300" y="98987"/>
                </a:moveTo>
                <a:lnTo>
                  <a:pt x="57150" y="0"/>
                </a:lnTo>
                <a:moveTo>
                  <a:pt x="124759" y="59953"/>
                </a:moveTo>
                <a:lnTo>
                  <a:pt x="80963" y="41244"/>
                </a:lnTo>
                <a:lnTo>
                  <a:pt x="75266" y="88528"/>
                </a:lnTo>
                <a:moveTo>
                  <a:pt x="114300" y="98987"/>
                </a:moveTo>
                <a:lnTo>
                  <a:pt x="171450" y="0"/>
                </a:lnTo>
                <a:moveTo>
                  <a:pt x="153334" y="88528"/>
                </a:moveTo>
                <a:lnTo>
                  <a:pt x="147638" y="41244"/>
                </a:lnTo>
                <a:lnTo>
                  <a:pt x="103841" y="5995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CCFE2"/>
            </a:solidFill>
            <a:prstDash val="solid"/>
          </a:ln>
        </p:spPr>
      </p:sp>
      <p:sp>
        <p:nvSpPr>
          <p:cNvPr id="223" name="Frozen expert snowflake">
            <a:extLst xmlns:a="http://schemas.openxmlformats.org/drawingml/2006/main">
              <a:ext uri="{FF2B5EF4-FFF2-40B4-BE49-F238E27FC236}">
                <a16:creationId xmlns:a16="http://schemas.microsoft.com/office/drawing/2014/main" id="{22A4E0DF-1A72-4BFE-89F9-5BAD7AA1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063313"/>
            <a:ext cx="228600" cy="197973"/>
          </a:xfrm>
          <a:custGeom xmlns:a="http://schemas.openxmlformats.org/drawingml/2006/main">
            <a:pathLst>
              <a:path w="228600" h="197973">
                <a:moveTo>
                  <a:pt x="114300" y="98987"/>
                </a:moveTo>
                <a:lnTo>
                  <a:pt x="228600" y="98987"/>
                </a:lnTo>
                <a:moveTo>
                  <a:pt x="142875" y="127562"/>
                </a:moveTo>
                <a:lnTo>
                  <a:pt x="180975" y="98987"/>
                </a:lnTo>
                <a:lnTo>
                  <a:pt x="142875" y="70412"/>
                </a:lnTo>
                <a:moveTo>
                  <a:pt x="114300" y="98987"/>
                </a:moveTo>
                <a:lnTo>
                  <a:pt x="171450" y="197973"/>
                </a:lnTo>
                <a:moveTo>
                  <a:pt x="103841" y="138021"/>
                </a:moveTo>
                <a:lnTo>
                  <a:pt x="147638" y="156729"/>
                </a:lnTo>
                <a:lnTo>
                  <a:pt x="153334" y="109446"/>
                </a:lnTo>
                <a:moveTo>
                  <a:pt x="114300" y="98987"/>
                </a:moveTo>
                <a:lnTo>
                  <a:pt x="57150" y="197973"/>
                </a:lnTo>
                <a:moveTo>
                  <a:pt x="75266" y="109446"/>
                </a:moveTo>
                <a:lnTo>
                  <a:pt x="80963" y="156729"/>
                </a:lnTo>
                <a:lnTo>
                  <a:pt x="124759" y="138021"/>
                </a:lnTo>
                <a:moveTo>
                  <a:pt x="114300" y="98987"/>
                </a:moveTo>
                <a:lnTo>
                  <a:pt x="0" y="98987"/>
                </a:lnTo>
                <a:moveTo>
                  <a:pt x="85725" y="70412"/>
                </a:moveTo>
                <a:lnTo>
                  <a:pt x="47625" y="98987"/>
                </a:lnTo>
                <a:lnTo>
                  <a:pt x="85725" y="127562"/>
                </a:lnTo>
                <a:moveTo>
                  <a:pt x="114300" y="98987"/>
                </a:moveTo>
                <a:lnTo>
                  <a:pt x="57150" y="0"/>
                </a:lnTo>
                <a:moveTo>
                  <a:pt x="124759" y="59953"/>
                </a:moveTo>
                <a:lnTo>
                  <a:pt x="80963" y="41244"/>
                </a:lnTo>
                <a:lnTo>
                  <a:pt x="75266" y="88528"/>
                </a:lnTo>
                <a:moveTo>
                  <a:pt x="114300" y="98987"/>
                </a:moveTo>
                <a:lnTo>
                  <a:pt x="171450" y="0"/>
                </a:lnTo>
                <a:moveTo>
                  <a:pt x="153334" y="88528"/>
                </a:moveTo>
                <a:lnTo>
                  <a:pt x="147638" y="41244"/>
                </a:lnTo>
                <a:lnTo>
                  <a:pt x="103841" y="59953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CCFE2"/>
            </a:solidFill>
            <a:prstDash val="solid"/>
          </a:ln>
        </p:spPr>
      </p:sp>
      <p:sp>
        <p:nvSpPr>
          <p:cNvPr id="224" name="Navigation robot eye">
            <a:extLst xmlns:a="http://schemas.openxmlformats.org/drawingml/2006/main">
              <a:ext uri="{FF2B5EF4-FFF2-40B4-BE49-F238E27FC236}">
                <a16:creationId xmlns:a16="http://schemas.microsoft.com/office/drawing/2014/main" id="{957D12A4-0E75-4C1A-B483-0B76725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7730" y="6040755"/>
            <a:ext cx="53340" cy="53340"/>
          </a:xfrm>
          <a:custGeom xmlns:a="http://schemas.openxmlformats.org/drawingml/2006/main">
            <a:pathLst>
              <a:path w="53340" h="53340">
                <a:moveTo>
                  <a:pt x="53340" y="26670"/>
                </a:moveTo>
                <a:cubicBezTo>
                  <a:pt x="53340" y="41399"/>
                  <a:pt x="41399" y="53340"/>
                  <a:pt x="26670" y="53340"/>
                </a:cubicBezTo>
                <a:cubicBezTo>
                  <a:pt x="11941" y="53340"/>
                  <a:pt x="0" y="41399"/>
                  <a:pt x="0" y="26670"/>
                </a:cubicBezTo>
                <a:cubicBezTo>
                  <a:pt x="0" y="11941"/>
                  <a:pt x="11941" y="0"/>
                  <a:pt x="26670" y="0"/>
                </a:cubicBezTo>
                <a:cubicBezTo>
                  <a:pt x="41399" y="0"/>
                  <a:pt x="53340" y="11941"/>
                  <a:pt x="53340" y="2667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25" name="Navigation robot eye">
            <a:extLst xmlns:a="http://schemas.openxmlformats.org/drawingml/2006/main">
              <a:ext uri="{FF2B5EF4-FFF2-40B4-BE49-F238E27FC236}">
                <a16:creationId xmlns:a16="http://schemas.microsoft.com/office/drawing/2014/main" id="{1102CB2E-2CB6-409E-ABB4-D204A5EA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1080" y="6040755"/>
            <a:ext cx="53340" cy="53340"/>
          </a:xfrm>
          <a:custGeom xmlns:a="http://schemas.openxmlformats.org/drawingml/2006/main">
            <a:pathLst>
              <a:path w="53340" h="53340">
                <a:moveTo>
                  <a:pt x="53340" y="26670"/>
                </a:moveTo>
                <a:cubicBezTo>
                  <a:pt x="53340" y="41399"/>
                  <a:pt x="41399" y="53340"/>
                  <a:pt x="26670" y="53340"/>
                </a:cubicBezTo>
                <a:cubicBezTo>
                  <a:pt x="11941" y="53340"/>
                  <a:pt x="0" y="41399"/>
                  <a:pt x="0" y="26670"/>
                </a:cubicBezTo>
                <a:cubicBezTo>
                  <a:pt x="0" y="11941"/>
                  <a:pt x="11941" y="0"/>
                  <a:pt x="26670" y="0"/>
                </a:cubicBezTo>
                <a:cubicBezTo>
                  <a:pt x="41399" y="0"/>
                  <a:pt x="53340" y="11941"/>
                  <a:pt x="53340" y="2667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26" name="Navigation robot track">
            <a:extLst xmlns:a="http://schemas.openxmlformats.org/drawingml/2006/main">
              <a:ext uri="{FF2B5EF4-FFF2-40B4-BE49-F238E27FC236}">
                <a16:creationId xmlns:a16="http://schemas.microsoft.com/office/drawing/2014/main" id="{2DC6754E-9294-40F9-B2CC-137EFDB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6765" y="6530340"/>
            <a:ext cx="64770" cy="64770"/>
          </a:xfrm>
          <a:custGeom xmlns:a="http://schemas.openxmlformats.org/drawingml/2006/main">
            <a:pathLst>
              <a:path w="64770" h="64770">
                <a:moveTo>
                  <a:pt x="64770" y="32385"/>
                </a:moveTo>
                <a:cubicBezTo>
                  <a:pt x="64770" y="50271"/>
                  <a:pt x="50271" y="64770"/>
                  <a:pt x="32385" y="64770"/>
                </a:cubicBezTo>
                <a:cubicBezTo>
                  <a:pt x="14499" y="64770"/>
                  <a:pt x="0" y="50271"/>
                  <a:pt x="0" y="32385"/>
                </a:cubicBezTo>
                <a:cubicBezTo>
                  <a:pt x="0" y="14499"/>
                  <a:pt x="14499" y="0"/>
                  <a:pt x="32385" y="0"/>
                </a:cubicBezTo>
                <a:cubicBezTo>
                  <a:pt x="50271" y="0"/>
                  <a:pt x="64770" y="14499"/>
                  <a:pt x="64770" y="323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27" name="Navigation robot track">
            <a:extLst xmlns:a="http://schemas.openxmlformats.org/drawingml/2006/main">
              <a:ext uri="{FF2B5EF4-FFF2-40B4-BE49-F238E27FC236}">
                <a16:creationId xmlns:a16="http://schemas.microsoft.com/office/drawing/2014/main" id="{EBBE72CF-5451-40B6-A3C0-F3FDD3D1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9165" y="6530340"/>
            <a:ext cx="64770" cy="64770"/>
          </a:xfrm>
          <a:custGeom xmlns:a="http://schemas.openxmlformats.org/drawingml/2006/main">
            <a:pathLst>
              <a:path w="64770" h="64770">
                <a:moveTo>
                  <a:pt x="64770" y="32385"/>
                </a:moveTo>
                <a:cubicBezTo>
                  <a:pt x="64770" y="50271"/>
                  <a:pt x="50271" y="64770"/>
                  <a:pt x="32385" y="64770"/>
                </a:cubicBezTo>
                <a:cubicBezTo>
                  <a:pt x="14499" y="64770"/>
                  <a:pt x="0" y="50271"/>
                  <a:pt x="0" y="32385"/>
                </a:cubicBezTo>
                <a:cubicBezTo>
                  <a:pt x="0" y="14499"/>
                  <a:pt x="14499" y="0"/>
                  <a:pt x="32385" y="0"/>
                </a:cubicBezTo>
                <a:cubicBezTo>
                  <a:pt x="50271" y="0"/>
                  <a:pt x="64770" y="14499"/>
                  <a:pt x="64770" y="323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28" name="Navigation robot track">
            <a:extLst xmlns:a="http://schemas.openxmlformats.org/drawingml/2006/main">
              <a:ext uri="{FF2B5EF4-FFF2-40B4-BE49-F238E27FC236}">
                <a16:creationId xmlns:a16="http://schemas.microsoft.com/office/drawing/2014/main" id="{C96AC51C-2857-40E2-8D59-9A3C3E5A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1565" y="6530340"/>
            <a:ext cx="64770" cy="64770"/>
          </a:xfrm>
          <a:custGeom xmlns:a="http://schemas.openxmlformats.org/drawingml/2006/main">
            <a:pathLst>
              <a:path w="64770" h="64770">
                <a:moveTo>
                  <a:pt x="64770" y="32385"/>
                </a:moveTo>
                <a:cubicBezTo>
                  <a:pt x="64770" y="50271"/>
                  <a:pt x="50271" y="64770"/>
                  <a:pt x="32385" y="64770"/>
                </a:cubicBezTo>
                <a:cubicBezTo>
                  <a:pt x="14499" y="64770"/>
                  <a:pt x="0" y="50271"/>
                  <a:pt x="0" y="32385"/>
                </a:cubicBezTo>
                <a:cubicBezTo>
                  <a:pt x="0" y="14499"/>
                  <a:pt x="14499" y="0"/>
                  <a:pt x="32385" y="0"/>
                </a:cubicBezTo>
                <a:cubicBezTo>
                  <a:pt x="50271" y="0"/>
                  <a:pt x="64770" y="14499"/>
                  <a:pt x="64770" y="323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229" name="Navigation robot pulse">
            <a:extLst xmlns:a="http://schemas.openxmlformats.org/drawingml/2006/main">
              <a:ext uri="{FF2B5EF4-FFF2-40B4-BE49-F238E27FC236}">
                <a16:creationId xmlns:a16="http://schemas.microsoft.com/office/drawing/2014/main" id="{42C3F21B-0354-4354-B071-8B5856C3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238875"/>
            <a:ext cx="304800" cy="142875"/>
          </a:xfrm>
          <a:custGeom xmlns:a="http://schemas.openxmlformats.org/drawingml/2006/main">
            <a:pathLst>
              <a:path w="304800" h="142875">
                <a:moveTo>
                  <a:pt x="0" y="57150"/>
                </a:moveTo>
                <a:lnTo>
                  <a:pt x="76200" y="57150"/>
                </a:lnTo>
                <a:lnTo>
                  <a:pt x="104775" y="0"/>
                </a:lnTo>
                <a:lnTo>
                  <a:pt x="152400" y="142875"/>
                </a:lnTo>
                <a:lnTo>
                  <a:pt x="200025" y="57150"/>
                </a:lnTo>
                <a:lnTo>
                  <a:pt x="257175" y="85725"/>
                </a:lnTo>
                <a:lnTo>
                  <a:pt x="30480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0" name="Assign pseudo labels">
            <a:extLst xmlns:a="http://schemas.openxmlformats.org/drawingml/2006/main">
              <a:ext uri="{FF2B5EF4-FFF2-40B4-BE49-F238E27FC236}">
                <a16:creationId xmlns:a16="http://schemas.microsoft.com/office/drawing/2014/main" id="{3845D8CA-378B-4F21-A366-C562C4FB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31432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 pseudo labels</a:t>
            </a:r>
          </a:p>
        </p:txBody>
      </p:sp>
      <p:sp>
        <p:nvSpPr>
          <p:cNvPr id="231" name="Unlabeled data">
            <a:extLst xmlns:a="http://schemas.openxmlformats.org/drawingml/2006/main">
              <a:ext uri="{FF2B5EF4-FFF2-40B4-BE49-F238E27FC236}">
                <a16:creationId xmlns:a16="http://schemas.microsoft.com/office/drawing/2014/main" id="{5F696E03-7170-4029-A10D-F7A536F7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13430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Unlabeled data</a:t>
            </a:r>
          </a:p>
        </p:txBody>
      </p:sp>
      <p:sp>
        <p:nvSpPr>
          <p:cNvPr id="232" name="Batching">
            <a:extLst xmlns:a="http://schemas.openxmlformats.org/drawingml/2006/main">
              <a:ext uri="{FF2B5EF4-FFF2-40B4-BE49-F238E27FC236}">
                <a16:creationId xmlns:a16="http://schemas.microsoft.com/office/drawing/2014/main" id="{B842A9DC-4C6F-4A68-92FB-E3A783C7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34327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Batching</a:t>
            </a:r>
          </a:p>
        </p:txBody>
      </p:sp>
      <p:sp>
        <p:nvSpPr>
          <p:cNvPr id="233" name="Shuffle">
            <a:extLst xmlns:a="http://schemas.openxmlformats.org/drawingml/2006/main">
              <a:ext uri="{FF2B5EF4-FFF2-40B4-BE49-F238E27FC236}">
                <a16:creationId xmlns:a16="http://schemas.microsoft.com/office/drawing/2014/main" id="{A8A18AC8-F0EE-4F42-AEDA-74C35EE0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4772025"/>
            <a:ext cx="847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Shuffle</a:t>
            </a:r>
          </a:p>
        </p:txBody>
      </p:sp>
      <p:sp>
        <p:nvSpPr>
          <p:cNvPr id="234" name="Relation Labels">
            <a:extLst xmlns:a="http://schemas.openxmlformats.org/drawingml/2006/main">
              <a:ext uri="{FF2B5EF4-FFF2-40B4-BE49-F238E27FC236}">
                <a16:creationId xmlns:a16="http://schemas.microsoft.com/office/drawing/2014/main" id="{3B9E47E9-436F-4DDD-8B56-2DFFB42C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6543675"/>
            <a:ext cx="1704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 Labels</a:t>
            </a:r>
          </a:p>
        </p:txBody>
      </p:sp>
      <p:sp>
        <p:nvSpPr>
          <p:cNvPr id="235" name="Constraints set">
            <a:extLst xmlns:a="http://schemas.openxmlformats.org/drawingml/2006/main">
              <a:ext uri="{FF2B5EF4-FFF2-40B4-BE49-F238E27FC236}">
                <a16:creationId xmlns:a16="http://schemas.microsoft.com/office/drawing/2014/main" id="{E87556E9-D9D1-4789-B891-3CE42E3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6287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Constraints set</a:t>
            </a:r>
          </a:p>
        </p:txBody>
      </p:sp>
      <p:sp>
        <p:nvSpPr>
          <p:cNvPr id="236" name="Refine D">
            <a:extLst xmlns:a="http://schemas.openxmlformats.org/drawingml/2006/main">
              <a:ext uri="{FF2B5EF4-FFF2-40B4-BE49-F238E27FC236}">
                <a16:creationId xmlns:a16="http://schemas.microsoft.com/office/drawing/2014/main" id="{3B1652F8-ABA0-48E2-967B-F16C165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9239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Refine D</a:t>
            </a:r>
          </a:p>
        </p:txBody>
      </p:sp>
      <p:sp>
        <p:nvSpPr>
          <p:cNvPr id="237" name="Extract&#10;features">
            <a:extLst xmlns:a="http://schemas.openxmlformats.org/drawingml/2006/main">
              <a:ext uri="{FF2B5EF4-FFF2-40B4-BE49-F238E27FC236}">
                <a16:creationId xmlns:a16="http://schemas.microsoft.com/office/drawing/2014/main" id="{CC81DD37-714F-411E-8840-1B03727E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425" y="2114550"/>
            <a:ext cx="1076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38" name="Features">
            <a:extLst xmlns:a="http://schemas.openxmlformats.org/drawingml/2006/main">
              <a:ext uri="{FF2B5EF4-FFF2-40B4-BE49-F238E27FC236}">
                <a16:creationId xmlns:a16="http://schemas.microsoft.com/office/drawing/2014/main" id="{45860C77-DBF6-4916-A32F-88F1E6F4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914650"/>
            <a:ext cx="106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39" name="Distance matrix">
            <a:extLst xmlns:a="http://schemas.openxmlformats.org/drawingml/2006/main">
              <a:ext uri="{FF2B5EF4-FFF2-40B4-BE49-F238E27FC236}">
                <a16:creationId xmlns:a16="http://schemas.microsoft.com/office/drawing/2014/main" id="{393329FF-BF35-45AB-B84E-C12D78FE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29146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Distance matrix</a:t>
            </a:r>
          </a:p>
        </p:txBody>
      </p:sp>
      <p:sp>
        <p:nvSpPr>
          <p:cNvPr id="240" name="Clusters">
            <a:extLst xmlns:a="http://schemas.openxmlformats.org/drawingml/2006/main">
              <a:ext uri="{FF2B5EF4-FFF2-40B4-BE49-F238E27FC236}">
                <a16:creationId xmlns:a16="http://schemas.microsoft.com/office/drawing/2014/main" id="{8140C82C-BE41-4114-A059-56AB67A5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9146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241" name="1  2  3 ... N">
            <a:extLst xmlns:a="http://schemas.openxmlformats.org/drawingml/2006/main">
              <a:ext uri="{FF2B5EF4-FFF2-40B4-BE49-F238E27FC236}">
                <a16:creationId xmlns:a16="http://schemas.microsoft.com/office/drawing/2014/main" id="{88C3315D-321D-41A3-9C58-54572754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1590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2  3 ... N</a:t>
            </a:r>
          </a:p>
        </p:txBody>
      </p:sp>
      <p:sp>
        <p:nvSpPr>
          <p:cNvPr id="242" name="1">
            <a:extLst xmlns:a="http://schemas.openxmlformats.org/drawingml/2006/main">
              <a:ext uri="{FF2B5EF4-FFF2-40B4-BE49-F238E27FC236}">
                <a16:creationId xmlns:a16="http://schemas.microsoft.com/office/drawing/2014/main" id="{2F2C2537-CB27-48A3-B063-177FEA64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84785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3" name="2">
            <a:extLst xmlns:a="http://schemas.openxmlformats.org/drawingml/2006/main">
              <a:ext uri="{FF2B5EF4-FFF2-40B4-BE49-F238E27FC236}">
                <a16:creationId xmlns:a16="http://schemas.microsoft.com/office/drawing/2014/main" id="{5B871BAA-7FEA-4122-B9D3-49D7114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085975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4" name="3">
            <a:extLst xmlns:a="http://schemas.openxmlformats.org/drawingml/2006/main">
              <a:ext uri="{FF2B5EF4-FFF2-40B4-BE49-F238E27FC236}">
                <a16:creationId xmlns:a16="http://schemas.microsoft.com/office/drawing/2014/main" id="{4F91892F-8F7C-48DB-8EE3-D6C26780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324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5" name="...">
            <a:extLst xmlns:a="http://schemas.openxmlformats.org/drawingml/2006/main">
              <a:ext uri="{FF2B5EF4-FFF2-40B4-BE49-F238E27FC236}">
                <a16:creationId xmlns:a16="http://schemas.microsoft.com/office/drawing/2014/main" id="{9C476151-9483-44D8-974F-1BB2DA82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25431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46" name="N">
            <a:extLst xmlns:a="http://schemas.openxmlformats.org/drawingml/2006/main">
              <a:ext uri="{FF2B5EF4-FFF2-40B4-BE49-F238E27FC236}">
                <a16:creationId xmlns:a16="http://schemas.microsoft.com/office/drawing/2014/main" id="{F1AFACEA-C8C7-43D4-BAFC-CE23E22C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7241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47" name="√">
            <a:extLst xmlns:a="http://schemas.openxmlformats.org/drawingml/2006/main">
              <a:ext uri="{FF2B5EF4-FFF2-40B4-BE49-F238E27FC236}">
                <a16:creationId xmlns:a16="http://schemas.microsoft.com/office/drawing/2014/main" id="{339F9826-136B-4AAB-9DDC-62626D8C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8667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√</a:t>
            </a:r>
          </a:p>
        </p:txBody>
      </p:sp>
      <p:sp>
        <p:nvSpPr>
          <p:cNvPr id="248" name="×">
            <a:extLst xmlns:a="http://schemas.openxmlformats.org/drawingml/2006/main">
              <a:ext uri="{FF2B5EF4-FFF2-40B4-BE49-F238E27FC236}">
                <a16:creationId xmlns:a16="http://schemas.microsoft.com/office/drawing/2014/main" id="{61B9EA91-B0F5-4710-A1AC-82ACE13E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8763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49" name="×">
            <a:extLst xmlns:a="http://schemas.openxmlformats.org/drawingml/2006/main">
              <a:ext uri="{FF2B5EF4-FFF2-40B4-BE49-F238E27FC236}">
                <a16:creationId xmlns:a16="http://schemas.microsoft.com/office/drawing/2014/main" id="{4E5A59BE-FF5C-420B-A115-68C0C13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1181100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50" name="√">
            <a:extLst xmlns:a="http://schemas.openxmlformats.org/drawingml/2006/main">
              <a:ext uri="{FF2B5EF4-FFF2-40B4-BE49-F238E27FC236}">
                <a16:creationId xmlns:a16="http://schemas.microsoft.com/office/drawing/2014/main" id="{BD0F5F23-5B77-4F04-9B91-EB70E92B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12287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√</a:t>
            </a:r>
          </a:p>
        </p:txBody>
      </p:sp>
      <p:sp>
        <p:nvSpPr>
          <p:cNvPr id="251" name="L">
            <a:extLst xmlns:a="http://schemas.openxmlformats.org/drawingml/2006/main">
              <a:ext uri="{FF2B5EF4-FFF2-40B4-BE49-F238E27FC236}">
                <a16:creationId xmlns:a16="http://schemas.microsoft.com/office/drawing/2014/main" id="{CD5F1885-7EAB-4ED4-B8B8-9B220A30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3419475"/>
            <a:ext cx="2095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52" name="cluster">
            <a:extLst xmlns:a="http://schemas.openxmlformats.org/drawingml/2006/main">
              <a:ext uri="{FF2B5EF4-FFF2-40B4-BE49-F238E27FC236}">
                <a16:creationId xmlns:a16="http://schemas.microsoft.com/office/drawing/2014/main" id="{82799B54-CBF6-4AF8-BA24-E00DD99C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71875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cluster</a:t>
            </a:r>
          </a:p>
        </p:txBody>
      </p:sp>
      <p:sp>
        <p:nvSpPr>
          <p:cNvPr id="253" name="Style&#10;Encoder">
            <a:extLst xmlns:a="http://schemas.openxmlformats.org/drawingml/2006/main">
              <a:ext uri="{FF2B5EF4-FFF2-40B4-BE49-F238E27FC236}">
                <a16:creationId xmlns:a16="http://schemas.microsoft.com/office/drawing/2014/main" id="{CC22236B-BAA8-4369-8D5E-3837265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895725"/>
            <a:ext cx="962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54" name="Style&#10;Encoder">
            <a:extLst xmlns:a="http://schemas.openxmlformats.org/drawingml/2006/main">
              <a:ext uri="{FF2B5EF4-FFF2-40B4-BE49-F238E27FC236}">
                <a16:creationId xmlns:a16="http://schemas.microsoft.com/office/drawing/2014/main" id="{C24C080E-B21C-45C2-A40C-D81F7599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5353050"/>
            <a:ext cx="962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55" name="E">
            <a:extLst xmlns:a="http://schemas.openxmlformats.org/drawingml/2006/main">
              <a:ext uri="{FF2B5EF4-FFF2-40B4-BE49-F238E27FC236}">
                <a16:creationId xmlns:a16="http://schemas.microsoft.com/office/drawing/2014/main" id="{BA9C5C24-86A0-4B04-9942-2072E9CA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4781550"/>
            <a:ext cx="2286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56" name="s">
            <a:extLst xmlns:a="http://schemas.openxmlformats.org/drawingml/2006/main">
              <a:ext uri="{FF2B5EF4-FFF2-40B4-BE49-F238E27FC236}">
                <a16:creationId xmlns:a16="http://schemas.microsoft.com/office/drawing/2014/main" id="{FAE5DCB6-CD27-46C4-9A1B-87B1214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4943475"/>
            <a:ext cx="1333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57" name="Relation&#10;Network">
            <a:extLst xmlns:a="http://schemas.openxmlformats.org/drawingml/2006/main">
              <a:ext uri="{FF2B5EF4-FFF2-40B4-BE49-F238E27FC236}">
                <a16:creationId xmlns:a16="http://schemas.microsoft.com/office/drawing/2014/main" id="{62674F32-0E4F-4199-A98E-FFED0CC2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95900" y="4562475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258" name="E">
            <a:extLst xmlns:a="http://schemas.openxmlformats.org/drawingml/2006/main">
              <a:ext uri="{FF2B5EF4-FFF2-40B4-BE49-F238E27FC236}">
                <a16:creationId xmlns:a16="http://schemas.microsoft.com/office/drawing/2014/main" id="{71DB53E9-9385-4410-94A2-B667D566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5467350"/>
            <a:ext cx="2286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59" name="r">
            <a:extLst xmlns:a="http://schemas.openxmlformats.org/drawingml/2006/main">
              <a:ext uri="{FF2B5EF4-FFF2-40B4-BE49-F238E27FC236}">
                <a16:creationId xmlns:a16="http://schemas.microsoft.com/office/drawing/2014/main" id="{3891EFF0-CF59-4DDF-AE38-6C6EBD03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5629275"/>
            <a:ext cx="1333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60" name="L">
            <a:extLst xmlns:a="http://schemas.openxmlformats.org/drawingml/2006/main">
              <a:ext uri="{FF2B5EF4-FFF2-40B4-BE49-F238E27FC236}">
                <a16:creationId xmlns:a16="http://schemas.microsoft.com/office/drawing/2014/main" id="{17E0D3A0-2FED-45D8-B6CD-0E819E9A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6534150"/>
            <a:ext cx="219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61" name="pred">
            <a:extLst xmlns:a="http://schemas.openxmlformats.org/drawingml/2006/main">
              <a:ext uri="{FF2B5EF4-FFF2-40B4-BE49-F238E27FC236}">
                <a16:creationId xmlns:a16="http://schemas.microsoft.com/office/drawing/2014/main" id="{47383110-A6B3-404B-B830-A863696B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6696075"/>
            <a:ext cx="542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</a:t>
            </a:r>
          </a:p>
        </p:txBody>
      </p:sp>
      <p:sp>
        <p:nvSpPr>
          <p:cNvPr id="262" name="Environment">
            <a:extLst xmlns:a="http://schemas.openxmlformats.org/drawingml/2006/main">
              <a:ext uri="{FF2B5EF4-FFF2-40B4-BE49-F238E27FC236}">
                <a16:creationId xmlns:a16="http://schemas.microsoft.com/office/drawing/2014/main" id="{F8CE106D-B338-47A7-98A5-06A100BB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7675" y="190500"/>
            <a:ext cx="158115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63" name="RGB Observation (">
            <a:extLst xmlns:a="http://schemas.openxmlformats.org/drawingml/2006/main">
              <a:ext uri="{FF2B5EF4-FFF2-40B4-BE49-F238E27FC236}">
                <a16:creationId xmlns:a16="http://schemas.microsoft.com/office/drawing/2014/main" id="{6E4C73F4-0F28-4A4D-8681-072CD493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8667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RGB Observation (</a:t>
            </a:r>
          </a:p>
        </p:txBody>
      </p:sp>
      <p:sp>
        <p:nvSpPr>
          <p:cNvPr id="264" name="I">
            <a:extLst xmlns:a="http://schemas.openxmlformats.org/drawingml/2006/main">
              <a:ext uri="{FF2B5EF4-FFF2-40B4-BE49-F238E27FC236}">
                <a16:creationId xmlns:a16="http://schemas.microsoft.com/office/drawing/2014/main" id="{8D8A6A67-D4C2-4450-89C6-79F71B6F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866775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65" name="t">
            <a:extLst xmlns:a="http://schemas.openxmlformats.org/drawingml/2006/main">
              <a:ext uri="{FF2B5EF4-FFF2-40B4-BE49-F238E27FC236}">
                <a16:creationId xmlns:a16="http://schemas.microsoft.com/office/drawing/2014/main" id="{3ECA7BF1-35CE-4768-9E75-AA46FA36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1000125"/>
            <a:ext cx="114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6" name=")">
            <a:extLst xmlns:a="http://schemas.openxmlformats.org/drawingml/2006/main">
              <a:ext uri="{FF2B5EF4-FFF2-40B4-BE49-F238E27FC236}">
                <a16:creationId xmlns:a16="http://schemas.microsoft.com/office/drawing/2014/main" id="{9F8E1938-0831-43C5-A101-FAC7C438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866775"/>
            <a:ext cx="11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67" name="Room-expert">
            <a:extLst xmlns:a="http://schemas.openxmlformats.org/drawingml/2006/main">
              <a:ext uri="{FF2B5EF4-FFF2-40B4-BE49-F238E27FC236}">
                <a16:creationId xmlns:a16="http://schemas.microsoft.com/office/drawing/2014/main" id="{7FDECDB9-01CB-47AB-AA1C-99F3F318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275" y="9239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Room-expert</a:t>
            </a:r>
          </a:p>
        </p:txBody>
      </p:sp>
      <p:sp>
        <p:nvSpPr>
          <p:cNvPr id="268" name="Style&#10;Encoder">
            <a:extLst xmlns:a="http://schemas.openxmlformats.org/drawingml/2006/main">
              <a:ext uri="{FF2B5EF4-FFF2-40B4-BE49-F238E27FC236}">
                <a16:creationId xmlns:a16="http://schemas.microsoft.com/office/drawing/2014/main" id="{42D243C3-1070-4399-B1CF-88CA6A46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1466850"/>
            <a:ext cx="1019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69" name="Style&#10;Encoder">
            <a:extLst xmlns:a="http://schemas.openxmlformats.org/drawingml/2006/main">
              <a:ext uri="{FF2B5EF4-FFF2-40B4-BE49-F238E27FC236}">
                <a16:creationId xmlns:a16="http://schemas.microsoft.com/office/drawing/2014/main" id="{8197C2F7-2462-4FF0-A345-0A866AAC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228975"/>
            <a:ext cx="1019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70" name="Share weights">
            <a:extLst xmlns:a="http://schemas.openxmlformats.org/drawingml/2006/main">
              <a:ext uri="{FF2B5EF4-FFF2-40B4-BE49-F238E27FC236}">
                <a16:creationId xmlns:a16="http://schemas.microsoft.com/office/drawing/2014/main" id="{15266DFE-8209-4487-846F-1562814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0275" y="2552700"/>
            <a:ext cx="17335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weights</a:t>
            </a:r>
          </a:p>
        </p:txBody>
      </p:sp>
      <p:sp>
        <p:nvSpPr>
          <p:cNvPr id="271" name="Relation&#10;Network">
            <a:extLst xmlns:a="http://schemas.openxmlformats.org/drawingml/2006/main">
              <a:ext uri="{FF2B5EF4-FFF2-40B4-BE49-F238E27FC236}">
                <a16:creationId xmlns:a16="http://schemas.microsoft.com/office/drawing/2014/main" id="{FEBDF01B-0F1C-428B-8F30-FBB85C0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44450" y="2352675"/>
            <a:ext cx="1076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272" name="Goal Image (">
            <a:extLst xmlns:a="http://schemas.openxmlformats.org/drawingml/2006/main">
              <a:ext uri="{FF2B5EF4-FFF2-40B4-BE49-F238E27FC236}">
                <a16:creationId xmlns:a16="http://schemas.microsoft.com/office/drawing/2014/main" id="{198ACD2B-DD96-4AF6-9ABE-B47AA870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4181475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 Image (</a:t>
            </a:r>
          </a:p>
        </p:txBody>
      </p:sp>
      <p:sp>
        <p:nvSpPr>
          <p:cNvPr id="273" name="I">
            <a:extLst xmlns:a="http://schemas.openxmlformats.org/drawingml/2006/main">
              <a:ext uri="{FF2B5EF4-FFF2-40B4-BE49-F238E27FC236}">
                <a16:creationId xmlns:a16="http://schemas.microsoft.com/office/drawing/2014/main" id="{5BA35DE7-4AF8-450B-87C3-CAFA067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925" y="418147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74" name="g">
            <a:extLst xmlns:a="http://schemas.openxmlformats.org/drawingml/2006/main">
              <a:ext uri="{FF2B5EF4-FFF2-40B4-BE49-F238E27FC236}">
                <a16:creationId xmlns:a16="http://schemas.microsoft.com/office/drawing/2014/main" id="{8D558543-4424-4EA4-826E-6449CE30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4324350"/>
            <a:ext cx="1428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75" name=")">
            <a:extLst xmlns:a="http://schemas.openxmlformats.org/drawingml/2006/main">
              <a:ext uri="{FF2B5EF4-FFF2-40B4-BE49-F238E27FC236}">
                <a16:creationId xmlns:a16="http://schemas.microsoft.com/office/drawing/2014/main" id="{18FE2EB9-979E-40F3-A47D-5CEAE71E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4181475"/>
            <a:ext cx="123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76" name="Channel Concatenate">
            <a:extLst xmlns:a="http://schemas.openxmlformats.org/drawingml/2006/main">
              <a:ext uri="{FF2B5EF4-FFF2-40B4-BE49-F238E27FC236}">
                <a16:creationId xmlns:a16="http://schemas.microsoft.com/office/drawing/2014/main" id="{558B946F-BEDE-4CFC-9938-94E13A96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6686550"/>
            <a:ext cx="2438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Channel Concatenate</a:t>
            </a:r>
          </a:p>
        </p:txBody>
      </p:sp>
      <p:sp>
        <p:nvSpPr>
          <p:cNvPr id="277" name="ResNet-9">
            <a:extLst xmlns:a="http://schemas.openxmlformats.org/drawingml/2006/main">
              <a:ext uri="{FF2B5EF4-FFF2-40B4-BE49-F238E27FC236}">
                <a16:creationId xmlns:a16="http://schemas.microsoft.com/office/drawing/2014/main" id="{A653A143-30B5-4179-B546-7CB57178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725" y="5581650"/>
            <a:ext cx="11525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ResNet-9</a:t>
            </a:r>
          </a:p>
        </p:txBody>
      </p:sp>
      <p:sp>
        <p:nvSpPr>
          <p:cNvPr id="278" name="Flatten">
            <a:extLst xmlns:a="http://schemas.openxmlformats.org/drawingml/2006/main">
              <a:ext uri="{FF2B5EF4-FFF2-40B4-BE49-F238E27FC236}">
                <a16:creationId xmlns:a16="http://schemas.microsoft.com/office/drawing/2014/main" id="{8584ACA3-0947-47E0-82DB-F5436FD8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896850" y="5534025"/>
            <a:ext cx="96202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Flatten</a:t>
            </a:r>
          </a:p>
        </p:txBody>
      </p:sp>
      <p:sp>
        <p:nvSpPr>
          <p:cNvPr id="279" name="v">
            <a:extLst xmlns:a="http://schemas.openxmlformats.org/drawingml/2006/main">
              <a:ext uri="{FF2B5EF4-FFF2-40B4-BE49-F238E27FC236}">
                <a16:creationId xmlns:a16="http://schemas.microsoft.com/office/drawing/2014/main" id="{62D0D7A0-52F3-4D97-B19D-FC33A89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9850" y="4524375"/>
            <a:ext cx="1905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80" name="vis">
            <a:extLst xmlns:a="http://schemas.openxmlformats.org/drawingml/2006/main">
              <a:ext uri="{FF2B5EF4-FFF2-40B4-BE49-F238E27FC236}">
                <a16:creationId xmlns:a16="http://schemas.microsoft.com/office/drawing/2014/main" id="{AEFC1566-6642-4386-9EF7-370698A4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4676775"/>
            <a:ext cx="361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</a:t>
            </a:r>
          </a:p>
        </p:txBody>
      </p:sp>
      <p:sp>
        <p:nvSpPr>
          <p:cNvPr id="281" name="Visual Feature Extractor">
            <a:extLst xmlns:a="http://schemas.openxmlformats.org/drawingml/2006/main">
              <a:ext uri="{FF2B5EF4-FFF2-40B4-BE49-F238E27FC236}">
                <a16:creationId xmlns:a16="http://schemas.microsoft.com/office/drawing/2014/main" id="{125CA8C7-8FBA-4DFE-8985-8E3079C9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68655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 Feature Extractor</a:t>
            </a:r>
          </a:p>
        </p:txBody>
      </p:sp>
      <p:sp>
        <p:nvSpPr>
          <p:cNvPr id="282" name="E">
            <a:extLst xmlns:a="http://schemas.openxmlformats.org/drawingml/2006/main">
              <a:ext uri="{FF2B5EF4-FFF2-40B4-BE49-F238E27FC236}">
                <a16:creationId xmlns:a16="http://schemas.microsoft.com/office/drawing/2014/main" id="{7375BD72-40D1-4EE5-8FD2-4BD8BEF7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0825" y="66865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83" name="v">
            <a:extLst xmlns:a="http://schemas.openxmlformats.org/drawingml/2006/main">
              <a:ext uri="{FF2B5EF4-FFF2-40B4-BE49-F238E27FC236}">
                <a16:creationId xmlns:a16="http://schemas.microsoft.com/office/drawing/2014/main" id="{BD64E429-F1D1-4881-B33B-00DA62A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325" y="6877050"/>
            <a:ext cx="1905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84" name="Actions (aₜ)">
            <a:extLst xmlns:a="http://schemas.openxmlformats.org/drawingml/2006/main">
              <a:ext uri="{FF2B5EF4-FFF2-40B4-BE49-F238E27FC236}">
                <a16:creationId xmlns:a16="http://schemas.microsoft.com/office/drawing/2014/main" id="{4DB3DF74-F7ED-4B7B-B630-C45A833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0" y="2381250"/>
            <a:ext cx="1362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 (aₜ)</a:t>
            </a:r>
          </a:p>
        </p:txBody>
      </p:sp>
      <p:sp>
        <p:nvSpPr>
          <p:cNvPr id="285" name="Actor">
            <a:extLst xmlns:a="http://schemas.openxmlformats.org/drawingml/2006/main">
              <a:ext uri="{FF2B5EF4-FFF2-40B4-BE49-F238E27FC236}">
                <a16:creationId xmlns:a16="http://schemas.microsoft.com/office/drawing/2014/main" id="{7ED57303-E488-4DCE-80ED-5480FFBE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82875" y="34194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Actor</a:t>
            </a:r>
          </a:p>
        </p:txBody>
      </p:sp>
      <p:sp>
        <p:nvSpPr>
          <p:cNvPr id="286" name="Critic">
            <a:extLst xmlns:a="http://schemas.openxmlformats.org/drawingml/2006/main">
              <a:ext uri="{FF2B5EF4-FFF2-40B4-BE49-F238E27FC236}">
                <a16:creationId xmlns:a16="http://schemas.microsoft.com/office/drawing/2014/main" id="{AD5409A3-801B-4EDF-AA23-E7437366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0" y="34194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287" name="Navigation&#10;policy π">
            <a:extLst xmlns:a="http://schemas.openxmlformats.org/drawingml/2006/main">
              <a:ext uri="{FF2B5EF4-FFF2-40B4-BE49-F238E27FC236}">
                <a16:creationId xmlns:a16="http://schemas.microsoft.com/office/drawing/2014/main" id="{503164DB-E322-449E-986C-78B804E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425" y="3981450"/>
            <a:ext cx="1304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Navigation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π</a:t>
            </a:r>
          </a:p>
        </p:txBody>
      </p:sp>
      <p:sp>
        <p:nvSpPr>
          <p:cNvPr id="288" name="Reward (rₜ)">
            <a:extLst xmlns:a="http://schemas.openxmlformats.org/drawingml/2006/main">
              <a:ext uri="{FF2B5EF4-FFF2-40B4-BE49-F238E27FC236}">
                <a16:creationId xmlns:a16="http://schemas.microsoft.com/office/drawing/2014/main" id="{227A2D9B-188D-40A1-84D9-9DB13C65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0" y="52292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Reward (rₜ)</a:t>
            </a:r>
          </a:p>
        </p:txBody>
      </p:sp>
      <p:sp>
        <p:nvSpPr>
          <p:cNvPr id="289" name="(a) Offline Pre-training of Room Expert">
            <a:extLst xmlns:a="http://schemas.openxmlformats.org/drawingml/2006/main">
              <a:ext uri="{FF2B5EF4-FFF2-40B4-BE49-F238E27FC236}">
                <a16:creationId xmlns:a16="http://schemas.microsoft.com/office/drawing/2014/main" id="{4A5CD7E2-6CE7-4DF5-B7CE-3C4651C9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73342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Offline Pre-training of Room Expert</a:t>
            </a:r>
          </a:p>
        </p:txBody>
      </p:sp>
      <p:sp>
        <p:nvSpPr>
          <p:cNvPr id="290" name="(b) Image-goal Navigation Architecture with Room Expert">
            <a:extLst xmlns:a="http://schemas.openxmlformats.org/drawingml/2006/main">
              <a:ext uri="{FF2B5EF4-FFF2-40B4-BE49-F238E27FC236}">
                <a16:creationId xmlns:a16="http://schemas.microsoft.com/office/drawing/2014/main" id="{E33C59B3-92BC-410F-86C4-4177B45E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7334250"/>
            <a:ext cx="718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Image-goal Navigation Architecture with Room Expert</a:t>
            </a:r>
          </a:p>
        </p:txBody>
      </p:sp>
    </p:spTree>
    <p:extLst>
      <p:ext uri="{BB962C8B-B14F-4D97-AF65-F5344CB8AC3E}">
        <p14:creationId xmlns:p14="http://schemas.microsoft.com/office/powerpoint/2010/main" val="732336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2026-10-14T12:10:27.1880000Z</dcterms:created>
  <dcterms:modified xsi:type="dcterms:W3CDTF">2026-10-14T12:10:27.1880000Z</dcterms:modified>
</coreProperties>
</file>