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a6b8a8c78744aa" /><Relationship Type="http://schemas.openxmlformats.org/officeDocument/2006/relationships/extended-properties" Target="/docProps/app.xml" Id="R28b4eaa01b8945cf" /><Relationship Type="http://schemas.openxmlformats.org/officeDocument/2006/relationships/officeDocument" Target="/ppt/presentation.xml" Id="R0a8b2122e21945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6f5d8e90a14953"/>
  </p:sldMasterIdLst>
  <p:notesMasterIdLst>
    <p:notesMasterId xmlns:r="http://schemas.openxmlformats.org/officeDocument/2006/relationships" r:id="R5fac29ab2a22475f"/>
  </p:notesMasterIdLst>
  <p:sldIdLst>
    <p:sldId xmlns:r="http://schemas.openxmlformats.org/officeDocument/2006/relationships" id="256" r:id="Rcf36a8cfd2c647d5"/>
    <p:sldId xmlns:r="http://schemas.openxmlformats.org/officeDocument/2006/relationships" id="257" r:id="Rc5dce70c9b734e2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ce839fb4034b17" /><Relationship Type="http://schemas.openxmlformats.org/officeDocument/2006/relationships/slideMaster" Target="/ppt/slideMasters/slideMaster1.xml" Id="Rf06f5d8e90a14953" /><Relationship Type="http://schemas.openxmlformats.org/officeDocument/2006/relationships/notesMaster" Target="/ppt/notesMasters/notesMaster1.xml" Id="R5fac29ab2a22475f" /><Relationship Type="http://schemas.openxmlformats.org/officeDocument/2006/relationships/presProps" Target="/ppt/presProps.xml" Id="Rb6a62dfbb8434945" /><Relationship Type="http://schemas.openxmlformats.org/officeDocument/2006/relationships/tableStyles" Target="/ppt/tableStyles.xml" Id="Rb8d88eb854bb4d0a" /><Relationship Type="http://schemas.openxmlformats.org/officeDocument/2006/relationships/slide" Target="/ppt/slides/slide1.xml" Id="Rcf36a8cfd2c647d5" /><Relationship Type="http://schemas.openxmlformats.org/officeDocument/2006/relationships/slide" Target="/ppt/slides/slide2.xml" Id="Rc5dce70c9b734e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085fb494f241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d74ef02c21495e" /><Relationship Type="http://schemas.openxmlformats.org/officeDocument/2006/relationships/notesMaster" Target="/ppt/notesMasters/notesMaster1.xml" Id="R2f1d9a47568a47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621ea7d83e4dae" /><Relationship Type="http://schemas.openxmlformats.org/officeDocument/2006/relationships/notesMaster" Target="/ppt/notesMasters/notesMaster1.xml" Id="Re473373143de44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Room-aware Image-goal Navigation Intuition</a:t>
            </a:r>
          </a:p>
          <a:p xmlns:a="http://schemas.openxmlformats.org/drawingml/2006/main">
            <a:r>
              <a:t>Source: https://arxiv.org/abs/2502.10785</a:t>
            </a:r>
          </a:p>
          <a:p xmlns:a="http://schemas.openxmlformats.org/drawingml/2006/main">
            <a:r>
              <a:t>Approved image: image1.png; SHA-256: 993215d302155f45c9a388ac7c620b91e2acb71204c68fc89e313b332f1a5ca1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(4), whose internal pixels are not editable.</a:t>
            </a:r>
          </a:p>
          <a:p xmlns:a="http://schemas.openxmlformats.org/drawingml/2006/main">
            <a:r>
              <a:t>Font substitution: source PDF families mapped to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Room Expert Pretraining and Navigation Architecture</a:t>
            </a:r>
          </a:p>
          <a:p xmlns:a="http://schemas.openxmlformats.org/drawingml/2006/main">
            <a:r>
              <a:t>Source: https://arxiv.org/abs/2502.10785</a:t>
            </a:r>
          </a:p>
          <a:p xmlns:a="http://schemas.openxmlformats.org/drawingml/2006/main">
            <a:r>
              <a:t>Approved image: image2.png; SHA-256: 9fd26a5a8cb21b28f14ed687f702b2765fe7b00f8aebf10cb4c7e374481b80f0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(6), whose internal pixels are not editable.</a:t>
            </a:r>
          </a:p>
          <a:p xmlns:a="http://schemas.openxmlformats.org/drawingml/2006/main">
            <a:r>
              <a:t>Font substitution: source PDF families mapped to Arial,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517f9a5164b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65ae0ebb447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fea62f0dc4f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448b9c60446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7cecbc7a842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3211ef84d42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CDC7C4-73ED-44DE-B96F-4563F20E6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2428FD-3FAB-4EFA-9EC5-9FB2C3C461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2D955D-CA6F-4396-9F53-FA728D40FA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CEE813-B525-4584-900A-5C5B2193CD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FAA5AC-4343-4F69-966A-4E20261D71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4BD24E-968A-4651-9FED-6EDED7E4E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D4EF75-7939-4A92-A7AF-E3685FED0F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86D7F96-7737-4AAF-9BE7-0B754DC67C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C9AB4E-C2C9-4B9F-B8A2-6079D91132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EC5228-970C-4567-A2CF-79C990246C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20fa9351204f62" /><Relationship Type="http://schemas.openxmlformats.org/officeDocument/2006/relationships/slideLayout" Target="/ppt/slideLayouts/slideLayout1.xml" Id="Rbaf8c842381045a6" /><Relationship Type="http://schemas.openxmlformats.org/officeDocument/2006/relationships/slideLayout" Target="/ppt/slideLayouts/slideLayout2.xml" Id="R32a46ef0e404401c" /><Relationship Type="http://schemas.openxmlformats.org/officeDocument/2006/relationships/slideLayout" Target="/ppt/slideLayouts/slideLayout3.xml" Id="R6f42f77e28364f14" /><Relationship Type="http://schemas.openxmlformats.org/officeDocument/2006/relationships/slideLayout" Target="/ppt/slideLayouts/slideLayout4.xml" Id="R58eae322eb3d4752" /><Relationship Type="http://schemas.openxmlformats.org/officeDocument/2006/relationships/slideLayout" Target="/ppt/slideLayouts/slideLayout5.xml" Id="R0fcd415bc8af4e57" /><Relationship Type="http://schemas.openxmlformats.org/officeDocument/2006/relationships/slideLayout" Target="/ppt/slideLayouts/slideLayout6.xml" Id="Rc1d5c7106aea4c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f8c842381045a6"/>
    <p:sldLayoutId xmlns:r="http://schemas.openxmlformats.org/officeDocument/2006/relationships" id="2147483650" r:id="R32a46ef0e404401c"/>
    <p:sldLayoutId xmlns:r="http://schemas.openxmlformats.org/officeDocument/2006/relationships" id="2147483651" r:id="R6f42f77e28364f14"/>
    <p:sldLayoutId xmlns:r="http://schemas.openxmlformats.org/officeDocument/2006/relationships" id="2147483652" r:id="R58eae322eb3d4752"/>
    <p:sldLayoutId xmlns:r="http://schemas.openxmlformats.org/officeDocument/2006/relationships" id="2147483653" r:id="R0fcd415bc8af4e57"/>
    <p:sldLayoutId xmlns:r="http://schemas.openxmlformats.org/officeDocument/2006/relationships" id="2147483654" r:id="Rc1d5c7106aea4c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3327d8f59242b2" /><Relationship Type="http://schemas.openxmlformats.org/officeDocument/2006/relationships/image" Target="/ppt/media/image.png" Id="R99fe985c08954e93" /><Relationship Type="http://schemas.openxmlformats.org/officeDocument/2006/relationships/image" Target="/ppt/media/image2.png" Id="R00b6cfc95ad24827" /><Relationship Type="http://schemas.openxmlformats.org/officeDocument/2006/relationships/image" Target="/ppt/media/image3.png" Id="R16dde199b6454c9a" /><Relationship Type="http://schemas.openxmlformats.org/officeDocument/2006/relationships/image" Target="/ppt/media/image4.png" Id="R537811afbb214998" /><Relationship Type="http://schemas.openxmlformats.org/officeDocument/2006/relationships/notesSlide" Target="/ppt/notesSlides/notesSlide1.xml" Id="Radfe98071b0145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17465e948c45a4" /><Relationship Type="http://schemas.openxmlformats.org/officeDocument/2006/relationships/image" Target="/ppt/media/image5.png" Id="R902720e9e1fa4fcc" /><Relationship Type="http://schemas.openxmlformats.org/officeDocument/2006/relationships/image" Target="/ppt/media/image6.png" Id="R26f0921f98c14db6" /><Relationship Type="http://schemas.openxmlformats.org/officeDocument/2006/relationships/image" Target="/ppt/media/image7.png" Id="R6c232e95ce154ea0" /><Relationship Type="http://schemas.openxmlformats.org/officeDocument/2006/relationships/image" Target="/ppt/media/image8.png" Id="Ra97669ccaf984a8d" /><Relationship Type="http://schemas.openxmlformats.org/officeDocument/2006/relationships/image" Target="/ppt/media/image9.png" Id="Rb0a2e27c6fa44c30" /><Relationship Type="http://schemas.openxmlformats.org/officeDocument/2006/relationships/image" Target="/ppt/media/image10.png" Id="Rc24503386c9a4cd8" /><Relationship Type="http://schemas.openxmlformats.org/officeDocument/2006/relationships/notesSlide" Target="/ppt/notesSlides/notesSlide2.xml" Id="R792faaf99b6044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C2DA39-37F0-46ED-839B-92ECD14CDC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e985c08954e93"/>
          <a:stretch xmlns:a="http://schemas.openxmlformats.org/drawingml/2006/main"/>
        </p:blipFill>
        <p:spPr>
          <a:xfrm xmlns:a="http://schemas.openxmlformats.org/drawingml/2006/main">
            <a:off x="4917852" y="607351"/>
            <a:ext cx="2163686" cy="2151033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3378B-3866-43C4-9C93-FF81288E97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6cfc95ad24827"/>
          <a:stretch xmlns:a="http://schemas.openxmlformats.org/drawingml/2006/main"/>
        </p:blipFill>
        <p:spPr>
          <a:xfrm xmlns:a="http://schemas.openxmlformats.org/drawingml/2006/main">
            <a:off x="4968465" y="4036351"/>
            <a:ext cx="2138380" cy="213838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A9369-8EC5-4927-B670-1A655E640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de199b6454c9a"/>
          <a:stretch xmlns:a="http://schemas.openxmlformats.org/drawingml/2006/main"/>
        </p:blipFill>
        <p:spPr>
          <a:xfrm xmlns:a="http://schemas.openxmlformats.org/drawingml/2006/main">
            <a:off x="4993771" y="7440044"/>
            <a:ext cx="2138380" cy="213838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09417-7977-40AA-AD49-811DFDEB6E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811afbb214998"/>
          <a:stretch xmlns:a="http://schemas.openxmlformats.org/drawingml/2006/main"/>
        </p:blipFill>
        <p:spPr>
          <a:xfrm xmlns:a="http://schemas.openxmlformats.org/drawingml/2006/main">
            <a:off x="7258683" y="468166"/>
            <a:ext cx="7186982" cy="9717609"/>
          </a:xfrm>
          <a:prstGeom xmlns:a="http://schemas.openxmlformats.org/drawingml/2006/main" prst="rect">
            <a:avLst/>
          </a:prstGeom>
        </p:spPr>
      </p:pic>
      <p:sp>
        <p:nvSpPr>
          <p:cNvPr id="5" name="Same-room goal green frame">
            <a:extLst xmlns:a="http://schemas.openxmlformats.org/drawingml/2006/main">
              <a:ext uri="{FF2B5EF4-FFF2-40B4-BE49-F238E27FC236}">
                <a16:creationId xmlns:a16="http://schemas.microsoft.com/office/drawing/2014/main" id="{AE651531-DE4A-4478-84C1-FAE149C9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893" y="556738"/>
            <a:ext cx="2239605" cy="2239605"/>
          </a:xfrm>
          <a:custGeom xmlns:a="http://schemas.openxmlformats.org/drawingml/2006/main">
            <a:pathLst>
              <a:path w="1685925" h="1685925">
                <a:moveTo>
                  <a:pt x="0" y="0"/>
                </a:moveTo>
                <a:lnTo>
                  <a:pt x="1685925" y="0"/>
                </a:lnTo>
                <a:lnTo>
                  <a:pt x="1685925" y="1685925"/>
                </a:lnTo>
                <a:lnTo>
                  <a:pt x="0" y="16859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3266">
            <a:solidFill>
              <a:srgbClr val="70AD47"/>
            </a:solidFill>
            <a:prstDash val="solid"/>
          </a:ln>
        </p:spPr>
      </p:sp>
      <p:sp>
        <p:nvSpPr>
          <p:cNvPr id="6" name="Current observation yellow frame">
            <a:extLst xmlns:a="http://schemas.openxmlformats.org/drawingml/2006/main">
              <a:ext uri="{FF2B5EF4-FFF2-40B4-BE49-F238E27FC236}">
                <a16:creationId xmlns:a16="http://schemas.microsoft.com/office/drawing/2014/main" id="{1E1F78DA-4089-4622-BB1C-529D0A3C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506" y="3985738"/>
            <a:ext cx="2226952" cy="2226952"/>
          </a:xfrm>
          <a:custGeom xmlns:a="http://schemas.openxmlformats.org/drawingml/2006/main">
            <a:pathLst>
              <a:path w="1676400" h="1676400">
                <a:moveTo>
                  <a:pt x="0" y="0"/>
                </a:moveTo>
                <a:lnTo>
                  <a:pt x="1676400" y="0"/>
                </a:lnTo>
                <a:lnTo>
                  <a:pt x="1676400" y="1676400"/>
                </a:lnTo>
                <a:lnTo>
                  <a:pt x="0" y="16764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3266">
            <a:solidFill>
              <a:srgbClr val="FFD95A"/>
            </a:solidFill>
            <a:prstDash val="solid"/>
          </a:ln>
        </p:spPr>
      </p:sp>
      <p:sp>
        <p:nvSpPr>
          <p:cNvPr id="7" name="Different-room goal red frame">
            <a:extLst xmlns:a="http://schemas.openxmlformats.org/drawingml/2006/main">
              <a:ext uri="{FF2B5EF4-FFF2-40B4-BE49-F238E27FC236}">
                <a16:creationId xmlns:a16="http://schemas.microsoft.com/office/drawing/2014/main" id="{7F3A27C0-E2B3-4EE1-8FF5-E221DE94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812" y="7402085"/>
            <a:ext cx="2226952" cy="2214299"/>
          </a:xfrm>
          <a:custGeom xmlns:a="http://schemas.openxmlformats.org/drawingml/2006/main">
            <a:pathLst>
              <a:path w="1676400" h="1666875">
                <a:moveTo>
                  <a:pt x="0" y="0"/>
                </a:moveTo>
                <a:lnTo>
                  <a:pt x="1676400" y="0"/>
                </a:lnTo>
                <a:lnTo>
                  <a:pt x="1676400" y="1666875"/>
                </a:lnTo>
                <a:lnTo>
                  <a:pt x="0" y="16668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3266">
            <a:solidFill>
              <a:srgbClr val="C90000"/>
            </a:solidFill>
            <a:prstDash val="solid"/>
          </a:ln>
        </p:spPr>
      </p:sp>
      <p:sp>
        <p:nvSpPr>
          <p:cNvPr id="8" name="Same-room dashed relation">
            <a:extLst xmlns:a="http://schemas.openxmlformats.org/drawingml/2006/main">
              <a:ext uri="{FF2B5EF4-FFF2-40B4-BE49-F238E27FC236}">
                <a16:creationId xmlns:a16="http://schemas.microsoft.com/office/drawing/2014/main" id="{450EF508-7E2F-4699-9495-3B5FCB9A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255" y="1505723"/>
            <a:ext cx="961638" cy="3846554"/>
          </a:xfrm>
          <a:custGeom xmlns:a="http://schemas.openxmlformats.org/drawingml/2006/main">
            <a:pathLst>
              <a:path w="723900" h="2895600">
                <a:moveTo>
                  <a:pt x="723900" y="104775"/>
                </a:moveTo>
                <a:cubicBezTo>
                  <a:pt x="0" y="0"/>
                  <a:pt x="19050" y="2838450"/>
                  <a:pt x="723900" y="28956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3266">
            <a:solidFill>
              <a:srgbClr val="70AD47"/>
            </a:solidFill>
            <a:prstDash val="dash"/>
          </a:ln>
        </p:spPr>
      </p:sp>
      <p:sp>
        <p:nvSpPr>
          <p:cNvPr id="9" name="Different-room dashed relation">
            <a:extLst xmlns:a="http://schemas.openxmlformats.org/drawingml/2006/main">
              <a:ext uri="{FF2B5EF4-FFF2-40B4-BE49-F238E27FC236}">
                <a16:creationId xmlns:a16="http://schemas.microsoft.com/office/drawing/2014/main" id="{93DD342E-1FC1-4600-8808-91DF708B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908" y="4833498"/>
            <a:ext cx="948985" cy="3732675"/>
          </a:xfrm>
          <a:custGeom xmlns:a="http://schemas.openxmlformats.org/drawingml/2006/main">
            <a:pathLst>
              <a:path w="714375" h="2809875">
                <a:moveTo>
                  <a:pt x="714375" y="0"/>
                </a:moveTo>
                <a:cubicBezTo>
                  <a:pt x="57150" y="66675"/>
                  <a:pt x="0" y="2609850"/>
                  <a:pt x="714375" y="2809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3266">
            <a:solidFill>
              <a:srgbClr val="C45F09"/>
            </a:solidFill>
            <a:prstDash val="dash"/>
          </a:ln>
        </p:spPr>
      </p:sp>
      <p:sp>
        <p:nvSpPr>
          <p:cNvPr id="10" name="Same-room relation check">
            <a:extLst xmlns:a="http://schemas.openxmlformats.org/drawingml/2006/main">
              <a:ext uri="{FF2B5EF4-FFF2-40B4-BE49-F238E27FC236}">
                <a16:creationId xmlns:a16="http://schemas.microsoft.com/office/drawing/2014/main" id="{7486D322-F675-4DA2-BAD1-CBAE471E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646" y="3074712"/>
            <a:ext cx="303675" cy="177144"/>
          </a:xfrm>
          <a:custGeom xmlns:a="http://schemas.openxmlformats.org/drawingml/2006/main">
            <a:pathLst>
              <a:path w="228600" h="133350">
                <a:moveTo>
                  <a:pt x="0" y="57150"/>
                </a:moveTo>
                <a:lnTo>
                  <a:pt x="85725" y="13335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0613">
            <a:solidFill>
              <a:srgbClr val="595959"/>
            </a:solidFill>
            <a:prstDash val="solid"/>
          </a:ln>
        </p:spPr>
      </p:sp>
      <p:sp>
        <p:nvSpPr>
          <p:cNvPr id="11" name="Different-room relation cross">
            <a:extLst xmlns:a="http://schemas.openxmlformats.org/drawingml/2006/main">
              <a:ext uri="{FF2B5EF4-FFF2-40B4-BE49-F238E27FC236}">
                <a16:creationId xmlns:a16="http://schemas.microsoft.com/office/drawing/2014/main" id="{861464C2-30FF-40CA-B832-1514A231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258" y="6478406"/>
            <a:ext cx="215103" cy="202450"/>
          </a:xfrm>
          <a:custGeom xmlns:a="http://schemas.openxmlformats.org/drawingml/2006/main">
            <a:pathLst>
              <a:path w="161925" h="152400">
                <a:moveTo>
                  <a:pt x="0" y="0"/>
                </a:moveTo>
                <a:lnTo>
                  <a:pt x="161925" y="152400"/>
                </a:lnTo>
                <a:moveTo>
                  <a:pt x="161925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50613">
            <a:solidFill>
              <a:srgbClr val="595959"/>
            </a:solidFill>
            <a:prstDash val="solid"/>
          </a:ln>
        </p:spPr>
      </p:sp>
      <p:sp>
        <p:nvSpPr>
          <p:cNvPr id="12" name="Relation dot link">
            <a:extLst xmlns:a="http://schemas.openxmlformats.org/drawingml/2006/main">
              <a:ext uri="{FF2B5EF4-FFF2-40B4-BE49-F238E27FC236}">
                <a16:creationId xmlns:a16="http://schemas.microsoft.com/office/drawing/2014/main" id="{B3FB09F4-2825-4C16-B96A-997E8A9F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421" y="3479613"/>
            <a:ext cx="404900" cy="191"/>
          </a:xfrm>
          <a:custGeom xmlns:a="http://schemas.openxmlformats.org/drawingml/2006/main">
            <a:pathLst>
              <a:path w="304800" h="191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306">
            <a:solidFill>
              <a:srgbClr val="595959"/>
            </a:solidFill>
            <a:prstDash val="solid"/>
          </a:ln>
        </p:spPr>
      </p:sp>
      <p:sp>
        <p:nvSpPr>
          <p:cNvPr id="13" name="Relation dot link">
            <a:extLst xmlns:a="http://schemas.openxmlformats.org/drawingml/2006/main">
              <a:ext uri="{FF2B5EF4-FFF2-40B4-BE49-F238E27FC236}">
                <a16:creationId xmlns:a16="http://schemas.microsoft.com/office/drawing/2014/main" id="{F7AD4F02-A00C-4081-BCDF-0E557564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380" y="6858000"/>
            <a:ext cx="417554" cy="191"/>
          </a:xfrm>
          <a:custGeom xmlns:a="http://schemas.openxmlformats.org/drawingml/2006/main">
            <a:pathLst>
              <a:path w="314325" h="191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306">
            <a:solidFill>
              <a:srgbClr val="595959"/>
            </a:solidFill>
            <a:prstDash val="solid"/>
          </a:ln>
        </p:spPr>
      </p:sp>
      <p:sp>
        <p:nvSpPr>
          <p:cNvPr id="14" name="Same-room relation dot">
            <a:extLst xmlns:a="http://schemas.openxmlformats.org/drawingml/2006/main">
              <a:ext uri="{FF2B5EF4-FFF2-40B4-BE49-F238E27FC236}">
                <a16:creationId xmlns:a16="http://schemas.microsoft.com/office/drawing/2014/main" id="{FB9DD556-A238-46C8-882E-5E9E060B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849" y="3391041"/>
            <a:ext cx="177144" cy="177144"/>
          </a:xfrm>
          <a:custGeom xmlns:a="http://schemas.openxmlformats.org/drawingml/2006/main">
            <a:pathLst>
              <a:path w="133350" h="133350">
                <a:moveTo>
                  <a:pt x="133350" y="66675"/>
                </a:moveTo>
                <a:cubicBezTo>
                  <a:pt x="133350" y="103499"/>
                  <a:pt x="103499" y="133350"/>
                  <a:pt x="66675" y="133350"/>
                </a:cubicBezTo>
                <a:cubicBezTo>
                  <a:pt x="29851" y="133350"/>
                  <a:pt x="0" y="103499"/>
                  <a:pt x="0" y="66675"/>
                </a:cubicBezTo>
                <a:cubicBezTo>
                  <a:pt x="0" y="29851"/>
                  <a:pt x="29851" y="0"/>
                  <a:pt x="66675" y="0"/>
                </a:cubicBezTo>
                <a:cubicBezTo>
                  <a:pt x="103499" y="0"/>
                  <a:pt x="133350" y="29851"/>
                  <a:pt x="133350" y="66675"/>
                </a:cubicBez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18980">
            <a:noFill/>
            <a:prstDash val="solid"/>
          </a:ln>
        </p:spPr>
      </p:sp>
      <p:sp>
        <p:nvSpPr>
          <p:cNvPr id="15" name="Observation relation dot">
            <a:extLst xmlns:a="http://schemas.openxmlformats.org/drawingml/2006/main">
              <a:ext uri="{FF2B5EF4-FFF2-40B4-BE49-F238E27FC236}">
                <a16:creationId xmlns:a16="http://schemas.microsoft.com/office/drawing/2014/main" id="{D3D42436-C5A7-4003-8C1B-6512D95C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749" y="3391041"/>
            <a:ext cx="177144" cy="177144"/>
          </a:xfrm>
          <a:custGeom xmlns:a="http://schemas.openxmlformats.org/drawingml/2006/main">
            <a:pathLst>
              <a:path w="133350" h="133350">
                <a:moveTo>
                  <a:pt x="133350" y="66675"/>
                </a:moveTo>
                <a:cubicBezTo>
                  <a:pt x="133350" y="103499"/>
                  <a:pt x="103499" y="133350"/>
                  <a:pt x="66675" y="133350"/>
                </a:cubicBezTo>
                <a:cubicBezTo>
                  <a:pt x="29851" y="133350"/>
                  <a:pt x="0" y="103499"/>
                  <a:pt x="0" y="66675"/>
                </a:cubicBezTo>
                <a:cubicBezTo>
                  <a:pt x="0" y="29851"/>
                  <a:pt x="29851" y="0"/>
                  <a:pt x="66675" y="0"/>
                </a:cubicBezTo>
                <a:cubicBezTo>
                  <a:pt x="103499" y="0"/>
                  <a:pt x="133350" y="29851"/>
                  <a:pt x="133350" y="66675"/>
                </a:cubicBez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18980">
            <a:noFill/>
            <a:prstDash val="solid"/>
          </a:ln>
        </p:spPr>
      </p:sp>
      <p:sp>
        <p:nvSpPr>
          <p:cNvPr id="16" name="Observation relation dot">
            <a:extLst xmlns:a="http://schemas.openxmlformats.org/drawingml/2006/main">
              <a:ext uri="{FF2B5EF4-FFF2-40B4-BE49-F238E27FC236}">
                <a16:creationId xmlns:a16="http://schemas.microsoft.com/office/drawing/2014/main" id="{B5B57E0D-324E-4B75-90F7-A57690C4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808" y="6769428"/>
            <a:ext cx="177144" cy="177144"/>
          </a:xfrm>
          <a:custGeom xmlns:a="http://schemas.openxmlformats.org/drawingml/2006/main">
            <a:pathLst>
              <a:path w="133350" h="133350">
                <a:moveTo>
                  <a:pt x="133350" y="66675"/>
                </a:moveTo>
                <a:cubicBezTo>
                  <a:pt x="133350" y="103499"/>
                  <a:pt x="103499" y="133350"/>
                  <a:pt x="66675" y="133350"/>
                </a:cubicBezTo>
                <a:cubicBezTo>
                  <a:pt x="29851" y="133350"/>
                  <a:pt x="0" y="103499"/>
                  <a:pt x="0" y="66675"/>
                </a:cubicBezTo>
                <a:cubicBezTo>
                  <a:pt x="0" y="29851"/>
                  <a:pt x="29851" y="0"/>
                  <a:pt x="66675" y="0"/>
                </a:cubicBezTo>
                <a:cubicBezTo>
                  <a:pt x="103499" y="0"/>
                  <a:pt x="133350" y="29851"/>
                  <a:pt x="133350" y="66675"/>
                </a:cubicBez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18980">
            <a:noFill/>
            <a:prstDash val="solid"/>
          </a:ln>
        </p:spPr>
      </p:sp>
      <p:sp>
        <p:nvSpPr>
          <p:cNvPr id="17" name="Different-room relation dot">
            <a:extLst xmlns:a="http://schemas.openxmlformats.org/drawingml/2006/main">
              <a:ext uri="{FF2B5EF4-FFF2-40B4-BE49-F238E27FC236}">
                <a16:creationId xmlns:a16="http://schemas.microsoft.com/office/drawing/2014/main" id="{A9AAAB65-11DE-4029-A806-A146AE17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362" y="6769428"/>
            <a:ext cx="177144" cy="177144"/>
          </a:xfrm>
          <a:custGeom xmlns:a="http://schemas.openxmlformats.org/drawingml/2006/main">
            <a:pathLst>
              <a:path w="133350" h="133350">
                <a:moveTo>
                  <a:pt x="133350" y="66675"/>
                </a:moveTo>
                <a:cubicBezTo>
                  <a:pt x="133350" y="103499"/>
                  <a:pt x="103499" y="133350"/>
                  <a:pt x="66675" y="133350"/>
                </a:cubicBezTo>
                <a:cubicBezTo>
                  <a:pt x="29851" y="133350"/>
                  <a:pt x="0" y="103499"/>
                  <a:pt x="0" y="66675"/>
                </a:cubicBezTo>
                <a:cubicBezTo>
                  <a:pt x="0" y="29851"/>
                  <a:pt x="29851" y="0"/>
                  <a:pt x="66675" y="0"/>
                </a:cubicBezTo>
                <a:cubicBezTo>
                  <a:pt x="103499" y="0"/>
                  <a:pt x="133350" y="29851"/>
                  <a:pt x="133350" y="66675"/>
                </a:cubicBezTo>
                <a:close/>
              </a:path>
            </a:pathLst>
          </a:custGeom>
          <a:solidFill xmlns:a="http://schemas.openxmlformats.org/drawingml/2006/main">
            <a:srgbClr val="C90000"/>
          </a:solidFill>
          <a:ln xmlns:a="http://schemas.openxmlformats.org/drawingml/2006/main" w="18980">
            <a:noFill/>
            <a:prstDash val="solid"/>
          </a:ln>
        </p:spPr>
      </p:sp>
      <p:sp>
        <p:nvSpPr>
          <p:cNvPr id="18" name="Soft source viewing-frustum continuation">
            <a:extLst xmlns:a="http://schemas.openxmlformats.org/drawingml/2006/main">
              <a:ext uri="{FF2B5EF4-FFF2-40B4-BE49-F238E27FC236}">
                <a16:creationId xmlns:a16="http://schemas.microsoft.com/office/drawing/2014/main" id="{DBB8F7C3-119D-434F-808E-288986B7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199" y="2771037"/>
            <a:ext cx="2353483" cy="480819"/>
          </a:xfrm>
          <a:custGeom xmlns:a="http://schemas.openxmlformats.org/drawingml/2006/main">
            <a:pathLst>
              <a:path w="1771650" h="361950">
                <a:moveTo>
                  <a:pt x="0" y="9525"/>
                </a:moveTo>
                <a:lnTo>
                  <a:pt x="1771650" y="361950"/>
                </a:lnTo>
                <a:lnTo>
                  <a:pt x="1771650" y="57150"/>
                </a:lnTo>
                <a:lnTo>
                  <a:pt x="1657350" y="0"/>
                </a:lnTo>
                <a:close/>
              </a:path>
            </a:pathLst>
          </a:custGeom>
          <a:solidFill xmlns:a="http://schemas.openxmlformats.org/drawingml/2006/main">
            <a:srgbClr val="EEF5E5"/>
          </a:solidFill>
          <a:ln xmlns:a="http://schemas.openxmlformats.org/drawingml/2006/main" w="18980">
            <a:noFill/>
            <a:prstDash val="solid"/>
          </a:ln>
        </p:spPr>
      </p:sp>
      <p:sp>
        <p:nvSpPr>
          <p:cNvPr id="19" name="Thought bubble contour 1">
            <a:extLst xmlns:a="http://schemas.openxmlformats.org/drawingml/2006/main">
              <a:ext uri="{FF2B5EF4-FFF2-40B4-BE49-F238E27FC236}">
                <a16:creationId xmlns:a16="http://schemas.microsoft.com/office/drawing/2014/main" id="{4C693FFD-9B65-4233-8C2A-AD76F3EB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137" y="3682063"/>
            <a:ext cx="404900" cy="316328"/>
          </a:xfrm>
          <a:custGeom xmlns:a="http://schemas.openxmlformats.org/drawingml/2006/main">
            <a:pathLst>
              <a:path w="304800" h="238125">
                <a:moveTo>
                  <a:pt x="57150" y="28575"/>
                </a:moveTo>
                <a:lnTo>
                  <a:pt x="9525" y="76200"/>
                </a:lnTo>
                <a:lnTo>
                  <a:pt x="9525" y="95250"/>
                </a:lnTo>
                <a:lnTo>
                  <a:pt x="0" y="104775"/>
                </a:lnTo>
                <a:lnTo>
                  <a:pt x="0" y="133350"/>
                </a:lnTo>
                <a:lnTo>
                  <a:pt x="9525" y="142875"/>
                </a:lnTo>
                <a:lnTo>
                  <a:pt x="9525" y="161925"/>
                </a:lnTo>
                <a:lnTo>
                  <a:pt x="19050" y="180975"/>
                </a:lnTo>
                <a:lnTo>
                  <a:pt x="47625" y="209550"/>
                </a:lnTo>
                <a:lnTo>
                  <a:pt x="85725" y="228600"/>
                </a:lnTo>
                <a:lnTo>
                  <a:pt x="104775" y="228600"/>
                </a:lnTo>
                <a:lnTo>
                  <a:pt x="114300" y="238125"/>
                </a:lnTo>
                <a:lnTo>
                  <a:pt x="190500" y="238125"/>
                </a:lnTo>
                <a:lnTo>
                  <a:pt x="200025" y="228600"/>
                </a:lnTo>
                <a:lnTo>
                  <a:pt x="219075" y="228600"/>
                </a:lnTo>
                <a:lnTo>
                  <a:pt x="257175" y="209550"/>
                </a:lnTo>
                <a:lnTo>
                  <a:pt x="285750" y="180975"/>
                </a:lnTo>
                <a:lnTo>
                  <a:pt x="304800" y="142875"/>
                </a:lnTo>
                <a:lnTo>
                  <a:pt x="304800" y="95250"/>
                </a:lnTo>
                <a:lnTo>
                  <a:pt x="285750" y="57150"/>
                </a:lnTo>
                <a:lnTo>
                  <a:pt x="266700" y="38100"/>
                </a:lnTo>
                <a:lnTo>
                  <a:pt x="238125" y="28575"/>
                </a:lnTo>
                <a:lnTo>
                  <a:pt x="219075" y="9525"/>
                </a:lnTo>
                <a:lnTo>
                  <a:pt x="180975" y="9525"/>
                </a:lnTo>
                <a:lnTo>
                  <a:pt x="171450" y="0"/>
                </a:lnTo>
                <a:lnTo>
                  <a:pt x="133350" y="0"/>
                </a:lnTo>
                <a:lnTo>
                  <a:pt x="123825" y="9525"/>
                </a:lnTo>
                <a:lnTo>
                  <a:pt x="95250" y="9525"/>
                </a:lnTo>
                <a:close/>
              </a:path>
            </a:pathLst>
          </a:custGeom>
          <a:solidFill xmlns:a="http://schemas.openxmlformats.org/drawingml/2006/main">
            <a:srgbClr val="FCEFCD"/>
          </a:solidFill>
          <a:ln xmlns:a="http://schemas.openxmlformats.org/drawingml/2006/main" w="10123">
            <a:solidFill>
              <a:srgbClr val="FCEFCD"/>
            </a:solidFill>
            <a:prstDash val="solid"/>
          </a:ln>
        </p:spPr>
      </p:sp>
      <p:sp>
        <p:nvSpPr>
          <p:cNvPr id="20" name="Thought bubble contour 2">
            <a:extLst xmlns:a="http://schemas.openxmlformats.org/drawingml/2006/main">
              <a:ext uri="{FF2B5EF4-FFF2-40B4-BE49-F238E27FC236}">
                <a16:creationId xmlns:a16="http://schemas.microsoft.com/office/drawing/2014/main" id="{BAB6D905-41A5-4DE9-9AF5-FCD53554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0956" y="3264509"/>
            <a:ext cx="531432" cy="417554"/>
          </a:xfrm>
          <a:custGeom xmlns:a="http://schemas.openxmlformats.org/drawingml/2006/main">
            <a:pathLst>
              <a:path w="400050" h="314325">
                <a:moveTo>
                  <a:pt x="28575" y="66675"/>
                </a:moveTo>
                <a:lnTo>
                  <a:pt x="9525" y="104775"/>
                </a:lnTo>
                <a:lnTo>
                  <a:pt x="9525" y="123825"/>
                </a:lnTo>
                <a:lnTo>
                  <a:pt x="0" y="133350"/>
                </a:lnTo>
                <a:lnTo>
                  <a:pt x="0" y="171450"/>
                </a:lnTo>
                <a:lnTo>
                  <a:pt x="9525" y="180975"/>
                </a:lnTo>
                <a:lnTo>
                  <a:pt x="9525" y="200025"/>
                </a:lnTo>
                <a:lnTo>
                  <a:pt x="47625" y="257175"/>
                </a:lnTo>
                <a:lnTo>
                  <a:pt x="57150" y="257175"/>
                </a:lnTo>
                <a:lnTo>
                  <a:pt x="76200" y="276225"/>
                </a:lnTo>
                <a:lnTo>
                  <a:pt x="114300" y="295275"/>
                </a:lnTo>
                <a:lnTo>
                  <a:pt x="133350" y="295275"/>
                </a:lnTo>
                <a:lnTo>
                  <a:pt x="142875" y="304800"/>
                </a:lnTo>
                <a:lnTo>
                  <a:pt x="190500" y="304800"/>
                </a:lnTo>
                <a:lnTo>
                  <a:pt x="200025" y="314325"/>
                </a:lnTo>
                <a:lnTo>
                  <a:pt x="219075" y="304800"/>
                </a:lnTo>
                <a:lnTo>
                  <a:pt x="266700" y="304800"/>
                </a:lnTo>
                <a:lnTo>
                  <a:pt x="276225" y="295275"/>
                </a:lnTo>
                <a:lnTo>
                  <a:pt x="295275" y="295275"/>
                </a:lnTo>
                <a:lnTo>
                  <a:pt x="333375" y="276225"/>
                </a:lnTo>
                <a:lnTo>
                  <a:pt x="390525" y="219075"/>
                </a:lnTo>
                <a:lnTo>
                  <a:pt x="400050" y="200025"/>
                </a:lnTo>
                <a:lnTo>
                  <a:pt x="400050" y="114300"/>
                </a:lnTo>
                <a:lnTo>
                  <a:pt x="381000" y="76200"/>
                </a:lnTo>
                <a:lnTo>
                  <a:pt x="333375" y="28575"/>
                </a:lnTo>
                <a:lnTo>
                  <a:pt x="295275" y="9525"/>
                </a:lnTo>
                <a:lnTo>
                  <a:pt x="276225" y="9525"/>
                </a:lnTo>
                <a:lnTo>
                  <a:pt x="266700" y="0"/>
                </a:lnTo>
                <a:lnTo>
                  <a:pt x="142875" y="0"/>
                </a:lnTo>
                <a:lnTo>
                  <a:pt x="133350" y="9525"/>
                </a:lnTo>
                <a:lnTo>
                  <a:pt x="114300" y="9525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CEFCD"/>
          </a:solidFill>
          <a:ln xmlns:a="http://schemas.openxmlformats.org/drawingml/2006/main" w="10123">
            <a:solidFill>
              <a:srgbClr val="FCEFCD"/>
            </a:solidFill>
            <a:prstDash val="solid"/>
          </a:ln>
        </p:spPr>
      </p:sp>
      <p:sp>
        <p:nvSpPr>
          <p:cNvPr id="21" name="Thought bubble contour 3">
            <a:extLst xmlns:a="http://schemas.openxmlformats.org/drawingml/2006/main">
              <a:ext uri="{FF2B5EF4-FFF2-40B4-BE49-F238E27FC236}">
                <a16:creationId xmlns:a16="http://schemas.microsoft.com/office/drawing/2014/main" id="{3676F22B-A330-4FF4-9917-C10DD50F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99" y="1442458"/>
            <a:ext cx="3074712" cy="1910624"/>
          </a:xfrm>
          <a:custGeom xmlns:a="http://schemas.openxmlformats.org/drawingml/2006/main">
            <a:pathLst>
              <a:path w="2314575" h="1438275">
                <a:moveTo>
                  <a:pt x="2314575" y="485775"/>
                </a:moveTo>
                <a:lnTo>
                  <a:pt x="2257425" y="485775"/>
                </a:lnTo>
                <a:lnTo>
                  <a:pt x="2247900" y="476250"/>
                </a:lnTo>
                <a:lnTo>
                  <a:pt x="2247900" y="409575"/>
                </a:lnTo>
                <a:lnTo>
                  <a:pt x="2238375" y="400050"/>
                </a:lnTo>
                <a:lnTo>
                  <a:pt x="2238375" y="361950"/>
                </a:lnTo>
                <a:lnTo>
                  <a:pt x="2209800" y="304800"/>
                </a:lnTo>
                <a:lnTo>
                  <a:pt x="2133600" y="228600"/>
                </a:lnTo>
                <a:lnTo>
                  <a:pt x="2124075" y="228600"/>
                </a:lnTo>
                <a:lnTo>
                  <a:pt x="2105025" y="209550"/>
                </a:lnTo>
                <a:lnTo>
                  <a:pt x="2085975" y="209550"/>
                </a:lnTo>
                <a:lnTo>
                  <a:pt x="2038350" y="180975"/>
                </a:lnTo>
                <a:lnTo>
                  <a:pt x="2009775" y="180975"/>
                </a:lnTo>
                <a:lnTo>
                  <a:pt x="2000250" y="171450"/>
                </a:lnTo>
                <a:lnTo>
                  <a:pt x="1933575" y="171450"/>
                </a:lnTo>
                <a:lnTo>
                  <a:pt x="1924050" y="161925"/>
                </a:lnTo>
                <a:lnTo>
                  <a:pt x="1885950" y="161925"/>
                </a:lnTo>
                <a:lnTo>
                  <a:pt x="1876425" y="171450"/>
                </a:lnTo>
                <a:lnTo>
                  <a:pt x="1819275" y="171450"/>
                </a:lnTo>
                <a:lnTo>
                  <a:pt x="1809750" y="180975"/>
                </a:lnTo>
                <a:lnTo>
                  <a:pt x="1781175" y="180975"/>
                </a:lnTo>
                <a:lnTo>
                  <a:pt x="1743075" y="200025"/>
                </a:lnTo>
                <a:lnTo>
                  <a:pt x="1695450" y="200025"/>
                </a:lnTo>
                <a:lnTo>
                  <a:pt x="1676400" y="161925"/>
                </a:lnTo>
                <a:lnTo>
                  <a:pt x="1657350" y="142875"/>
                </a:lnTo>
                <a:lnTo>
                  <a:pt x="1657350" y="133350"/>
                </a:lnTo>
                <a:lnTo>
                  <a:pt x="1600200" y="76200"/>
                </a:lnTo>
                <a:lnTo>
                  <a:pt x="1590675" y="76200"/>
                </a:lnTo>
                <a:lnTo>
                  <a:pt x="1543050" y="38100"/>
                </a:lnTo>
                <a:lnTo>
                  <a:pt x="1524000" y="38100"/>
                </a:lnTo>
                <a:lnTo>
                  <a:pt x="1495425" y="19050"/>
                </a:lnTo>
                <a:lnTo>
                  <a:pt x="1466850" y="19050"/>
                </a:lnTo>
                <a:lnTo>
                  <a:pt x="1457325" y="9525"/>
                </a:lnTo>
                <a:lnTo>
                  <a:pt x="1419225" y="9525"/>
                </a:lnTo>
                <a:lnTo>
                  <a:pt x="1409700" y="0"/>
                </a:lnTo>
                <a:lnTo>
                  <a:pt x="1323975" y="0"/>
                </a:lnTo>
                <a:lnTo>
                  <a:pt x="1314450" y="9525"/>
                </a:lnTo>
                <a:lnTo>
                  <a:pt x="1276350" y="9525"/>
                </a:lnTo>
                <a:lnTo>
                  <a:pt x="1266825" y="19050"/>
                </a:lnTo>
                <a:lnTo>
                  <a:pt x="1238250" y="19050"/>
                </a:lnTo>
                <a:lnTo>
                  <a:pt x="1143000" y="66675"/>
                </a:lnTo>
                <a:lnTo>
                  <a:pt x="1066800" y="142875"/>
                </a:lnTo>
                <a:lnTo>
                  <a:pt x="1047750" y="180975"/>
                </a:lnTo>
                <a:lnTo>
                  <a:pt x="1009650" y="180975"/>
                </a:lnTo>
                <a:lnTo>
                  <a:pt x="990600" y="171450"/>
                </a:lnTo>
                <a:lnTo>
                  <a:pt x="962025" y="142875"/>
                </a:lnTo>
                <a:lnTo>
                  <a:pt x="885825" y="104775"/>
                </a:lnTo>
                <a:lnTo>
                  <a:pt x="866775" y="104775"/>
                </a:lnTo>
                <a:lnTo>
                  <a:pt x="857250" y="95250"/>
                </a:lnTo>
                <a:lnTo>
                  <a:pt x="819150" y="95250"/>
                </a:lnTo>
                <a:lnTo>
                  <a:pt x="809625" y="85725"/>
                </a:lnTo>
                <a:lnTo>
                  <a:pt x="685800" y="85725"/>
                </a:lnTo>
                <a:lnTo>
                  <a:pt x="676275" y="95250"/>
                </a:lnTo>
                <a:lnTo>
                  <a:pt x="638175" y="95250"/>
                </a:lnTo>
                <a:lnTo>
                  <a:pt x="628650" y="104775"/>
                </a:lnTo>
                <a:lnTo>
                  <a:pt x="609600" y="104775"/>
                </a:lnTo>
                <a:lnTo>
                  <a:pt x="533400" y="142875"/>
                </a:lnTo>
                <a:lnTo>
                  <a:pt x="514350" y="161925"/>
                </a:lnTo>
                <a:lnTo>
                  <a:pt x="504825" y="161925"/>
                </a:lnTo>
                <a:lnTo>
                  <a:pt x="438150" y="238125"/>
                </a:lnTo>
                <a:lnTo>
                  <a:pt x="438150" y="257175"/>
                </a:lnTo>
                <a:lnTo>
                  <a:pt x="419100" y="285750"/>
                </a:lnTo>
                <a:lnTo>
                  <a:pt x="419100" y="323850"/>
                </a:lnTo>
                <a:lnTo>
                  <a:pt x="409575" y="333375"/>
                </a:lnTo>
                <a:lnTo>
                  <a:pt x="419100" y="352425"/>
                </a:lnTo>
                <a:lnTo>
                  <a:pt x="419100" y="400050"/>
                </a:lnTo>
                <a:lnTo>
                  <a:pt x="409575" y="409575"/>
                </a:lnTo>
                <a:lnTo>
                  <a:pt x="266700" y="409575"/>
                </a:lnTo>
                <a:lnTo>
                  <a:pt x="257175" y="419100"/>
                </a:lnTo>
                <a:lnTo>
                  <a:pt x="219075" y="419100"/>
                </a:lnTo>
                <a:lnTo>
                  <a:pt x="104775" y="476250"/>
                </a:lnTo>
                <a:lnTo>
                  <a:pt x="47625" y="533400"/>
                </a:lnTo>
                <a:lnTo>
                  <a:pt x="47625" y="542925"/>
                </a:lnTo>
                <a:lnTo>
                  <a:pt x="19050" y="581025"/>
                </a:lnTo>
                <a:lnTo>
                  <a:pt x="19050" y="600075"/>
                </a:lnTo>
                <a:lnTo>
                  <a:pt x="0" y="638175"/>
                </a:lnTo>
                <a:lnTo>
                  <a:pt x="0" y="704850"/>
                </a:lnTo>
                <a:lnTo>
                  <a:pt x="19050" y="733425"/>
                </a:lnTo>
                <a:lnTo>
                  <a:pt x="19050" y="762000"/>
                </a:lnTo>
                <a:lnTo>
                  <a:pt x="28575" y="781050"/>
                </a:lnTo>
                <a:lnTo>
                  <a:pt x="47625" y="800100"/>
                </a:lnTo>
                <a:lnTo>
                  <a:pt x="47625" y="809625"/>
                </a:lnTo>
                <a:lnTo>
                  <a:pt x="95250" y="857250"/>
                </a:lnTo>
                <a:lnTo>
                  <a:pt x="104775" y="857250"/>
                </a:lnTo>
                <a:lnTo>
                  <a:pt x="123825" y="876300"/>
                </a:lnTo>
                <a:lnTo>
                  <a:pt x="200025" y="914400"/>
                </a:lnTo>
                <a:lnTo>
                  <a:pt x="228600" y="914400"/>
                </a:lnTo>
                <a:lnTo>
                  <a:pt x="238125" y="923925"/>
                </a:lnTo>
                <a:lnTo>
                  <a:pt x="285750" y="923925"/>
                </a:lnTo>
                <a:lnTo>
                  <a:pt x="295275" y="933450"/>
                </a:lnTo>
                <a:lnTo>
                  <a:pt x="333375" y="933450"/>
                </a:lnTo>
                <a:lnTo>
                  <a:pt x="390525" y="1047750"/>
                </a:lnTo>
                <a:lnTo>
                  <a:pt x="400050" y="1047750"/>
                </a:lnTo>
                <a:lnTo>
                  <a:pt x="428625" y="1085850"/>
                </a:lnTo>
                <a:lnTo>
                  <a:pt x="438150" y="1085850"/>
                </a:lnTo>
                <a:lnTo>
                  <a:pt x="495300" y="1133475"/>
                </a:lnTo>
                <a:lnTo>
                  <a:pt x="514350" y="1143000"/>
                </a:lnTo>
                <a:lnTo>
                  <a:pt x="533400" y="1143000"/>
                </a:lnTo>
                <a:lnTo>
                  <a:pt x="542925" y="1152525"/>
                </a:lnTo>
                <a:lnTo>
                  <a:pt x="561975" y="1152525"/>
                </a:lnTo>
                <a:lnTo>
                  <a:pt x="571500" y="1162050"/>
                </a:lnTo>
                <a:lnTo>
                  <a:pt x="600075" y="1162050"/>
                </a:lnTo>
                <a:lnTo>
                  <a:pt x="609600" y="1171575"/>
                </a:lnTo>
                <a:lnTo>
                  <a:pt x="742950" y="1171575"/>
                </a:lnTo>
                <a:lnTo>
                  <a:pt x="752475" y="1162050"/>
                </a:lnTo>
                <a:lnTo>
                  <a:pt x="781050" y="1162050"/>
                </a:lnTo>
                <a:lnTo>
                  <a:pt x="790575" y="1152525"/>
                </a:lnTo>
                <a:lnTo>
                  <a:pt x="819150" y="1152525"/>
                </a:lnTo>
                <a:lnTo>
                  <a:pt x="828675" y="1143000"/>
                </a:lnTo>
                <a:lnTo>
                  <a:pt x="876300" y="1143000"/>
                </a:lnTo>
                <a:lnTo>
                  <a:pt x="885825" y="1152525"/>
                </a:lnTo>
                <a:lnTo>
                  <a:pt x="885825" y="1171575"/>
                </a:lnTo>
                <a:lnTo>
                  <a:pt x="895350" y="1181100"/>
                </a:lnTo>
                <a:lnTo>
                  <a:pt x="895350" y="1209675"/>
                </a:lnTo>
                <a:lnTo>
                  <a:pt x="904875" y="1219200"/>
                </a:lnTo>
                <a:lnTo>
                  <a:pt x="904875" y="1238250"/>
                </a:lnTo>
                <a:lnTo>
                  <a:pt x="914400" y="1257300"/>
                </a:lnTo>
                <a:lnTo>
                  <a:pt x="933450" y="1276350"/>
                </a:lnTo>
                <a:lnTo>
                  <a:pt x="933450" y="1285875"/>
                </a:lnTo>
                <a:lnTo>
                  <a:pt x="981075" y="1333500"/>
                </a:lnTo>
                <a:lnTo>
                  <a:pt x="990600" y="1333500"/>
                </a:lnTo>
                <a:lnTo>
                  <a:pt x="1038225" y="1371600"/>
                </a:lnTo>
                <a:lnTo>
                  <a:pt x="1057275" y="1371600"/>
                </a:lnTo>
                <a:lnTo>
                  <a:pt x="1114425" y="1400175"/>
                </a:lnTo>
                <a:lnTo>
                  <a:pt x="1143000" y="1400175"/>
                </a:lnTo>
                <a:lnTo>
                  <a:pt x="1152525" y="1409700"/>
                </a:lnTo>
                <a:lnTo>
                  <a:pt x="1247775" y="1409700"/>
                </a:lnTo>
                <a:lnTo>
                  <a:pt x="1257300" y="1419225"/>
                </a:lnTo>
                <a:lnTo>
                  <a:pt x="1257300" y="1438275"/>
                </a:lnTo>
                <a:lnTo>
                  <a:pt x="1257300" y="1419225"/>
                </a:lnTo>
                <a:lnTo>
                  <a:pt x="1276350" y="1400175"/>
                </a:lnTo>
                <a:lnTo>
                  <a:pt x="1323975" y="1400175"/>
                </a:lnTo>
                <a:lnTo>
                  <a:pt x="1333500" y="1390650"/>
                </a:lnTo>
                <a:lnTo>
                  <a:pt x="1362075" y="1390650"/>
                </a:lnTo>
                <a:lnTo>
                  <a:pt x="1457325" y="1343025"/>
                </a:lnTo>
                <a:lnTo>
                  <a:pt x="1524000" y="1276350"/>
                </a:lnTo>
                <a:lnTo>
                  <a:pt x="1552575" y="1219200"/>
                </a:lnTo>
                <a:lnTo>
                  <a:pt x="1552575" y="1200150"/>
                </a:lnTo>
                <a:lnTo>
                  <a:pt x="1562100" y="1190625"/>
                </a:lnTo>
                <a:lnTo>
                  <a:pt x="1600200" y="1190625"/>
                </a:lnTo>
                <a:lnTo>
                  <a:pt x="1647825" y="1228725"/>
                </a:lnTo>
                <a:lnTo>
                  <a:pt x="1685925" y="1247775"/>
                </a:lnTo>
                <a:lnTo>
                  <a:pt x="1704975" y="1247775"/>
                </a:lnTo>
                <a:lnTo>
                  <a:pt x="1714500" y="1257300"/>
                </a:lnTo>
                <a:lnTo>
                  <a:pt x="1743075" y="1257300"/>
                </a:lnTo>
                <a:lnTo>
                  <a:pt x="1752600" y="1266825"/>
                </a:lnTo>
                <a:lnTo>
                  <a:pt x="1790700" y="1266825"/>
                </a:lnTo>
                <a:lnTo>
                  <a:pt x="1800225" y="1276350"/>
                </a:lnTo>
                <a:lnTo>
                  <a:pt x="1885950" y="1276350"/>
                </a:lnTo>
                <a:lnTo>
                  <a:pt x="1895475" y="1266825"/>
                </a:lnTo>
                <a:lnTo>
                  <a:pt x="1933575" y="1266825"/>
                </a:lnTo>
                <a:lnTo>
                  <a:pt x="1943100" y="1257300"/>
                </a:lnTo>
                <a:lnTo>
                  <a:pt x="1971675" y="1257300"/>
                </a:lnTo>
                <a:lnTo>
                  <a:pt x="2000250" y="1238250"/>
                </a:lnTo>
                <a:lnTo>
                  <a:pt x="2019300" y="1238250"/>
                </a:lnTo>
                <a:lnTo>
                  <a:pt x="2038350" y="1219200"/>
                </a:lnTo>
                <a:lnTo>
                  <a:pt x="2066925" y="1209675"/>
                </a:lnTo>
                <a:lnTo>
                  <a:pt x="2143125" y="1133475"/>
                </a:lnTo>
                <a:lnTo>
                  <a:pt x="2162175" y="1095375"/>
                </a:lnTo>
                <a:lnTo>
                  <a:pt x="2162175" y="1076325"/>
                </a:lnTo>
                <a:lnTo>
                  <a:pt x="2171700" y="1066800"/>
                </a:lnTo>
                <a:lnTo>
                  <a:pt x="2171700" y="1000125"/>
                </a:lnTo>
                <a:lnTo>
                  <a:pt x="2181225" y="990600"/>
                </a:lnTo>
                <a:lnTo>
                  <a:pt x="2228850" y="990600"/>
                </a:lnTo>
                <a:lnTo>
                  <a:pt x="2238375" y="1000125"/>
                </a:lnTo>
                <a:lnTo>
                  <a:pt x="2286000" y="1000125"/>
                </a:lnTo>
                <a:lnTo>
                  <a:pt x="2295525" y="1009650"/>
                </a:lnTo>
                <a:lnTo>
                  <a:pt x="2314575" y="1009650"/>
                </a:lnTo>
                <a:lnTo>
                  <a:pt x="2314575" y="695325"/>
                </a:lnTo>
                <a:lnTo>
                  <a:pt x="2295525" y="695325"/>
                </a:lnTo>
                <a:lnTo>
                  <a:pt x="2286000" y="685800"/>
                </a:lnTo>
                <a:lnTo>
                  <a:pt x="2286000" y="581025"/>
                </a:lnTo>
                <a:lnTo>
                  <a:pt x="2295525" y="571500"/>
                </a:lnTo>
                <a:lnTo>
                  <a:pt x="2314575" y="571500"/>
                </a:lnTo>
                <a:close/>
              </a:path>
            </a:pathLst>
          </a:custGeom>
          <a:solidFill xmlns:a="http://schemas.openxmlformats.org/drawingml/2006/main">
            <a:srgbClr val="FCEFCD"/>
          </a:solidFill>
          <a:ln xmlns:a="http://schemas.openxmlformats.org/drawingml/2006/main" w="10123">
            <a:solidFill>
              <a:srgbClr val="FCEFCD"/>
            </a:solidFill>
            <a:prstDash val="solid"/>
          </a:ln>
        </p:spPr>
      </p:sp>
      <p:sp>
        <p:nvSpPr>
          <p:cNvPr id="22" name="Robot body contour 1">
            <a:extLst xmlns:a="http://schemas.openxmlformats.org/drawingml/2006/main">
              <a:ext uri="{FF2B5EF4-FFF2-40B4-BE49-F238E27FC236}">
                <a16:creationId xmlns:a16="http://schemas.microsoft.com/office/drawing/2014/main" id="{5DA4363B-9356-45D4-9361-F26F121E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1768" y="5137173"/>
            <a:ext cx="721229" cy="215103"/>
          </a:xfrm>
          <a:custGeom xmlns:a="http://schemas.openxmlformats.org/drawingml/2006/main">
            <a:pathLst>
              <a:path w="542925" h="161925">
                <a:moveTo>
                  <a:pt x="0" y="47625"/>
                </a:moveTo>
                <a:lnTo>
                  <a:pt x="0" y="95250"/>
                </a:lnTo>
                <a:lnTo>
                  <a:pt x="9525" y="104775"/>
                </a:lnTo>
                <a:lnTo>
                  <a:pt x="9525" y="123825"/>
                </a:lnTo>
                <a:lnTo>
                  <a:pt x="38100" y="152400"/>
                </a:lnTo>
                <a:lnTo>
                  <a:pt x="66675" y="152400"/>
                </a:lnTo>
                <a:lnTo>
                  <a:pt x="76200" y="161925"/>
                </a:lnTo>
                <a:lnTo>
                  <a:pt x="466725" y="161925"/>
                </a:lnTo>
                <a:lnTo>
                  <a:pt x="476250" y="152400"/>
                </a:lnTo>
                <a:lnTo>
                  <a:pt x="504825" y="152400"/>
                </a:lnTo>
                <a:lnTo>
                  <a:pt x="533400" y="123825"/>
                </a:lnTo>
                <a:lnTo>
                  <a:pt x="542925" y="104775"/>
                </a:lnTo>
                <a:lnTo>
                  <a:pt x="542925" y="47625"/>
                </a:lnTo>
                <a:lnTo>
                  <a:pt x="533400" y="28575"/>
                </a:lnTo>
                <a:lnTo>
                  <a:pt x="495300" y="0"/>
                </a:lnTo>
                <a:lnTo>
                  <a:pt x="47625" y="0"/>
                </a:lnTo>
                <a:lnTo>
                  <a:pt x="28575" y="9525"/>
                </a:lnTo>
                <a:close/>
              </a:path>
            </a:pathLst>
          </a:custGeom>
          <a:solidFill xmlns:a="http://schemas.openxmlformats.org/drawingml/2006/main">
            <a:srgbClr val="FFD95A"/>
          </a:solidFill>
          <a:ln xmlns:a="http://schemas.openxmlformats.org/drawingml/2006/main" w="10123">
            <a:solidFill>
              <a:srgbClr val="FFD95A"/>
            </a:solidFill>
            <a:prstDash val="solid"/>
          </a:ln>
        </p:spPr>
      </p:sp>
      <p:sp>
        <p:nvSpPr>
          <p:cNvPr id="23" name="Robot body contour 2">
            <a:extLst xmlns:a="http://schemas.openxmlformats.org/drawingml/2006/main">
              <a:ext uri="{FF2B5EF4-FFF2-40B4-BE49-F238E27FC236}">
                <a16:creationId xmlns:a16="http://schemas.microsoft.com/office/drawing/2014/main" id="{C4622AB4-F9F4-4023-A5CB-68DB6C06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583" y="4441251"/>
            <a:ext cx="961638" cy="620004"/>
          </a:xfrm>
          <a:custGeom xmlns:a="http://schemas.openxmlformats.org/drawingml/2006/main">
            <a:pathLst>
              <a:path w="723900" h="466725">
                <a:moveTo>
                  <a:pt x="0" y="28575"/>
                </a:moveTo>
                <a:lnTo>
                  <a:pt x="0" y="57150"/>
                </a:lnTo>
                <a:lnTo>
                  <a:pt x="57150" y="133350"/>
                </a:lnTo>
                <a:lnTo>
                  <a:pt x="47625" y="142875"/>
                </a:lnTo>
                <a:lnTo>
                  <a:pt x="57150" y="152400"/>
                </a:lnTo>
                <a:lnTo>
                  <a:pt x="47625" y="171450"/>
                </a:lnTo>
                <a:lnTo>
                  <a:pt x="57150" y="180975"/>
                </a:lnTo>
                <a:lnTo>
                  <a:pt x="57150" y="228600"/>
                </a:lnTo>
                <a:lnTo>
                  <a:pt x="66675" y="247650"/>
                </a:lnTo>
                <a:lnTo>
                  <a:pt x="85725" y="257175"/>
                </a:lnTo>
                <a:lnTo>
                  <a:pt x="180975" y="257175"/>
                </a:lnTo>
                <a:lnTo>
                  <a:pt x="200025" y="276225"/>
                </a:lnTo>
                <a:lnTo>
                  <a:pt x="200025" y="466725"/>
                </a:lnTo>
                <a:lnTo>
                  <a:pt x="552450" y="466725"/>
                </a:lnTo>
                <a:lnTo>
                  <a:pt x="552450" y="257175"/>
                </a:lnTo>
                <a:lnTo>
                  <a:pt x="561975" y="247650"/>
                </a:lnTo>
                <a:lnTo>
                  <a:pt x="638175" y="247650"/>
                </a:lnTo>
                <a:lnTo>
                  <a:pt x="647700" y="257175"/>
                </a:lnTo>
                <a:lnTo>
                  <a:pt x="647700" y="352425"/>
                </a:lnTo>
                <a:lnTo>
                  <a:pt x="628650" y="371475"/>
                </a:lnTo>
                <a:lnTo>
                  <a:pt x="619125" y="371475"/>
                </a:lnTo>
                <a:lnTo>
                  <a:pt x="590550" y="409575"/>
                </a:lnTo>
                <a:lnTo>
                  <a:pt x="590550" y="447675"/>
                </a:lnTo>
                <a:lnTo>
                  <a:pt x="600075" y="466725"/>
                </a:lnTo>
                <a:lnTo>
                  <a:pt x="609600" y="466725"/>
                </a:lnTo>
                <a:lnTo>
                  <a:pt x="628650" y="447675"/>
                </a:lnTo>
                <a:lnTo>
                  <a:pt x="619125" y="428625"/>
                </a:lnTo>
                <a:lnTo>
                  <a:pt x="628650" y="409575"/>
                </a:lnTo>
                <a:lnTo>
                  <a:pt x="657225" y="390525"/>
                </a:lnTo>
                <a:lnTo>
                  <a:pt x="666750" y="390525"/>
                </a:lnTo>
                <a:lnTo>
                  <a:pt x="695325" y="419100"/>
                </a:lnTo>
                <a:lnTo>
                  <a:pt x="695325" y="447675"/>
                </a:lnTo>
                <a:lnTo>
                  <a:pt x="704850" y="466725"/>
                </a:lnTo>
                <a:lnTo>
                  <a:pt x="723900" y="457200"/>
                </a:lnTo>
                <a:lnTo>
                  <a:pt x="723900" y="400050"/>
                </a:lnTo>
                <a:lnTo>
                  <a:pt x="695325" y="371475"/>
                </a:lnTo>
                <a:lnTo>
                  <a:pt x="676275" y="361950"/>
                </a:lnTo>
                <a:lnTo>
                  <a:pt x="676275" y="247650"/>
                </a:lnTo>
                <a:lnTo>
                  <a:pt x="666750" y="228600"/>
                </a:lnTo>
                <a:lnTo>
                  <a:pt x="647700" y="219075"/>
                </a:lnTo>
                <a:lnTo>
                  <a:pt x="571500" y="219075"/>
                </a:lnTo>
                <a:lnTo>
                  <a:pt x="552450" y="200025"/>
                </a:lnTo>
                <a:lnTo>
                  <a:pt x="552450" y="152400"/>
                </a:lnTo>
                <a:lnTo>
                  <a:pt x="200025" y="152400"/>
                </a:lnTo>
                <a:lnTo>
                  <a:pt x="200025" y="209550"/>
                </a:lnTo>
                <a:lnTo>
                  <a:pt x="180975" y="228600"/>
                </a:lnTo>
                <a:lnTo>
                  <a:pt x="95250" y="228600"/>
                </a:lnTo>
                <a:lnTo>
                  <a:pt x="85725" y="219075"/>
                </a:lnTo>
                <a:lnTo>
                  <a:pt x="85725" y="123825"/>
                </a:lnTo>
                <a:lnTo>
                  <a:pt x="114300" y="95250"/>
                </a:lnTo>
                <a:lnTo>
                  <a:pt x="123825" y="95250"/>
                </a:lnTo>
                <a:lnTo>
                  <a:pt x="142875" y="57150"/>
                </a:lnTo>
                <a:lnTo>
                  <a:pt x="142875" y="28575"/>
                </a:lnTo>
                <a:lnTo>
                  <a:pt x="123825" y="0"/>
                </a:lnTo>
                <a:lnTo>
                  <a:pt x="104775" y="19050"/>
                </a:lnTo>
                <a:lnTo>
                  <a:pt x="104775" y="57150"/>
                </a:lnTo>
                <a:lnTo>
                  <a:pt x="85725" y="76200"/>
                </a:lnTo>
                <a:lnTo>
                  <a:pt x="57150" y="76200"/>
                </a:lnTo>
                <a:lnTo>
                  <a:pt x="38100" y="57150"/>
                </a:lnTo>
                <a:lnTo>
                  <a:pt x="38100" y="19050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FFD95A"/>
          </a:solidFill>
          <a:ln xmlns:a="http://schemas.openxmlformats.org/drawingml/2006/main" w="10123">
            <a:solidFill>
              <a:srgbClr val="FFD95A"/>
            </a:solidFill>
            <a:prstDash val="solid"/>
          </a:ln>
        </p:spPr>
      </p:sp>
      <p:sp>
        <p:nvSpPr>
          <p:cNvPr id="24" name="Robot body contour 3">
            <a:extLst xmlns:a="http://schemas.openxmlformats.org/drawingml/2006/main">
              <a:ext uri="{FF2B5EF4-FFF2-40B4-BE49-F238E27FC236}">
                <a16:creationId xmlns:a16="http://schemas.microsoft.com/office/drawing/2014/main" id="{0340DE54-CFF5-4B07-B160-75C54A53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258" y="4099616"/>
            <a:ext cx="392247" cy="480819"/>
          </a:xfrm>
          <a:custGeom xmlns:a="http://schemas.openxmlformats.org/drawingml/2006/main">
            <a:pathLst>
              <a:path w="295275" h="361950">
                <a:moveTo>
                  <a:pt x="133350" y="0"/>
                </a:moveTo>
                <a:lnTo>
                  <a:pt x="114300" y="9525"/>
                </a:lnTo>
                <a:lnTo>
                  <a:pt x="104775" y="28575"/>
                </a:lnTo>
                <a:lnTo>
                  <a:pt x="104775" y="47625"/>
                </a:lnTo>
                <a:lnTo>
                  <a:pt x="133350" y="85725"/>
                </a:lnTo>
                <a:lnTo>
                  <a:pt x="133350" y="123825"/>
                </a:lnTo>
                <a:lnTo>
                  <a:pt x="114300" y="142875"/>
                </a:lnTo>
                <a:lnTo>
                  <a:pt x="28575" y="142875"/>
                </a:lnTo>
                <a:lnTo>
                  <a:pt x="0" y="171450"/>
                </a:lnTo>
                <a:lnTo>
                  <a:pt x="0" y="333375"/>
                </a:lnTo>
                <a:lnTo>
                  <a:pt x="9525" y="352425"/>
                </a:lnTo>
                <a:lnTo>
                  <a:pt x="28575" y="361950"/>
                </a:lnTo>
                <a:lnTo>
                  <a:pt x="266700" y="361950"/>
                </a:lnTo>
                <a:lnTo>
                  <a:pt x="285750" y="352425"/>
                </a:lnTo>
                <a:lnTo>
                  <a:pt x="295275" y="333375"/>
                </a:lnTo>
                <a:lnTo>
                  <a:pt x="295275" y="171450"/>
                </a:lnTo>
                <a:lnTo>
                  <a:pt x="276225" y="142875"/>
                </a:lnTo>
                <a:lnTo>
                  <a:pt x="180975" y="142875"/>
                </a:lnTo>
                <a:lnTo>
                  <a:pt x="161925" y="123825"/>
                </a:lnTo>
                <a:lnTo>
                  <a:pt x="161925" y="85725"/>
                </a:lnTo>
                <a:lnTo>
                  <a:pt x="180975" y="66675"/>
                </a:lnTo>
                <a:lnTo>
                  <a:pt x="190500" y="47625"/>
                </a:lnTo>
                <a:lnTo>
                  <a:pt x="190500" y="28575"/>
                </a:lnTo>
                <a:lnTo>
                  <a:pt x="161925" y="0"/>
                </a:lnTo>
                <a:close/>
              </a:path>
            </a:pathLst>
          </a:custGeom>
          <a:solidFill xmlns:a="http://schemas.openxmlformats.org/drawingml/2006/main">
            <a:srgbClr val="FFD95A"/>
          </a:solidFill>
          <a:ln xmlns:a="http://schemas.openxmlformats.org/drawingml/2006/main" w="10123">
            <a:solidFill>
              <a:srgbClr val="FFD95A"/>
            </a:solidFill>
            <a:prstDash val="solid"/>
          </a:ln>
        </p:spPr>
      </p:sp>
      <p:sp>
        <p:nvSpPr>
          <p:cNvPr id="25" name="Same-room route marker contour 1">
            <a:extLst xmlns:a="http://schemas.openxmlformats.org/drawingml/2006/main">
              <a:ext uri="{FF2B5EF4-FFF2-40B4-BE49-F238E27FC236}">
                <a16:creationId xmlns:a16="http://schemas.microsoft.com/office/drawing/2014/main" id="{0D770499-FF38-4915-90A4-F2E26EE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480" y="5187786"/>
            <a:ext cx="341635" cy="164491"/>
          </a:xfrm>
          <a:custGeom xmlns:a="http://schemas.openxmlformats.org/drawingml/2006/main">
            <a:pathLst>
              <a:path w="257175" h="123825">
                <a:moveTo>
                  <a:pt x="0" y="38100"/>
                </a:moveTo>
                <a:lnTo>
                  <a:pt x="9525" y="57150"/>
                </a:lnTo>
                <a:lnTo>
                  <a:pt x="104775" y="104775"/>
                </a:lnTo>
                <a:lnTo>
                  <a:pt x="123825" y="104775"/>
                </a:lnTo>
                <a:lnTo>
                  <a:pt x="152400" y="123825"/>
                </a:lnTo>
                <a:lnTo>
                  <a:pt x="209550" y="123825"/>
                </a:lnTo>
                <a:lnTo>
                  <a:pt x="257175" y="95250"/>
                </a:lnTo>
                <a:lnTo>
                  <a:pt x="257175" y="85725"/>
                </a:lnTo>
                <a:lnTo>
                  <a:pt x="228600" y="47625"/>
                </a:lnTo>
                <a:lnTo>
                  <a:pt x="209550" y="47625"/>
                </a:lnTo>
                <a:lnTo>
                  <a:pt x="200025" y="57150"/>
                </a:lnTo>
                <a:lnTo>
                  <a:pt x="152400" y="57150"/>
                </a:lnTo>
                <a:lnTo>
                  <a:pt x="38100" y="0"/>
                </a:lnTo>
                <a:lnTo>
                  <a:pt x="19050" y="0"/>
                </a:lnTo>
                <a:lnTo>
                  <a:pt x="19050" y="19050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10123">
            <a:solidFill>
              <a:srgbClr val="70AD47"/>
            </a:solidFill>
            <a:prstDash val="solid"/>
          </a:ln>
        </p:spPr>
      </p:sp>
      <p:sp>
        <p:nvSpPr>
          <p:cNvPr id="26" name="Same-room route marker contour 2">
            <a:extLst xmlns:a="http://schemas.openxmlformats.org/drawingml/2006/main">
              <a:ext uri="{FF2B5EF4-FFF2-40B4-BE49-F238E27FC236}">
                <a16:creationId xmlns:a16="http://schemas.microsoft.com/office/drawing/2014/main" id="{59C1D488-D5D4-475D-B904-2CCD6FF5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9926" y="4782886"/>
            <a:ext cx="253063" cy="316328"/>
          </a:xfrm>
          <a:custGeom xmlns:a="http://schemas.openxmlformats.org/drawingml/2006/main">
            <a:pathLst>
              <a:path w="190500" h="238125">
                <a:moveTo>
                  <a:pt x="0" y="19050"/>
                </a:moveTo>
                <a:lnTo>
                  <a:pt x="0" y="38100"/>
                </a:lnTo>
                <a:lnTo>
                  <a:pt x="19050" y="76200"/>
                </a:lnTo>
                <a:lnTo>
                  <a:pt x="38100" y="95250"/>
                </a:lnTo>
                <a:lnTo>
                  <a:pt x="38100" y="104775"/>
                </a:lnTo>
                <a:lnTo>
                  <a:pt x="57150" y="123825"/>
                </a:lnTo>
                <a:lnTo>
                  <a:pt x="76200" y="161925"/>
                </a:lnTo>
                <a:lnTo>
                  <a:pt x="152400" y="238125"/>
                </a:lnTo>
                <a:lnTo>
                  <a:pt x="190500" y="200025"/>
                </a:lnTo>
                <a:lnTo>
                  <a:pt x="190500" y="190500"/>
                </a:lnTo>
                <a:lnTo>
                  <a:pt x="142875" y="142875"/>
                </a:lnTo>
                <a:lnTo>
                  <a:pt x="142875" y="133350"/>
                </a:lnTo>
                <a:lnTo>
                  <a:pt x="85725" y="66675"/>
                </a:lnTo>
                <a:lnTo>
                  <a:pt x="66675" y="19050"/>
                </a:lnTo>
                <a:lnTo>
                  <a:pt x="47625" y="0"/>
                </a:lnTo>
                <a:lnTo>
                  <a:pt x="38100" y="9525"/>
                </a:lnTo>
                <a:lnTo>
                  <a:pt x="19050" y="9525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10123">
            <a:solidFill>
              <a:srgbClr val="70AD47"/>
            </a:solidFill>
            <a:prstDash val="solid"/>
          </a:ln>
        </p:spPr>
      </p:sp>
      <p:sp>
        <p:nvSpPr>
          <p:cNvPr id="27" name="Same-room route marker contour 3">
            <a:extLst xmlns:a="http://schemas.openxmlformats.org/drawingml/2006/main">
              <a:ext uri="{FF2B5EF4-FFF2-40B4-BE49-F238E27FC236}">
                <a16:creationId xmlns:a16="http://schemas.microsoft.com/office/drawing/2014/main" id="{21575BBA-117F-4235-BF5A-0759EEE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742" y="4213494"/>
            <a:ext cx="139185" cy="341635"/>
          </a:xfrm>
          <a:custGeom xmlns:a="http://schemas.openxmlformats.org/drawingml/2006/main">
            <a:pathLst>
              <a:path w="104775" h="257175">
                <a:moveTo>
                  <a:pt x="0" y="9525"/>
                </a:moveTo>
                <a:lnTo>
                  <a:pt x="0" y="66675"/>
                </a:lnTo>
                <a:lnTo>
                  <a:pt x="9525" y="76200"/>
                </a:lnTo>
                <a:lnTo>
                  <a:pt x="9525" y="104775"/>
                </a:lnTo>
                <a:lnTo>
                  <a:pt x="19050" y="114300"/>
                </a:lnTo>
                <a:lnTo>
                  <a:pt x="19050" y="152400"/>
                </a:lnTo>
                <a:lnTo>
                  <a:pt x="28575" y="161925"/>
                </a:lnTo>
                <a:lnTo>
                  <a:pt x="28575" y="190500"/>
                </a:lnTo>
                <a:lnTo>
                  <a:pt x="38100" y="200025"/>
                </a:lnTo>
                <a:lnTo>
                  <a:pt x="38100" y="238125"/>
                </a:lnTo>
                <a:lnTo>
                  <a:pt x="47625" y="257175"/>
                </a:lnTo>
                <a:lnTo>
                  <a:pt x="95250" y="257175"/>
                </a:lnTo>
                <a:lnTo>
                  <a:pt x="104775" y="247650"/>
                </a:lnTo>
                <a:lnTo>
                  <a:pt x="104775" y="219075"/>
                </a:lnTo>
                <a:lnTo>
                  <a:pt x="95250" y="209550"/>
                </a:lnTo>
                <a:lnTo>
                  <a:pt x="95250" y="180975"/>
                </a:lnTo>
                <a:lnTo>
                  <a:pt x="85725" y="171450"/>
                </a:lnTo>
                <a:lnTo>
                  <a:pt x="85725" y="133350"/>
                </a:lnTo>
                <a:lnTo>
                  <a:pt x="76200" y="123825"/>
                </a:lnTo>
                <a:lnTo>
                  <a:pt x="76200" y="85725"/>
                </a:lnTo>
                <a:lnTo>
                  <a:pt x="66675" y="76200"/>
                </a:lnTo>
                <a:lnTo>
                  <a:pt x="66675" y="38100"/>
                </a:lnTo>
                <a:lnTo>
                  <a:pt x="57150" y="28575"/>
                </a:lnTo>
                <a:lnTo>
                  <a:pt x="57150" y="9525"/>
                </a:lnTo>
                <a:lnTo>
                  <a:pt x="47625" y="0"/>
                </a:lnTo>
                <a:lnTo>
                  <a:pt x="38100" y="9525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10123">
            <a:solidFill>
              <a:srgbClr val="70AD47"/>
            </a:solidFill>
            <a:prstDash val="solid"/>
          </a:ln>
        </p:spPr>
      </p:sp>
      <p:sp>
        <p:nvSpPr>
          <p:cNvPr id="28" name="Same-room route marker contour 4">
            <a:extLst xmlns:a="http://schemas.openxmlformats.org/drawingml/2006/main">
              <a:ext uri="{FF2B5EF4-FFF2-40B4-BE49-F238E27FC236}">
                <a16:creationId xmlns:a16="http://schemas.microsoft.com/office/drawing/2014/main" id="{17E0C925-77C6-4379-9EE5-FE1F5BF4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557" y="3770635"/>
            <a:ext cx="126531" cy="227756"/>
          </a:xfrm>
          <a:custGeom xmlns:a="http://schemas.openxmlformats.org/drawingml/2006/main">
            <a:pathLst>
              <a:path w="95250" h="171450">
                <a:moveTo>
                  <a:pt x="28575" y="0"/>
                </a:moveTo>
                <a:lnTo>
                  <a:pt x="28575" y="19050"/>
                </a:lnTo>
                <a:lnTo>
                  <a:pt x="0" y="38100"/>
                </a:lnTo>
                <a:lnTo>
                  <a:pt x="0" y="57150"/>
                </a:lnTo>
                <a:lnTo>
                  <a:pt x="19050" y="76200"/>
                </a:lnTo>
                <a:lnTo>
                  <a:pt x="38100" y="161925"/>
                </a:lnTo>
                <a:lnTo>
                  <a:pt x="57150" y="171450"/>
                </a:lnTo>
                <a:lnTo>
                  <a:pt x="95250" y="152400"/>
                </a:lnTo>
                <a:lnTo>
                  <a:pt x="95250" y="114300"/>
                </a:lnTo>
                <a:lnTo>
                  <a:pt x="85725" y="104775"/>
                </a:lnTo>
                <a:lnTo>
                  <a:pt x="85725" y="85725"/>
                </a:lnTo>
                <a:lnTo>
                  <a:pt x="76200" y="76200"/>
                </a:lnTo>
                <a:lnTo>
                  <a:pt x="76200" y="57150"/>
                </a:lnTo>
                <a:lnTo>
                  <a:pt x="57150" y="19050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10123">
            <a:solidFill>
              <a:srgbClr val="70AD47"/>
            </a:solidFill>
            <a:prstDash val="solid"/>
          </a:ln>
        </p:spPr>
      </p:sp>
      <p:sp>
        <p:nvSpPr>
          <p:cNvPr id="29" name="Same-room route marker contour 5">
            <a:extLst xmlns:a="http://schemas.openxmlformats.org/drawingml/2006/main">
              <a:ext uri="{FF2B5EF4-FFF2-40B4-BE49-F238E27FC236}">
                <a16:creationId xmlns:a16="http://schemas.microsoft.com/office/drawing/2014/main" id="{A48DD900-9848-4A7B-8A56-319F75C7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373" y="3340428"/>
            <a:ext cx="265716" cy="417554"/>
          </a:xfrm>
          <a:custGeom xmlns:a="http://schemas.openxmlformats.org/drawingml/2006/main">
            <a:pathLst>
              <a:path w="200025" h="314325">
                <a:moveTo>
                  <a:pt x="66675" y="0"/>
                </a:moveTo>
                <a:lnTo>
                  <a:pt x="47625" y="9525"/>
                </a:lnTo>
                <a:lnTo>
                  <a:pt x="9525" y="47625"/>
                </a:lnTo>
                <a:lnTo>
                  <a:pt x="9525" y="76200"/>
                </a:lnTo>
                <a:lnTo>
                  <a:pt x="0" y="85725"/>
                </a:lnTo>
                <a:lnTo>
                  <a:pt x="9525" y="95250"/>
                </a:lnTo>
                <a:lnTo>
                  <a:pt x="0" y="104775"/>
                </a:lnTo>
                <a:lnTo>
                  <a:pt x="9525" y="114300"/>
                </a:lnTo>
                <a:lnTo>
                  <a:pt x="9525" y="142875"/>
                </a:lnTo>
                <a:lnTo>
                  <a:pt x="47625" y="209550"/>
                </a:lnTo>
                <a:lnTo>
                  <a:pt x="47625" y="228600"/>
                </a:lnTo>
                <a:lnTo>
                  <a:pt x="66675" y="247650"/>
                </a:lnTo>
                <a:lnTo>
                  <a:pt x="66675" y="266700"/>
                </a:lnTo>
                <a:lnTo>
                  <a:pt x="85725" y="304800"/>
                </a:lnTo>
                <a:lnTo>
                  <a:pt x="104775" y="314325"/>
                </a:lnTo>
                <a:lnTo>
                  <a:pt x="190500" y="142875"/>
                </a:lnTo>
                <a:lnTo>
                  <a:pt x="190500" y="123825"/>
                </a:lnTo>
                <a:lnTo>
                  <a:pt x="200025" y="114300"/>
                </a:lnTo>
                <a:lnTo>
                  <a:pt x="200025" y="76200"/>
                </a:lnTo>
                <a:lnTo>
                  <a:pt x="190500" y="66675"/>
                </a:lnTo>
                <a:lnTo>
                  <a:pt x="190500" y="47625"/>
                </a:lnTo>
                <a:lnTo>
                  <a:pt x="180975" y="28575"/>
                </a:lnTo>
                <a:lnTo>
                  <a:pt x="171450" y="28575"/>
                </a:lnTo>
                <a:lnTo>
                  <a:pt x="152400" y="9525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10123">
            <a:solidFill>
              <a:srgbClr val="70AD47"/>
            </a:solidFill>
            <a:prstDash val="solid"/>
          </a:ln>
        </p:spPr>
      </p:sp>
      <p:sp>
        <p:nvSpPr>
          <p:cNvPr id="30" name="Different-room route marker contour 1">
            <a:extLst xmlns:a="http://schemas.openxmlformats.org/drawingml/2006/main">
              <a:ext uri="{FF2B5EF4-FFF2-40B4-BE49-F238E27FC236}">
                <a16:creationId xmlns:a16="http://schemas.microsoft.com/office/drawing/2014/main" id="{AF1B7254-43A3-4F63-A7FA-89172970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5041" y="7389432"/>
            <a:ext cx="531432" cy="670616"/>
          </a:xfrm>
          <a:custGeom xmlns:a="http://schemas.openxmlformats.org/drawingml/2006/main">
            <a:pathLst>
              <a:path w="400050" h="504825">
                <a:moveTo>
                  <a:pt x="28575" y="9525"/>
                </a:moveTo>
                <a:lnTo>
                  <a:pt x="9525" y="28575"/>
                </a:lnTo>
                <a:lnTo>
                  <a:pt x="0" y="28575"/>
                </a:lnTo>
                <a:lnTo>
                  <a:pt x="28575" y="66675"/>
                </a:lnTo>
                <a:lnTo>
                  <a:pt x="28575" y="85725"/>
                </a:lnTo>
                <a:lnTo>
                  <a:pt x="47625" y="114300"/>
                </a:lnTo>
                <a:lnTo>
                  <a:pt x="47625" y="133350"/>
                </a:lnTo>
                <a:lnTo>
                  <a:pt x="66675" y="171450"/>
                </a:lnTo>
                <a:lnTo>
                  <a:pt x="85725" y="190500"/>
                </a:lnTo>
                <a:lnTo>
                  <a:pt x="85725" y="200025"/>
                </a:lnTo>
                <a:lnTo>
                  <a:pt x="114300" y="238125"/>
                </a:lnTo>
                <a:lnTo>
                  <a:pt x="133350" y="238125"/>
                </a:lnTo>
                <a:lnTo>
                  <a:pt x="142875" y="228600"/>
                </a:lnTo>
                <a:lnTo>
                  <a:pt x="171450" y="228600"/>
                </a:lnTo>
                <a:lnTo>
                  <a:pt x="180975" y="238125"/>
                </a:lnTo>
                <a:lnTo>
                  <a:pt x="180975" y="285750"/>
                </a:lnTo>
                <a:lnTo>
                  <a:pt x="190500" y="295275"/>
                </a:lnTo>
                <a:lnTo>
                  <a:pt x="190500" y="314325"/>
                </a:lnTo>
                <a:lnTo>
                  <a:pt x="219075" y="361950"/>
                </a:lnTo>
                <a:lnTo>
                  <a:pt x="219075" y="381000"/>
                </a:lnTo>
                <a:lnTo>
                  <a:pt x="276225" y="495300"/>
                </a:lnTo>
                <a:lnTo>
                  <a:pt x="295275" y="504825"/>
                </a:lnTo>
                <a:lnTo>
                  <a:pt x="361950" y="381000"/>
                </a:lnTo>
                <a:lnTo>
                  <a:pt x="361950" y="361950"/>
                </a:lnTo>
                <a:lnTo>
                  <a:pt x="400050" y="285750"/>
                </a:lnTo>
                <a:lnTo>
                  <a:pt x="400050" y="238125"/>
                </a:lnTo>
                <a:lnTo>
                  <a:pt x="390525" y="228600"/>
                </a:lnTo>
                <a:lnTo>
                  <a:pt x="390525" y="209550"/>
                </a:lnTo>
                <a:lnTo>
                  <a:pt x="381000" y="190500"/>
                </a:lnTo>
                <a:lnTo>
                  <a:pt x="352425" y="161925"/>
                </a:lnTo>
                <a:lnTo>
                  <a:pt x="333375" y="152400"/>
                </a:lnTo>
                <a:lnTo>
                  <a:pt x="247650" y="152400"/>
                </a:lnTo>
                <a:lnTo>
                  <a:pt x="228600" y="161925"/>
                </a:lnTo>
                <a:lnTo>
                  <a:pt x="200025" y="190500"/>
                </a:lnTo>
                <a:lnTo>
                  <a:pt x="180975" y="228600"/>
                </a:lnTo>
                <a:lnTo>
                  <a:pt x="133350" y="171450"/>
                </a:lnTo>
                <a:lnTo>
                  <a:pt x="85725" y="76200"/>
                </a:lnTo>
                <a:lnTo>
                  <a:pt x="8572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C90000"/>
          </a:solidFill>
          <a:ln xmlns:a="http://schemas.openxmlformats.org/drawingml/2006/main" w="10123">
            <a:solidFill>
              <a:srgbClr val="C90000"/>
            </a:solidFill>
            <a:prstDash val="solid"/>
          </a:ln>
        </p:spPr>
      </p:sp>
      <p:sp>
        <p:nvSpPr>
          <p:cNvPr id="31" name="Different-room route marker contour 2">
            <a:extLst xmlns:a="http://schemas.openxmlformats.org/drawingml/2006/main">
              <a:ext uri="{FF2B5EF4-FFF2-40B4-BE49-F238E27FC236}">
                <a16:creationId xmlns:a16="http://schemas.microsoft.com/office/drawing/2014/main" id="{98A0D5E7-B3FB-466C-9A2E-C3DDE9F6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775" y="6820041"/>
            <a:ext cx="75919" cy="341635"/>
          </a:xfrm>
          <a:custGeom xmlns:a="http://schemas.openxmlformats.org/drawingml/2006/main">
            <a:pathLst>
              <a:path w="57150" h="257175">
                <a:moveTo>
                  <a:pt x="47625" y="0"/>
                </a:moveTo>
                <a:lnTo>
                  <a:pt x="0" y="0"/>
                </a:lnTo>
                <a:lnTo>
                  <a:pt x="0" y="219075"/>
                </a:lnTo>
                <a:lnTo>
                  <a:pt x="9525" y="228600"/>
                </a:lnTo>
                <a:lnTo>
                  <a:pt x="9525" y="257175"/>
                </a:lnTo>
                <a:lnTo>
                  <a:pt x="19050" y="247650"/>
                </a:lnTo>
                <a:lnTo>
                  <a:pt x="57150" y="247650"/>
                </a:lnTo>
                <a:lnTo>
                  <a:pt x="57150" y="66675"/>
                </a:lnTo>
                <a:lnTo>
                  <a:pt x="47625" y="57150"/>
                </a:lnTo>
                <a:close/>
              </a:path>
            </a:pathLst>
          </a:custGeom>
          <a:solidFill xmlns:a="http://schemas.openxmlformats.org/drawingml/2006/main">
            <a:srgbClr val="C90000"/>
          </a:solidFill>
          <a:ln xmlns:a="http://schemas.openxmlformats.org/drawingml/2006/main" w="10123">
            <a:solidFill>
              <a:srgbClr val="C90000"/>
            </a:solidFill>
            <a:prstDash val="solid"/>
          </a:ln>
        </p:spPr>
      </p:sp>
      <p:sp>
        <p:nvSpPr>
          <p:cNvPr id="32" name="Different-room route marker contour 3">
            <a:extLst xmlns:a="http://schemas.openxmlformats.org/drawingml/2006/main">
              <a:ext uri="{FF2B5EF4-FFF2-40B4-BE49-F238E27FC236}">
                <a16:creationId xmlns:a16="http://schemas.microsoft.com/office/drawing/2014/main" id="{2D0B4468-AEA6-46B9-9EA8-2EFC3576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4428" y="6225343"/>
            <a:ext cx="101225" cy="341635"/>
          </a:xfrm>
          <a:custGeom xmlns:a="http://schemas.openxmlformats.org/drawingml/2006/main">
            <a:pathLst>
              <a:path w="76200" h="257175">
                <a:moveTo>
                  <a:pt x="19050" y="0"/>
                </a:moveTo>
                <a:lnTo>
                  <a:pt x="19050" y="47625"/>
                </a:lnTo>
                <a:lnTo>
                  <a:pt x="9525" y="57150"/>
                </a:lnTo>
                <a:lnTo>
                  <a:pt x="9525" y="123825"/>
                </a:lnTo>
                <a:lnTo>
                  <a:pt x="0" y="133350"/>
                </a:lnTo>
                <a:lnTo>
                  <a:pt x="9525" y="142875"/>
                </a:lnTo>
                <a:lnTo>
                  <a:pt x="0" y="152400"/>
                </a:lnTo>
                <a:lnTo>
                  <a:pt x="0" y="247650"/>
                </a:lnTo>
                <a:lnTo>
                  <a:pt x="19050" y="257175"/>
                </a:lnTo>
                <a:lnTo>
                  <a:pt x="38100" y="257175"/>
                </a:lnTo>
                <a:lnTo>
                  <a:pt x="57150" y="228600"/>
                </a:lnTo>
                <a:lnTo>
                  <a:pt x="57150" y="123825"/>
                </a:lnTo>
                <a:lnTo>
                  <a:pt x="66675" y="114300"/>
                </a:lnTo>
                <a:lnTo>
                  <a:pt x="66675" y="28575"/>
                </a:lnTo>
                <a:lnTo>
                  <a:pt x="76200" y="19050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C90000"/>
          </a:solidFill>
          <a:ln xmlns:a="http://schemas.openxmlformats.org/drawingml/2006/main" w="10123">
            <a:solidFill>
              <a:srgbClr val="C90000"/>
            </a:solidFill>
            <a:prstDash val="solid"/>
          </a:ln>
        </p:spPr>
      </p:sp>
      <p:sp>
        <p:nvSpPr>
          <p:cNvPr id="33" name="Different-room route marker contour 4">
            <a:extLst xmlns:a="http://schemas.openxmlformats.org/drawingml/2006/main">
              <a:ext uri="{FF2B5EF4-FFF2-40B4-BE49-F238E27FC236}">
                <a16:creationId xmlns:a16="http://schemas.microsoft.com/office/drawing/2014/main" id="{176DE9F2-B7C3-44E8-B81E-455E935A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162" y="5643299"/>
            <a:ext cx="139185" cy="341635"/>
          </a:xfrm>
          <a:custGeom xmlns:a="http://schemas.openxmlformats.org/drawingml/2006/main">
            <a:pathLst>
              <a:path w="104775" h="257175">
                <a:moveTo>
                  <a:pt x="28575" y="0"/>
                </a:moveTo>
                <a:lnTo>
                  <a:pt x="9525" y="9525"/>
                </a:lnTo>
                <a:lnTo>
                  <a:pt x="0" y="38100"/>
                </a:lnTo>
                <a:lnTo>
                  <a:pt x="9525" y="47625"/>
                </a:lnTo>
                <a:lnTo>
                  <a:pt x="19050" y="114300"/>
                </a:lnTo>
                <a:lnTo>
                  <a:pt x="38100" y="142875"/>
                </a:lnTo>
                <a:lnTo>
                  <a:pt x="38100" y="228600"/>
                </a:lnTo>
                <a:lnTo>
                  <a:pt x="57150" y="257175"/>
                </a:lnTo>
                <a:lnTo>
                  <a:pt x="66675" y="247650"/>
                </a:lnTo>
                <a:lnTo>
                  <a:pt x="95250" y="247650"/>
                </a:lnTo>
                <a:lnTo>
                  <a:pt x="104775" y="238125"/>
                </a:lnTo>
                <a:lnTo>
                  <a:pt x="104775" y="219075"/>
                </a:lnTo>
                <a:lnTo>
                  <a:pt x="95250" y="209550"/>
                </a:lnTo>
                <a:lnTo>
                  <a:pt x="95250" y="142875"/>
                </a:lnTo>
                <a:lnTo>
                  <a:pt x="85725" y="133350"/>
                </a:lnTo>
                <a:lnTo>
                  <a:pt x="85725" y="95250"/>
                </a:lnTo>
                <a:lnTo>
                  <a:pt x="76200" y="85725"/>
                </a:lnTo>
                <a:lnTo>
                  <a:pt x="76200" y="57150"/>
                </a:lnTo>
                <a:lnTo>
                  <a:pt x="66675" y="476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C90000"/>
          </a:solidFill>
          <a:ln xmlns:a="http://schemas.openxmlformats.org/drawingml/2006/main" w="10123">
            <a:solidFill>
              <a:srgbClr val="C90000"/>
            </a:solidFill>
            <a:prstDash val="solid"/>
          </a:ln>
        </p:spPr>
      </p:sp>
      <p:sp>
        <p:nvSpPr>
          <p:cNvPr id="34" name="Different-room route marker contour 5">
            <a:extLst xmlns:a="http://schemas.openxmlformats.org/drawingml/2006/main">
              <a:ext uri="{FF2B5EF4-FFF2-40B4-BE49-F238E27FC236}">
                <a16:creationId xmlns:a16="http://schemas.microsoft.com/office/drawing/2014/main" id="{FA6127A9-66B9-4E6A-9066-7E9B6364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834" y="5213092"/>
            <a:ext cx="291022" cy="215103"/>
          </a:xfrm>
          <a:custGeom xmlns:a="http://schemas.openxmlformats.org/drawingml/2006/main">
            <a:pathLst>
              <a:path w="219075" h="161925">
                <a:moveTo>
                  <a:pt x="0" y="9525"/>
                </a:moveTo>
                <a:lnTo>
                  <a:pt x="0" y="47625"/>
                </a:lnTo>
                <a:lnTo>
                  <a:pt x="28575" y="47625"/>
                </a:lnTo>
                <a:lnTo>
                  <a:pt x="38100" y="57150"/>
                </a:lnTo>
                <a:lnTo>
                  <a:pt x="57150" y="57150"/>
                </a:lnTo>
                <a:lnTo>
                  <a:pt x="76200" y="66675"/>
                </a:lnTo>
                <a:lnTo>
                  <a:pt x="95250" y="85725"/>
                </a:lnTo>
                <a:lnTo>
                  <a:pt x="133350" y="104775"/>
                </a:lnTo>
                <a:lnTo>
                  <a:pt x="152400" y="142875"/>
                </a:lnTo>
                <a:lnTo>
                  <a:pt x="161925" y="142875"/>
                </a:lnTo>
                <a:lnTo>
                  <a:pt x="180975" y="161925"/>
                </a:lnTo>
                <a:lnTo>
                  <a:pt x="209550" y="142875"/>
                </a:lnTo>
                <a:lnTo>
                  <a:pt x="219075" y="123825"/>
                </a:lnTo>
                <a:lnTo>
                  <a:pt x="209550" y="104775"/>
                </a:lnTo>
                <a:lnTo>
                  <a:pt x="171450" y="66675"/>
                </a:lnTo>
                <a:lnTo>
                  <a:pt x="161925" y="66675"/>
                </a:lnTo>
                <a:lnTo>
                  <a:pt x="142875" y="38100"/>
                </a:lnTo>
                <a:lnTo>
                  <a:pt x="123825" y="38100"/>
                </a:lnTo>
                <a:lnTo>
                  <a:pt x="76200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C90000"/>
          </a:solidFill>
          <a:ln xmlns:a="http://schemas.openxmlformats.org/drawingml/2006/main" w="10123">
            <a:solidFill>
              <a:srgbClr val="C90000"/>
            </a:solidFill>
            <a:prstDash val="solid"/>
          </a:ln>
        </p:spPr>
      </p:sp>
      <p:sp>
        <p:nvSpPr>
          <p:cNvPr id="35" name="Robot pulse and eyes contour 1">
            <a:extLst xmlns:a="http://schemas.openxmlformats.org/drawingml/2006/main">
              <a:ext uri="{FF2B5EF4-FFF2-40B4-BE49-F238E27FC236}">
                <a16:creationId xmlns:a16="http://schemas.microsoft.com/office/drawing/2014/main" id="{B79E2D72-45D8-46D7-BE34-650A5225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5852" y="5200439"/>
            <a:ext cx="75919" cy="75919"/>
          </a:xfrm>
          <a:custGeom xmlns:a="http://schemas.openxmlformats.org/drawingml/2006/main">
            <a:pathLst>
              <a:path w="57150" h="57150">
                <a:moveTo>
                  <a:pt x="19050" y="0"/>
                </a:moveTo>
                <a:lnTo>
                  <a:pt x="0" y="38100"/>
                </a:lnTo>
                <a:lnTo>
                  <a:pt x="19050" y="57150"/>
                </a:lnTo>
                <a:lnTo>
                  <a:pt x="47625" y="57150"/>
                </a:lnTo>
                <a:lnTo>
                  <a:pt x="57150" y="47625"/>
                </a:lnTo>
                <a:lnTo>
                  <a:pt x="57150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4946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obot pulse and eyes contour 2">
            <a:extLst xmlns:a="http://schemas.openxmlformats.org/drawingml/2006/main">
              <a:ext uri="{FF2B5EF4-FFF2-40B4-BE49-F238E27FC236}">
                <a16:creationId xmlns:a16="http://schemas.microsoft.com/office/drawing/2014/main" id="{3B10222B-0B86-413E-8A05-DA56AEA8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096" y="5200439"/>
            <a:ext cx="75919" cy="75919"/>
          </a:xfrm>
          <a:custGeom xmlns:a="http://schemas.openxmlformats.org/drawingml/2006/main">
            <a:pathLst>
              <a:path w="57150" h="57150">
                <a:moveTo>
                  <a:pt x="19050" y="0"/>
                </a:moveTo>
                <a:lnTo>
                  <a:pt x="0" y="38100"/>
                </a:lnTo>
                <a:lnTo>
                  <a:pt x="19050" y="57150"/>
                </a:lnTo>
                <a:lnTo>
                  <a:pt x="47625" y="57150"/>
                </a:lnTo>
                <a:lnTo>
                  <a:pt x="57150" y="47625"/>
                </a:lnTo>
                <a:lnTo>
                  <a:pt x="57150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4946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obot pulse and eyes contour 3">
            <a:extLst xmlns:a="http://schemas.openxmlformats.org/drawingml/2006/main">
              <a:ext uri="{FF2B5EF4-FFF2-40B4-BE49-F238E27FC236}">
                <a16:creationId xmlns:a16="http://schemas.microsoft.com/office/drawing/2014/main" id="{2CBA996F-378A-4BE4-B93F-1D92A734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339" y="5200439"/>
            <a:ext cx="88572" cy="75919"/>
          </a:xfrm>
          <a:custGeom xmlns:a="http://schemas.openxmlformats.org/drawingml/2006/main">
            <a:pathLst>
              <a:path w="66675" h="57150">
                <a:moveTo>
                  <a:pt x="9525" y="9525"/>
                </a:moveTo>
                <a:lnTo>
                  <a:pt x="0" y="38100"/>
                </a:lnTo>
                <a:lnTo>
                  <a:pt x="19050" y="57150"/>
                </a:lnTo>
                <a:lnTo>
                  <a:pt x="47625" y="57150"/>
                </a:lnTo>
                <a:lnTo>
                  <a:pt x="66675" y="38100"/>
                </a:lnTo>
                <a:lnTo>
                  <a:pt x="47625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4946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obot pulse and eyes contour 4">
            <a:extLst xmlns:a="http://schemas.openxmlformats.org/drawingml/2006/main">
              <a:ext uri="{FF2B5EF4-FFF2-40B4-BE49-F238E27FC236}">
                <a16:creationId xmlns:a16="http://schemas.microsoft.com/office/drawing/2014/main" id="{555022E0-36D5-4DF0-A8D6-10DBD5DD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218" y="4706967"/>
            <a:ext cx="341635" cy="227756"/>
          </a:xfrm>
          <a:custGeom xmlns:a="http://schemas.openxmlformats.org/drawingml/2006/main">
            <a:pathLst>
              <a:path w="257175" h="171450">
                <a:moveTo>
                  <a:pt x="0" y="95250"/>
                </a:moveTo>
                <a:lnTo>
                  <a:pt x="0" y="104775"/>
                </a:lnTo>
                <a:lnTo>
                  <a:pt x="47625" y="104775"/>
                </a:lnTo>
                <a:lnTo>
                  <a:pt x="57150" y="76200"/>
                </a:lnTo>
                <a:lnTo>
                  <a:pt x="76200" y="57150"/>
                </a:lnTo>
                <a:lnTo>
                  <a:pt x="85725" y="66675"/>
                </a:lnTo>
                <a:lnTo>
                  <a:pt x="95250" y="133350"/>
                </a:lnTo>
                <a:lnTo>
                  <a:pt x="114300" y="171450"/>
                </a:lnTo>
                <a:lnTo>
                  <a:pt x="123825" y="161925"/>
                </a:lnTo>
                <a:lnTo>
                  <a:pt x="123825" y="142875"/>
                </a:lnTo>
                <a:lnTo>
                  <a:pt x="142875" y="104775"/>
                </a:lnTo>
                <a:lnTo>
                  <a:pt x="161925" y="85725"/>
                </a:lnTo>
                <a:lnTo>
                  <a:pt x="190500" y="142875"/>
                </a:lnTo>
                <a:lnTo>
                  <a:pt x="228600" y="104775"/>
                </a:lnTo>
                <a:lnTo>
                  <a:pt x="257175" y="104775"/>
                </a:lnTo>
                <a:lnTo>
                  <a:pt x="257175" y="95250"/>
                </a:lnTo>
                <a:lnTo>
                  <a:pt x="219075" y="95250"/>
                </a:lnTo>
                <a:lnTo>
                  <a:pt x="200025" y="114300"/>
                </a:lnTo>
                <a:lnTo>
                  <a:pt x="180975" y="95250"/>
                </a:lnTo>
                <a:lnTo>
                  <a:pt x="180975" y="76200"/>
                </a:lnTo>
                <a:lnTo>
                  <a:pt x="161925" y="38100"/>
                </a:lnTo>
                <a:lnTo>
                  <a:pt x="133350" y="104775"/>
                </a:lnTo>
                <a:lnTo>
                  <a:pt x="114300" y="123825"/>
                </a:lnTo>
                <a:lnTo>
                  <a:pt x="104775" y="114300"/>
                </a:lnTo>
                <a:lnTo>
                  <a:pt x="104775" y="85725"/>
                </a:lnTo>
                <a:lnTo>
                  <a:pt x="95250" y="76200"/>
                </a:lnTo>
                <a:lnTo>
                  <a:pt x="95250" y="47625"/>
                </a:lnTo>
                <a:lnTo>
                  <a:pt x="85725" y="38100"/>
                </a:lnTo>
                <a:lnTo>
                  <a:pt x="85725" y="9525"/>
                </a:lnTo>
                <a:lnTo>
                  <a:pt x="76200" y="0"/>
                </a:lnTo>
                <a:lnTo>
                  <a:pt x="47625" y="57150"/>
                </a:lnTo>
                <a:lnTo>
                  <a:pt x="47625" y="76200"/>
                </a:lnTo>
                <a:lnTo>
                  <a:pt x="28575" y="95250"/>
                </a:lnTo>
                <a:close/>
              </a:path>
            </a:pathLst>
          </a:custGeom>
          <a:solidFill xmlns:a="http://schemas.openxmlformats.org/drawingml/2006/main">
            <a:srgbClr val="4946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obot eye">
            <a:extLst xmlns:a="http://schemas.openxmlformats.org/drawingml/2006/main">
              <a:ext uri="{FF2B5EF4-FFF2-40B4-BE49-F238E27FC236}">
                <a16:creationId xmlns:a16="http://schemas.microsoft.com/office/drawing/2014/main" id="{46F098D0-5E22-4FEC-9FAD-62490340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993" y="4388108"/>
            <a:ext cx="80980" cy="80980"/>
          </a:xfrm>
          <a:custGeom xmlns:a="http://schemas.openxmlformats.org/drawingml/2006/main">
            <a:pathLst>
              <a:path w="60960" h="60960">
                <a:moveTo>
                  <a:pt x="60960" y="30480"/>
                </a:moveTo>
                <a:cubicBezTo>
                  <a:pt x="60960" y="47314"/>
                  <a:pt x="47314" y="60960"/>
                  <a:pt x="30480" y="60960"/>
                </a:cubicBezTo>
                <a:cubicBezTo>
                  <a:pt x="13646" y="60960"/>
                  <a:pt x="0" y="47314"/>
                  <a:pt x="0" y="30480"/>
                </a:cubicBezTo>
                <a:cubicBezTo>
                  <a:pt x="0" y="13646"/>
                  <a:pt x="13646" y="0"/>
                  <a:pt x="30480" y="0"/>
                </a:cubicBezTo>
                <a:cubicBezTo>
                  <a:pt x="47314" y="0"/>
                  <a:pt x="60960" y="13646"/>
                  <a:pt x="60960" y="30480"/>
                </a:cubicBezTo>
                <a:close/>
              </a:path>
            </a:pathLst>
          </a:custGeom>
          <a:solidFill xmlns:a="http://schemas.openxmlformats.org/drawingml/2006/main">
            <a:srgbClr val="D8B545"/>
          </a:solidFill>
          <a:ln xmlns:a="http://schemas.openxmlformats.org/drawingml/2006/main" w="18980">
            <a:noFill/>
            <a:prstDash val="solid"/>
          </a:ln>
        </p:spPr>
      </p:sp>
      <p:sp>
        <p:nvSpPr>
          <p:cNvPr id="40" name="Robot eye">
            <a:extLst xmlns:a="http://schemas.openxmlformats.org/drawingml/2006/main">
              <a:ext uri="{FF2B5EF4-FFF2-40B4-BE49-F238E27FC236}">
                <a16:creationId xmlns:a16="http://schemas.microsoft.com/office/drawing/2014/main" id="{35225D05-2BD8-4835-A930-DCF4EBAF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790" y="4388108"/>
            <a:ext cx="80980" cy="80980"/>
          </a:xfrm>
          <a:custGeom xmlns:a="http://schemas.openxmlformats.org/drawingml/2006/main">
            <a:pathLst>
              <a:path w="60960" h="60960">
                <a:moveTo>
                  <a:pt x="60960" y="30480"/>
                </a:moveTo>
                <a:cubicBezTo>
                  <a:pt x="60960" y="47314"/>
                  <a:pt x="47314" y="60960"/>
                  <a:pt x="30480" y="60960"/>
                </a:cubicBezTo>
                <a:cubicBezTo>
                  <a:pt x="13646" y="60960"/>
                  <a:pt x="0" y="47314"/>
                  <a:pt x="0" y="30480"/>
                </a:cubicBezTo>
                <a:cubicBezTo>
                  <a:pt x="0" y="13646"/>
                  <a:pt x="13646" y="0"/>
                  <a:pt x="30480" y="0"/>
                </a:cubicBezTo>
                <a:cubicBezTo>
                  <a:pt x="47314" y="0"/>
                  <a:pt x="60960" y="13646"/>
                  <a:pt x="60960" y="30480"/>
                </a:cubicBezTo>
                <a:close/>
              </a:path>
            </a:pathLst>
          </a:custGeom>
          <a:solidFill xmlns:a="http://schemas.openxmlformats.org/drawingml/2006/main">
            <a:srgbClr val="D8B545"/>
          </a:solidFill>
          <a:ln xmlns:a="http://schemas.openxmlformats.org/drawingml/2006/main" w="18980">
            <a:noFill/>
            <a:prstDash val="solid"/>
          </a:ln>
        </p:spPr>
      </p:sp>
      <p:sp>
        <p:nvSpPr>
          <p:cNvPr id="41" name="Same-room pin center">
            <a:extLst xmlns:a="http://schemas.openxmlformats.org/drawingml/2006/main">
              <a:ext uri="{FF2B5EF4-FFF2-40B4-BE49-F238E27FC236}">
                <a16:creationId xmlns:a16="http://schemas.microsoft.com/office/drawing/2014/main" id="{54B973C6-2320-4861-8597-1292334F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618" y="3435327"/>
            <a:ext cx="113878" cy="113878"/>
          </a:xfrm>
          <a:custGeom xmlns:a="http://schemas.openxmlformats.org/drawingml/2006/main">
            <a:pathLst>
              <a:path w="85725" h="85725">
                <a:moveTo>
                  <a:pt x="85725" y="42863"/>
                </a:moveTo>
                <a:cubicBezTo>
                  <a:pt x="85725" y="66535"/>
                  <a:pt x="66535" y="85725"/>
                  <a:pt x="42863" y="85725"/>
                </a:cubicBezTo>
                <a:cubicBezTo>
                  <a:pt x="19190" y="85725"/>
                  <a:pt x="0" y="66535"/>
                  <a:pt x="0" y="42863"/>
                </a:cubicBezTo>
                <a:cubicBezTo>
                  <a:pt x="0" y="19190"/>
                  <a:pt x="19190" y="0"/>
                  <a:pt x="42863" y="0"/>
                </a:cubicBezTo>
                <a:cubicBezTo>
                  <a:pt x="66535" y="0"/>
                  <a:pt x="85725" y="19190"/>
                  <a:pt x="85725" y="42863"/>
                </a:cubicBezTo>
                <a:close/>
              </a:path>
            </a:pathLst>
          </a:custGeom>
          <a:solidFill xmlns:a="http://schemas.openxmlformats.org/drawingml/2006/main">
            <a:srgbClr val="8D8A91"/>
          </a:solidFill>
          <a:ln xmlns:a="http://schemas.openxmlformats.org/drawingml/2006/main" w="18980">
            <a:noFill/>
            <a:prstDash val="solid"/>
          </a:ln>
        </p:spPr>
      </p:sp>
      <p:sp>
        <p:nvSpPr>
          <p:cNvPr id="42" name="Different-room pin center">
            <a:extLst xmlns:a="http://schemas.openxmlformats.org/drawingml/2006/main">
              <a:ext uri="{FF2B5EF4-FFF2-40B4-BE49-F238E27FC236}">
                <a16:creationId xmlns:a16="http://schemas.microsoft.com/office/drawing/2014/main" id="{38BC175D-CD63-46C7-B212-789E9D7D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0349" y="7699434"/>
            <a:ext cx="113878" cy="113878"/>
          </a:xfrm>
          <a:custGeom xmlns:a="http://schemas.openxmlformats.org/drawingml/2006/main">
            <a:pathLst>
              <a:path w="85725" h="85725">
                <a:moveTo>
                  <a:pt x="85725" y="42863"/>
                </a:moveTo>
                <a:cubicBezTo>
                  <a:pt x="85725" y="66535"/>
                  <a:pt x="66535" y="85725"/>
                  <a:pt x="42863" y="85725"/>
                </a:cubicBezTo>
                <a:cubicBezTo>
                  <a:pt x="19190" y="85725"/>
                  <a:pt x="0" y="66535"/>
                  <a:pt x="0" y="42863"/>
                </a:cubicBezTo>
                <a:cubicBezTo>
                  <a:pt x="0" y="19190"/>
                  <a:pt x="19190" y="0"/>
                  <a:pt x="42863" y="0"/>
                </a:cubicBezTo>
                <a:cubicBezTo>
                  <a:pt x="66535" y="0"/>
                  <a:pt x="85725" y="19190"/>
                  <a:pt x="85725" y="42863"/>
                </a:cubicBezTo>
                <a:close/>
              </a:path>
            </a:pathLst>
          </a:custGeom>
          <a:solidFill xmlns:a="http://schemas.openxmlformats.org/drawingml/2006/main">
            <a:srgbClr val="A4A299"/>
          </a:solidFill>
          <a:ln xmlns:a="http://schemas.openxmlformats.org/drawingml/2006/main" w="18980">
            <a:noFill/>
            <a:prstDash val="solid"/>
          </a:ln>
        </p:spPr>
      </p:sp>
      <p:sp>
        <p:nvSpPr>
          <p:cNvPr id="43" name="Goal Image">
            <a:extLst xmlns:a="http://schemas.openxmlformats.org/drawingml/2006/main">
              <a:ext uri="{FF2B5EF4-FFF2-40B4-BE49-F238E27FC236}">
                <a16:creationId xmlns:a16="http://schemas.microsoft.com/office/drawing/2014/main" id="{FC28D641-4653-44B3-8426-A75964F1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4181" y="189797"/>
            <a:ext cx="1695520" cy="425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Goal Image</a:t>
            </a:r>
          </a:p>
        </p:txBody>
      </p:sp>
      <p:sp>
        <p:nvSpPr>
          <p:cNvPr id="44" name="Current">
            <a:extLst xmlns:a="http://schemas.openxmlformats.org/drawingml/2006/main">
              <a:ext uri="{FF2B5EF4-FFF2-40B4-BE49-F238E27FC236}">
                <a16:creationId xmlns:a16="http://schemas.microsoft.com/office/drawing/2014/main" id="{40E14DC4-A07C-4A5E-AF74-C5018933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5815" y="3251856"/>
            <a:ext cx="1252661" cy="425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45" name="observation">
            <a:extLst xmlns:a="http://schemas.openxmlformats.org/drawingml/2006/main">
              <a:ext uri="{FF2B5EF4-FFF2-40B4-BE49-F238E27FC236}">
                <a16:creationId xmlns:a16="http://schemas.microsoft.com/office/drawing/2014/main" id="{F8BEB00C-ED3F-45A7-AED2-BAE9CB26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7446" y="3606144"/>
            <a:ext cx="1746133" cy="425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46" name="Goal Image">
            <a:extLst xmlns:a="http://schemas.openxmlformats.org/drawingml/2006/main">
              <a:ext uri="{FF2B5EF4-FFF2-40B4-BE49-F238E27FC236}">
                <a16:creationId xmlns:a16="http://schemas.microsoft.com/office/drawing/2014/main" id="{4DC56545-3E62-4A29-A891-D1537F08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8059" y="6883306"/>
            <a:ext cx="1720827" cy="425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Goal Image</a:t>
            </a:r>
          </a:p>
        </p:txBody>
      </p:sp>
      <p:sp>
        <p:nvSpPr>
          <p:cNvPr id="47" name="Source-clipped thought line 1">
            <a:extLst xmlns:a="http://schemas.openxmlformats.org/drawingml/2006/main">
              <a:ext uri="{FF2B5EF4-FFF2-40B4-BE49-F238E27FC236}">
                <a16:creationId xmlns:a16="http://schemas.microsoft.com/office/drawing/2014/main" id="{9B357420-E21D-445C-AE71-FA2AE8F5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9321" y="2075114"/>
            <a:ext cx="2796343" cy="425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Am I in the same roo</a:t>
            </a:r>
          </a:p>
        </p:txBody>
      </p:sp>
      <p:sp>
        <p:nvSpPr>
          <p:cNvPr id="48" name="Source-clipped thought line 2">
            <a:extLst xmlns:a="http://schemas.openxmlformats.org/drawingml/2006/main">
              <a:ext uri="{FF2B5EF4-FFF2-40B4-BE49-F238E27FC236}">
                <a16:creationId xmlns:a16="http://schemas.microsoft.com/office/drawing/2014/main" id="{D5EC9F3D-B686-4A7A-81AA-6534A271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8506" y="2429402"/>
            <a:ext cx="2657159" cy="425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the goal image</a:t>
            </a:r>
          </a:p>
        </p:txBody>
      </p:sp>
    </p:spTree>
    <p:extLst>
      <p:ext uri="{BB962C8B-B14F-4D97-AF65-F5344CB8AC3E}">
        <p14:creationId xmlns:p14="http://schemas.microsoft.com/office/powerpoint/2010/main" val="1721692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DB9881C4-7E01-4ED5-8A84-0B2F9D79CF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720e9e1fa4fcc"/>
          <a:stretch xmlns:a="http://schemas.openxmlformats.org/drawingml/2006/main"/>
        </p:blipFill>
        <p:spPr>
          <a:xfrm xmlns:a="http://schemas.openxmlformats.org/drawingml/2006/main">
            <a:off x="261833" y="2756795"/>
            <a:ext cx="1832828" cy="177240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9BF52-F4D8-4AA5-988D-3ED1C206CB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0921f98c14db6"/>
          <a:stretch xmlns:a="http://schemas.openxmlformats.org/drawingml/2006/main"/>
        </p:blipFill>
        <p:spPr>
          <a:xfrm xmlns:a="http://schemas.openxmlformats.org/drawingml/2006/main">
            <a:off x="805639" y="5032725"/>
            <a:ext cx="1037260" cy="986907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48030-E8A5-4B2C-BD7D-AE985EA435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32e95ce154ea0"/>
          <a:stretch xmlns:a="http://schemas.openxmlformats.org/drawingml/2006/main"/>
        </p:blipFill>
        <p:spPr>
          <a:xfrm xmlns:a="http://schemas.openxmlformats.org/drawingml/2006/main">
            <a:off x="775427" y="6593650"/>
            <a:ext cx="1047330" cy="986907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103A7-9351-4045-90B6-BC5C227D50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669ccaf984a8d"/>
          <a:stretch xmlns:a="http://schemas.openxmlformats.org/drawingml/2006/main"/>
        </p:blipFill>
        <p:spPr>
          <a:xfrm xmlns:a="http://schemas.openxmlformats.org/drawingml/2006/main">
            <a:off x="8499489" y="2313694"/>
            <a:ext cx="1570996" cy="1530714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39CE4-CF6E-460F-98BC-1883FBE391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2e27c6fa44c30"/>
          <a:stretch xmlns:a="http://schemas.openxmlformats.org/drawingml/2006/main"/>
        </p:blipFill>
        <p:spPr>
          <a:xfrm xmlns:a="http://schemas.openxmlformats.org/drawingml/2006/main">
            <a:off x="8489419" y="3985394"/>
            <a:ext cx="1570996" cy="1520643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495CF-84A9-4C12-BAB5-66544017C2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503386c9a4cd8"/>
          <a:stretch xmlns:a="http://schemas.openxmlformats.org/drawingml/2006/main"/>
        </p:blipFill>
        <p:spPr>
          <a:xfrm xmlns:a="http://schemas.openxmlformats.org/drawingml/2006/main">
            <a:off x="8267868" y="6331817"/>
            <a:ext cx="2054379" cy="1611278"/>
          </a:xfrm>
          <a:prstGeom xmlns:a="http://schemas.openxmlformats.org/drawingml/2006/main" prst="rect">
            <a:avLst/>
          </a:prstGeom>
        </p:spPr>
      </p:pic>
      <p:sp>
        <p:nvSpPr>
          <p:cNvPr id="7" name="Room expert panel">
            <a:extLst xmlns:a="http://schemas.openxmlformats.org/drawingml/2006/main">
              <a:ext uri="{FF2B5EF4-FFF2-40B4-BE49-F238E27FC236}">
                <a16:creationId xmlns:a16="http://schemas.microsoft.com/office/drawing/2014/main" id="{766681C1-525A-472B-9D7D-90BC1ECB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599" y="1920945"/>
            <a:ext cx="5166159" cy="3705938"/>
          </a:xfrm>
          <a:custGeom xmlns:a="http://schemas.openxmlformats.org/drawingml/2006/main">
            <a:pathLst>
              <a:path w="4886325" h="3505200">
                <a:moveTo>
                  <a:pt x="238125" y="0"/>
                </a:moveTo>
                <a:lnTo>
                  <a:pt x="4648200" y="0"/>
                </a:lnTo>
                <a:cubicBezTo>
                  <a:pt x="4779713" y="0"/>
                  <a:pt x="4886325" y="106612"/>
                  <a:pt x="4886325" y="238125"/>
                </a:cubicBezTo>
                <a:lnTo>
                  <a:pt x="4886325" y="3267075"/>
                </a:lnTo>
                <a:cubicBezTo>
                  <a:pt x="4886325" y="3398588"/>
                  <a:pt x="4779713" y="3505200"/>
                  <a:pt x="4648200" y="3505200"/>
                </a:cubicBezTo>
                <a:lnTo>
                  <a:pt x="238125" y="3505200"/>
                </a:lnTo>
                <a:cubicBezTo>
                  <a:pt x="106612" y="3505200"/>
                  <a:pt x="0" y="3398588"/>
                  <a:pt x="0" y="326707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FCF0F0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8" name="Visual feature extractor panel">
            <a:extLst xmlns:a="http://schemas.openxmlformats.org/drawingml/2006/main">
              <a:ext uri="{FF2B5EF4-FFF2-40B4-BE49-F238E27FC236}">
                <a16:creationId xmlns:a16="http://schemas.microsoft.com/office/drawing/2014/main" id="{F77AE836-AA68-441E-9073-3CA0CA10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33" y="5868575"/>
            <a:ext cx="5025172" cy="2749242"/>
          </a:xfrm>
          <a:custGeom xmlns:a="http://schemas.openxmlformats.org/drawingml/2006/main">
            <a:pathLst>
              <a:path w="4752975" h="2600325">
                <a:moveTo>
                  <a:pt x="238125" y="0"/>
                </a:moveTo>
                <a:lnTo>
                  <a:pt x="4514850" y="0"/>
                </a:lnTo>
                <a:cubicBezTo>
                  <a:pt x="4646363" y="0"/>
                  <a:pt x="4752975" y="106612"/>
                  <a:pt x="4752975" y="238125"/>
                </a:cubicBezTo>
                <a:lnTo>
                  <a:pt x="4752975" y="2362200"/>
                </a:lnTo>
                <a:cubicBezTo>
                  <a:pt x="4752975" y="2493713"/>
                  <a:pt x="4646363" y="2600325"/>
                  <a:pt x="4514850" y="2600325"/>
                </a:cubicBezTo>
                <a:lnTo>
                  <a:pt x="238125" y="2600325"/>
                </a:lnTo>
                <a:cubicBezTo>
                  <a:pt x="106612" y="2600325"/>
                  <a:pt x="0" y="2493713"/>
                  <a:pt x="0" y="2362200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EFF4FA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9" name="Constraint set boundary">
            <a:extLst xmlns:a="http://schemas.openxmlformats.org/drawingml/2006/main">
              <a:ext uri="{FF2B5EF4-FFF2-40B4-BE49-F238E27FC236}">
                <a16:creationId xmlns:a16="http://schemas.microsoft.com/office/drawing/2014/main" id="{A9483304-46F1-4168-81FF-5A72B786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401" y="2001509"/>
            <a:ext cx="1278952" cy="785498"/>
          </a:xfrm>
          <a:custGeom xmlns:a="http://schemas.openxmlformats.org/drawingml/2006/main">
            <a:pathLst>
              <a:path w="1209675" h="742950">
                <a:moveTo>
                  <a:pt x="123825" y="0"/>
                </a:moveTo>
                <a:lnTo>
                  <a:pt x="1085850" y="0"/>
                </a:lnTo>
                <a:cubicBezTo>
                  <a:pt x="1154237" y="0"/>
                  <a:pt x="1209675" y="55438"/>
                  <a:pt x="1209675" y="123825"/>
                </a:cubicBezTo>
                <a:lnTo>
                  <a:pt x="1209675" y="619125"/>
                </a:lnTo>
                <a:cubicBezTo>
                  <a:pt x="1209675" y="687512"/>
                  <a:pt x="1154237" y="742950"/>
                  <a:pt x="1085850" y="742950"/>
                </a:cubicBezTo>
                <a:lnTo>
                  <a:pt x="123825" y="742950"/>
                </a:lnTo>
                <a:cubicBezTo>
                  <a:pt x="55438" y="742950"/>
                  <a:pt x="0" y="687512"/>
                  <a:pt x="0" y="6191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176">
            <a:solidFill>
              <a:srgbClr val="595959"/>
            </a:solidFill>
            <a:prstDash val="dash"/>
          </a:ln>
        </p:spPr>
      </p:sp>
      <p:sp>
        <p:nvSpPr>
          <p:cNvPr id="10" name="Offline style encoder top">
            <a:extLst xmlns:a="http://schemas.openxmlformats.org/drawingml/2006/main">
              <a:ext uri="{FF2B5EF4-FFF2-40B4-BE49-F238E27FC236}">
                <a16:creationId xmlns:a16="http://schemas.microsoft.com/office/drawing/2014/main" id="{E9BDF40F-1EA4-40FC-9C60-493D2838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42795"/>
            <a:ext cx="1349445" cy="996978"/>
          </a:xfrm>
          <a:custGeom xmlns:a="http://schemas.openxmlformats.org/drawingml/2006/main">
            <a:pathLst>
              <a:path w="1276350" h="942975">
                <a:moveTo>
                  <a:pt x="0" y="0"/>
                </a:moveTo>
                <a:lnTo>
                  <a:pt x="1276350" y="190500"/>
                </a:lnTo>
                <a:lnTo>
                  <a:pt x="1276350" y="742950"/>
                </a:lnTo>
                <a:lnTo>
                  <a:pt x="0" y="942975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5176">
            <a:solidFill>
              <a:srgbClr val="888888"/>
            </a:solidFill>
            <a:prstDash val="solid"/>
          </a:ln>
        </p:spPr>
      </p:sp>
      <p:sp>
        <p:nvSpPr>
          <p:cNvPr id="11" name="Offline style encoder bottom">
            <a:extLst xmlns:a="http://schemas.openxmlformats.org/drawingml/2006/main">
              <a:ext uri="{FF2B5EF4-FFF2-40B4-BE49-F238E27FC236}">
                <a16:creationId xmlns:a16="http://schemas.microsoft.com/office/drawing/2014/main" id="{565C9AE4-651B-473B-8EC8-C7D51EB1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141" y="6563438"/>
            <a:ext cx="1339374" cy="1007048"/>
          </a:xfrm>
          <a:custGeom xmlns:a="http://schemas.openxmlformats.org/drawingml/2006/main">
            <a:pathLst>
              <a:path w="1266825" h="952500">
                <a:moveTo>
                  <a:pt x="0" y="0"/>
                </a:moveTo>
                <a:lnTo>
                  <a:pt x="1266825" y="200025"/>
                </a:lnTo>
                <a:lnTo>
                  <a:pt x="1266825" y="771525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5176">
            <a:solidFill>
              <a:srgbClr val="888888"/>
            </a:solidFill>
            <a:prstDash val="solid"/>
          </a:ln>
        </p:spPr>
      </p:sp>
      <p:sp>
        <p:nvSpPr>
          <p:cNvPr id="12" name="Offline relation network">
            <a:extLst xmlns:a="http://schemas.openxmlformats.org/drawingml/2006/main">
              <a:ext uri="{FF2B5EF4-FFF2-40B4-BE49-F238E27FC236}">
                <a16:creationId xmlns:a16="http://schemas.microsoft.com/office/drawing/2014/main" id="{ECE2C901-89C7-4A11-BF40-8990A0D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683" y="5636954"/>
            <a:ext cx="956696" cy="1148035"/>
          </a:xfrm>
          <a:custGeom xmlns:a="http://schemas.openxmlformats.org/drawingml/2006/main">
            <a:pathLst>
              <a:path w="904875" h="1085850">
                <a:moveTo>
                  <a:pt x="152400" y="0"/>
                </a:moveTo>
                <a:lnTo>
                  <a:pt x="752475" y="0"/>
                </a:lnTo>
                <a:cubicBezTo>
                  <a:pt x="836643" y="0"/>
                  <a:pt x="904875" y="68232"/>
                  <a:pt x="904875" y="152400"/>
                </a:cubicBezTo>
                <a:lnTo>
                  <a:pt x="904875" y="933450"/>
                </a:lnTo>
                <a:cubicBezTo>
                  <a:pt x="904875" y="1017618"/>
                  <a:pt x="836643" y="1085850"/>
                  <a:pt x="752475" y="1085850"/>
                </a:cubicBezTo>
                <a:lnTo>
                  <a:pt x="152400" y="1085850"/>
                </a:lnTo>
                <a:cubicBezTo>
                  <a:pt x="68232" y="1085850"/>
                  <a:pt x="0" y="1017618"/>
                  <a:pt x="0" y="9334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5176">
            <a:solidFill>
              <a:srgbClr val="AAAAAA"/>
            </a:solidFill>
            <a:prstDash val="solid"/>
          </a:ln>
        </p:spPr>
      </p:sp>
      <p:sp>
        <p:nvSpPr>
          <p:cNvPr id="13" name="Relation labels">
            <a:extLst xmlns:a="http://schemas.openxmlformats.org/drawingml/2006/main">
              <a:ext uri="{FF2B5EF4-FFF2-40B4-BE49-F238E27FC236}">
                <a16:creationId xmlns:a16="http://schemas.microsoft.com/office/drawing/2014/main" id="{ADCAC4A4-DAE3-4853-8108-076241C5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47" y="7943095"/>
            <a:ext cx="1933533" cy="412890"/>
          </a:xfrm>
          <a:custGeom xmlns:a="http://schemas.openxmlformats.org/drawingml/2006/main">
            <a:pathLst>
              <a:path w="1828800" h="390525">
                <a:moveTo>
                  <a:pt x="76200" y="0"/>
                </a:moveTo>
                <a:lnTo>
                  <a:pt x="1752600" y="0"/>
                </a:lnTo>
                <a:cubicBezTo>
                  <a:pt x="1794684" y="0"/>
                  <a:pt x="1828800" y="34116"/>
                  <a:pt x="1828800" y="76200"/>
                </a:cubicBezTo>
                <a:lnTo>
                  <a:pt x="1828800" y="314325"/>
                </a:lnTo>
                <a:cubicBezTo>
                  <a:pt x="1828800" y="356409"/>
                  <a:pt x="1794684" y="390525"/>
                  <a:pt x="1752600" y="390525"/>
                </a:cubicBezTo>
                <a:lnTo>
                  <a:pt x="76200" y="390525"/>
                </a:lnTo>
                <a:cubicBezTo>
                  <a:pt x="34116" y="390525"/>
                  <a:pt x="0" y="356409"/>
                  <a:pt x="0" y="3143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AAAAAA"/>
            </a:solidFill>
            <a:prstDash val="solid"/>
          </a:ln>
        </p:spPr>
      </p:sp>
      <p:sp>
        <p:nvSpPr>
          <p:cNvPr id="14" name="Cluster loss">
            <a:extLst xmlns:a="http://schemas.openxmlformats.org/drawingml/2006/main">
              <a:ext uri="{FF2B5EF4-FFF2-40B4-BE49-F238E27FC236}">
                <a16:creationId xmlns:a16="http://schemas.microsoft.com/office/drawing/2014/main" id="{D300AA18-B874-4063-B8C0-37C549D9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991" y="4589623"/>
            <a:ext cx="1369586" cy="503524"/>
          </a:xfrm>
          <a:custGeom xmlns:a="http://schemas.openxmlformats.org/drawingml/2006/main">
            <a:pathLst>
              <a:path w="1295400" h="476250">
                <a:moveTo>
                  <a:pt x="0" y="0"/>
                </a:moveTo>
                <a:lnTo>
                  <a:pt x="1295400" y="0"/>
                </a:lnTo>
                <a:lnTo>
                  <a:pt x="1295400" y="476250"/>
                </a:lnTo>
                <a:lnTo>
                  <a:pt x="0" y="476250"/>
                </a:lnTo>
                <a:close/>
              </a:path>
            </a:pathLst>
          </a:custGeom>
          <a:solidFill xmlns:a="http://schemas.openxmlformats.org/drawingml/2006/main">
            <a:srgbClr val="FBE5D7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5" name="Prediction loss">
            <a:extLst xmlns:a="http://schemas.openxmlformats.org/drawingml/2006/main">
              <a:ext uri="{FF2B5EF4-FFF2-40B4-BE49-F238E27FC236}">
                <a16:creationId xmlns:a16="http://schemas.microsoft.com/office/drawing/2014/main" id="{BB708E25-8D79-49DC-B467-14EA3D72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410" y="7892742"/>
            <a:ext cx="1369586" cy="523665"/>
          </a:xfrm>
          <a:custGeom xmlns:a="http://schemas.openxmlformats.org/drawingml/2006/main">
            <a:pathLst>
              <a:path w="1295400" h="495300">
                <a:moveTo>
                  <a:pt x="0" y="0"/>
                </a:moveTo>
                <a:lnTo>
                  <a:pt x="1295400" y="0"/>
                </a:lnTo>
                <a:lnTo>
                  <a:pt x="1295400" y="495300"/>
                </a:lnTo>
                <a:lnTo>
                  <a:pt x="0" y="495300"/>
                </a:lnTo>
                <a:close/>
              </a:path>
            </a:pathLst>
          </a:custGeom>
          <a:solidFill xmlns:a="http://schemas.openxmlformats.org/drawingml/2006/main">
            <a:srgbClr val="FBE5D7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6" name="Room style encoder observation">
            <a:extLst xmlns:a="http://schemas.openxmlformats.org/drawingml/2006/main">
              <a:ext uri="{FF2B5EF4-FFF2-40B4-BE49-F238E27FC236}">
                <a16:creationId xmlns:a16="http://schemas.microsoft.com/office/drawing/2014/main" id="{6DE04B58-1C92-42F3-A57D-7868D313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855" y="2333835"/>
            <a:ext cx="1480361" cy="1248740"/>
          </a:xfrm>
          <a:custGeom xmlns:a="http://schemas.openxmlformats.org/drawingml/2006/main">
            <a:pathLst>
              <a:path w="1400175" h="1181100">
                <a:moveTo>
                  <a:pt x="0" y="0"/>
                </a:moveTo>
                <a:lnTo>
                  <a:pt x="1400175" y="238125"/>
                </a:lnTo>
                <a:lnTo>
                  <a:pt x="1400175" y="942975"/>
                </a:lnTo>
                <a:lnTo>
                  <a:pt x="0" y="11811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5176">
            <a:solidFill>
              <a:srgbClr val="888888"/>
            </a:solidFill>
            <a:prstDash val="solid"/>
          </a:ln>
        </p:spPr>
      </p:sp>
      <p:sp>
        <p:nvSpPr>
          <p:cNvPr id="17" name="Room style encoder goal">
            <a:extLst xmlns:a="http://schemas.openxmlformats.org/drawingml/2006/main">
              <a:ext uri="{FF2B5EF4-FFF2-40B4-BE49-F238E27FC236}">
                <a16:creationId xmlns:a16="http://schemas.microsoft.com/office/drawing/2014/main" id="{0C094856-2273-4B3D-8695-AAD41116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855" y="4186804"/>
            <a:ext cx="1480361" cy="1268881"/>
          </a:xfrm>
          <a:custGeom xmlns:a="http://schemas.openxmlformats.org/drawingml/2006/main">
            <a:pathLst>
              <a:path w="1400175" h="1200150">
                <a:moveTo>
                  <a:pt x="0" y="0"/>
                </a:moveTo>
                <a:lnTo>
                  <a:pt x="1400175" y="238125"/>
                </a:lnTo>
                <a:lnTo>
                  <a:pt x="1400175" y="962025"/>
                </a:lnTo>
                <a:lnTo>
                  <a:pt x="0" y="120015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5176">
            <a:solidFill>
              <a:srgbClr val="888888"/>
            </a:solidFill>
            <a:prstDash val="solid"/>
          </a:ln>
        </p:spPr>
      </p:sp>
      <p:sp>
        <p:nvSpPr>
          <p:cNvPr id="18" name="Room relation network">
            <a:extLst xmlns:a="http://schemas.openxmlformats.org/drawingml/2006/main">
              <a:ext uri="{FF2B5EF4-FFF2-40B4-BE49-F238E27FC236}">
                <a16:creationId xmlns:a16="http://schemas.microsoft.com/office/drawing/2014/main" id="{D48AC090-C6AB-4D06-B014-F1F0977F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4520" y="3240178"/>
            <a:ext cx="976837" cy="1329304"/>
          </a:xfrm>
          <a:custGeom xmlns:a="http://schemas.openxmlformats.org/drawingml/2006/main">
            <a:pathLst>
              <a:path w="923925" h="1257300">
                <a:moveTo>
                  <a:pt x="171450" y="0"/>
                </a:moveTo>
                <a:lnTo>
                  <a:pt x="752475" y="0"/>
                </a:lnTo>
                <a:cubicBezTo>
                  <a:pt x="847164" y="0"/>
                  <a:pt x="923925" y="76761"/>
                  <a:pt x="923925" y="171450"/>
                </a:cubicBezTo>
                <a:lnTo>
                  <a:pt x="923925" y="1085850"/>
                </a:lnTo>
                <a:cubicBezTo>
                  <a:pt x="923925" y="1180539"/>
                  <a:pt x="847164" y="1257300"/>
                  <a:pt x="752475" y="1257300"/>
                </a:cubicBezTo>
                <a:lnTo>
                  <a:pt x="171450" y="1257300"/>
                </a:lnTo>
                <a:cubicBezTo>
                  <a:pt x="76761" y="1257300"/>
                  <a:pt x="0" y="1180539"/>
                  <a:pt x="0" y="10858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5176">
            <a:solidFill>
              <a:srgbClr val="AAAAAA"/>
            </a:solidFill>
            <a:prstDash val="solid"/>
          </a:ln>
        </p:spPr>
      </p:sp>
      <p:sp>
        <p:nvSpPr>
          <p:cNvPr id="19" name="ResNet-9 module">
            <a:extLst xmlns:a="http://schemas.openxmlformats.org/drawingml/2006/main">
              <a:ext uri="{FF2B5EF4-FFF2-40B4-BE49-F238E27FC236}">
                <a16:creationId xmlns:a16="http://schemas.microsoft.com/office/drawing/2014/main" id="{0B48779F-E507-4F6D-8A04-4A81F8EF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5348" y="6402311"/>
            <a:ext cx="1480361" cy="1490432"/>
          </a:xfrm>
          <a:custGeom xmlns:a="http://schemas.openxmlformats.org/drawingml/2006/main">
            <a:pathLst>
              <a:path w="1400175" h="1409700">
                <a:moveTo>
                  <a:pt x="0" y="0"/>
                </a:moveTo>
                <a:lnTo>
                  <a:pt x="1400175" y="266700"/>
                </a:lnTo>
                <a:lnTo>
                  <a:pt x="1400175" y="1143000"/>
                </a:lnTo>
                <a:lnTo>
                  <a:pt x="0" y="1409700"/>
                </a:lnTo>
                <a:close/>
              </a:path>
            </a:pathLst>
          </a:custGeom>
          <a:solidFill xmlns:a="http://schemas.openxmlformats.org/drawingml/2006/main">
            <a:srgbClr val="D9E8FB"/>
          </a:solidFill>
          <a:ln xmlns:a="http://schemas.openxmlformats.org/drawingml/2006/main" w="25176">
            <a:solidFill>
              <a:srgbClr val="888888"/>
            </a:solidFill>
            <a:prstDash val="solid"/>
          </a:ln>
        </p:spPr>
      </p:sp>
      <p:sp>
        <p:nvSpPr>
          <p:cNvPr id="20" name="Flatten module">
            <a:extLst xmlns:a="http://schemas.openxmlformats.org/drawingml/2006/main">
              <a:ext uri="{FF2B5EF4-FFF2-40B4-BE49-F238E27FC236}">
                <a16:creationId xmlns:a16="http://schemas.microsoft.com/office/drawing/2014/main" id="{037FA637-3056-4064-B302-5234C792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128" y="6422452"/>
            <a:ext cx="533736" cy="1369586"/>
          </a:xfrm>
          <a:custGeom xmlns:a="http://schemas.openxmlformats.org/drawingml/2006/main">
            <a:pathLst>
              <a:path w="504825" h="1295400">
                <a:moveTo>
                  <a:pt x="85725" y="0"/>
                </a:moveTo>
                <a:lnTo>
                  <a:pt x="419100" y="0"/>
                </a:lnTo>
                <a:cubicBezTo>
                  <a:pt x="466445" y="0"/>
                  <a:pt x="504825" y="38380"/>
                  <a:pt x="504825" y="85725"/>
                </a:cubicBezTo>
                <a:lnTo>
                  <a:pt x="504825" y="1209675"/>
                </a:lnTo>
                <a:cubicBezTo>
                  <a:pt x="504825" y="1257020"/>
                  <a:pt x="466445" y="1295400"/>
                  <a:pt x="419100" y="1295400"/>
                </a:cubicBezTo>
                <a:lnTo>
                  <a:pt x="85725" y="1295400"/>
                </a:lnTo>
                <a:cubicBezTo>
                  <a:pt x="38380" y="1295400"/>
                  <a:pt x="0" y="1257020"/>
                  <a:pt x="0" y="12096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D9E8FB"/>
          </a:solidFill>
          <a:ln xmlns:a="http://schemas.openxmlformats.org/drawingml/2006/main" w="25176">
            <a:solidFill>
              <a:srgbClr val="595959"/>
            </a:solidFill>
            <a:prstDash val="solid"/>
          </a:ln>
        </p:spPr>
      </p:sp>
      <p:sp>
        <p:nvSpPr>
          <p:cNvPr id="21" name="Environment">
            <a:extLst xmlns:a="http://schemas.openxmlformats.org/drawingml/2006/main">
              <a:ext uri="{FF2B5EF4-FFF2-40B4-BE49-F238E27FC236}">
                <a16:creationId xmlns:a16="http://schemas.microsoft.com/office/drawing/2014/main" id="{20AD520E-BBA3-44D4-9AE8-1FB4BBC5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709" y="1125377"/>
            <a:ext cx="2104731" cy="644511"/>
          </a:xfrm>
          <a:custGeom xmlns:a="http://schemas.openxmlformats.org/drawingml/2006/main">
            <a:pathLst>
              <a:path w="1990725" h="609600">
                <a:moveTo>
                  <a:pt x="104775" y="0"/>
                </a:moveTo>
                <a:lnTo>
                  <a:pt x="1885950" y="0"/>
                </a:lnTo>
                <a:cubicBezTo>
                  <a:pt x="1943816" y="0"/>
                  <a:pt x="1990725" y="46909"/>
                  <a:pt x="1990725" y="104775"/>
                </a:cubicBezTo>
                <a:lnTo>
                  <a:pt x="1990725" y="504825"/>
                </a:lnTo>
                <a:cubicBezTo>
                  <a:pt x="1990725" y="562691"/>
                  <a:pt x="1943816" y="609600"/>
                  <a:pt x="1885950" y="609600"/>
                </a:cubicBezTo>
                <a:lnTo>
                  <a:pt x="104775" y="609600"/>
                </a:lnTo>
                <a:cubicBezTo>
                  <a:pt x="46909" y="609600"/>
                  <a:pt x="0" y="562691"/>
                  <a:pt x="0" y="50482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22155">
            <a:solidFill>
              <a:srgbClr val="AAAAAA"/>
            </a:solidFill>
            <a:prstDash val="solid"/>
          </a:ln>
        </p:spPr>
      </p:sp>
      <p:sp>
        <p:nvSpPr>
          <p:cNvPr id="22" name="Actions">
            <a:extLst xmlns:a="http://schemas.openxmlformats.org/drawingml/2006/main">
              <a:ext uri="{FF2B5EF4-FFF2-40B4-BE49-F238E27FC236}">
                <a16:creationId xmlns:a16="http://schemas.microsoft.com/office/drawing/2014/main" id="{8D97BEE9-1C97-4305-8596-86AE6E8D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3974" y="2575526"/>
            <a:ext cx="1711982" cy="1349445"/>
          </a:xfrm>
          <a:custGeom xmlns:a="http://schemas.openxmlformats.org/drawingml/2006/main">
            <a:pathLst>
              <a:path w="1619250" h="1276350">
                <a:moveTo>
                  <a:pt x="228600" y="0"/>
                </a:moveTo>
                <a:lnTo>
                  <a:pt x="1390650" y="0"/>
                </a:lnTo>
                <a:cubicBezTo>
                  <a:pt x="1516902" y="0"/>
                  <a:pt x="1619250" y="102348"/>
                  <a:pt x="1619250" y="228600"/>
                </a:cubicBezTo>
                <a:lnTo>
                  <a:pt x="1619250" y="1047750"/>
                </a:lnTo>
                <a:cubicBezTo>
                  <a:pt x="1619250" y="1174002"/>
                  <a:pt x="1516902" y="1276350"/>
                  <a:pt x="1390650" y="1276350"/>
                </a:cubicBezTo>
                <a:lnTo>
                  <a:pt x="228600" y="1276350"/>
                </a:lnTo>
                <a:cubicBezTo>
                  <a:pt x="102348" y="1276350"/>
                  <a:pt x="0" y="1174002"/>
                  <a:pt x="0" y="104775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22155">
            <a:solidFill>
              <a:srgbClr val="AAAAAA"/>
            </a:solidFill>
            <a:prstDash val="solid"/>
          </a:ln>
        </p:spPr>
      </p:sp>
      <p:sp>
        <p:nvSpPr>
          <p:cNvPr id="23" name="Actor">
            <a:extLst xmlns:a="http://schemas.openxmlformats.org/drawingml/2006/main">
              <a:ext uri="{FF2B5EF4-FFF2-40B4-BE49-F238E27FC236}">
                <a16:creationId xmlns:a16="http://schemas.microsoft.com/office/drawing/2014/main" id="{8C1BCF25-529D-4AD4-9732-6099A122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2564" y="4539271"/>
            <a:ext cx="1017119" cy="644511"/>
          </a:xfrm>
          <a:custGeom xmlns:a="http://schemas.openxmlformats.org/drawingml/2006/main">
            <a:pathLst>
              <a:path w="962025" h="609600">
                <a:moveTo>
                  <a:pt x="123825" y="0"/>
                </a:moveTo>
                <a:lnTo>
                  <a:pt x="838200" y="0"/>
                </a:lnTo>
                <a:cubicBezTo>
                  <a:pt x="906587" y="0"/>
                  <a:pt x="962025" y="55438"/>
                  <a:pt x="962025" y="123825"/>
                </a:cubicBezTo>
                <a:lnTo>
                  <a:pt x="962025" y="485775"/>
                </a:lnTo>
                <a:cubicBezTo>
                  <a:pt x="962025" y="554162"/>
                  <a:pt x="906587" y="609600"/>
                  <a:pt x="838200" y="609600"/>
                </a:cubicBezTo>
                <a:lnTo>
                  <a:pt x="123825" y="609600"/>
                </a:lnTo>
                <a:cubicBezTo>
                  <a:pt x="55438" y="609600"/>
                  <a:pt x="0" y="554162"/>
                  <a:pt x="0" y="48577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22155">
            <a:solidFill>
              <a:srgbClr val="AAAAAA"/>
            </a:solidFill>
            <a:prstDash val="solid"/>
          </a:ln>
        </p:spPr>
      </p:sp>
      <p:sp>
        <p:nvSpPr>
          <p:cNvPr id="24" name="Critic">
            <a:extLst xmlns:a="http://schemas.openxmlformats.org/drawingml/2006/main">
              <a:ext uri="{FF2B5EF4-FFF2-40B4-BE49-F238E27FC236}">
                <a16:creationId xmlns:a16="http://schemas.microsoft.com/office/drawing/2014/main" id="{7EE6D688-E638-4AD5-8B0F-741C658F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0529" y="4539271"/>
            <a:ext cx="1017119" cy="644511"/>
          </a:xfrm>
          <a:custGeom xmlns:a="http://schemas.openxmlformats.org/drawingml/2006/main">
            <a:pathLst>
              <a:path w="962025" h="609600">
                <a:moveTo>
                  <a:pt x="123825" y="0"/>
                </a:moveTo>
                <a:lnTo>
                  <a:pt x="838200" y="0"/>
                </a:lnTo>
                <a:cubicBezTo>
                  <a:pt x="906587" y="0"/>
                  <a:pt x="962025" y="55438"/>
                  <a:pt x="962025" y="123825"/>
                </a:cubicBezTo>
                <a:lnTo>
                  <a:pt x="962025" y="485775"/>
                </a:lnTo>
                <a:cubicBezTo>
                  <a:pt x="962025" y="554162"/>
                  <a:pt x="906587" y="609600"/>
                  <a:pt x="838200" y="609600"/>
                </a:cubicBezTo>
                <a:lnTo>
                  <a:pt x="123825" y="609600"/>
                </a:lnTo>
                <a:cubicBezTo>
                  <a:pt x="55438" y="609600"/>
                  <a:pt x="0" y="554162"/>
                  <a:pt x="0" y="48577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22155">
            <a:solidFill>
              <a:srgbClr val="AAAAAA"/>
            </a:solidFill>
            <a:prstDash val="solid"/>
          </a:ln>
        </p:spPr>
      </p:sp>
      <p:sp>
        <p:nvSpPr>
          <p:cNvPr id="25" name="Navigation policy">
            <a:extLst xmlns:a="http://schemas.openxmlformats.org/drawingml/2006/main">
              <a:ext uri="{FF2B5EF4-FFF2-40B4-BE49-F238E27FC236}">
                <a16:creationId xmlns:a16="http://schemas.microsoft.com/office/drawing/2014/main" id="{50EB29A9-A16A-4D52-A9C6-C2588B5B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4044" y="5193852"/>
            <a:ext cx="1701912" cy="825780"/>
          </a:xfrm>
          <a:custGeom xmlns:a="http://schemas.openxmlformats.org/drawingml/2006/main">
            <a:pathLst>
              <a:path w="1609725" h="781050">
                <a:moveTo>
                  <a:pt x="133350" y="0"/>
                </a:moveTo>
                <a:lnTo>
                  <a:pt x="1476375" y="0"/>
                </a:lnTo>
                <a:cubicBezTo>
                  <a:pt x="1550022" y="0"/>
                  <a:pt x="1609725" y="59703"/>
                  <a:pt x="1609725" y="133350"/>
                </a:cubicBezTo>
                <a:lnTo>
                  <a:pt x="1609725" y="647700"/>
                </a:lnTo>
                <a:cubicBezTo>
                  <a:pt x="1609725" y="721347"/>
                  <a:pt x="1550022" y="781050"/>
                  <a:pt x="1476375" y="781050"/>
                </a:cubicBezTo>
                <a:lnTo>
                  <a:pt x="133350" y="781050"/>
                </a:lnTo>
                <a:cubicBezTo>
                  <a:pt x="59703" y="781050"/>
                  <a:pt x="0" y="721347"/>
                  <a:pt x="0" y="647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22155">
            <a:solidFill>
              <a:srgbClr val="AAAAAA"/>
            </a:solidFill>
            <a:prstDash val="solid"/>
          </a:ln>
        </p:spPr>
      </p:sp>
      <p:sp>
        <p:nvSpPr>
          <p:cNvPr id="26" name="Reward">
            <a:extLst xmlns:a="http://schemas.openxmlformats.org/drawingml/2006/main">
              <a:ext uri="{FF2B5EF4-FFF2-40B4-BE49-F238E27FC236}">
                <a16:creationId xmlns:a16="http://schemas.microsoft.com/office/drawing/2014/main" id="{066E2C78-63F3-4136-BD7A-AE67BBBD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4678" y="6513086"/>
            <a:ext cx="1530714" cy="513595"/>
          </a:xfrm>
          <a:custGeom xmlns:a="http://schemas.openxmlformats.org/drawingml/2006/main">
            <a:pathLst>
              <a:path w="1447800" h="485775">
                <a:moveTo>
                  <a:pt x="95250" y="0"/>
                </a:moveTo>
                <a:lnTo>
                  <a:pt x="1352550" y="0"/>
                </a:lnTo>
                <a:cubicBezTo>
                  <a:pt x="1405155" y="0"/>
                  <a:pt x="1447800" y="42645"/>
                  <a:pt x="1447800" y="95250"/>
                </a:cubicBezTo>
                <a:lnTo>
                  <a:pt x="1447800" y="390525"/>
                </a:lnTo>
                <a:cubicBezTo>
                  <a:pt x="1447800" y="443130"/>
                  <a:pt x="1405155" y="485775"/>
                  <a:pt x="1352550" y="485775"/>
                </a:cubicBezTo>
                <a:lnTo>
                  <a:pt x="95250" y="485775"/>
                </a:lnTo>
                <a:cubicBezTo>
                  <a:pt x="42645" y="485775"/>
                  <a:pt x="0" y="443130"/>
                  <a:pt x="0" y="3905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22155">
            <a:solidFill>
              <a:srgbClr val="AAAAAA"/>
            </a:solidFill>
            <a:prstDash val="solid"/>
          </a:ln>
        </p:spPr>
      </p:sp>
      <p:sp>
        <p:nvSpPr>
          <p:cNvPr id="27" name="Channel concatenate boundary">
            <a:extLst xmlns:a="http://schemas.openxmlformats.org/drawingml/2006/main">
              <a:ext uri="{FF2B5EF4-FFF2-40B4-BE49-F238E27FC236}">
                <a16:creationId xmlns:a16="http://schemas.microsoft.com/office/drawing/2014/main" id="{BC41C0BD-41A0-4CD9-8985-90EFDE61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727" y="6281465"/>
            <a:ext cx="2094661" cy="1742194"/>
          </a:xfrm>
          <a:custGeom xmlns:a="http://schemas.openxmlformats.org/drawingml/2006/main">
            <a:pathLst>
              <a:path w="1981200" h="1647825">
                <a:moveTo>
                  <a:pt x="238125" y="0"/>
                </a:moveTo>
                <a:lnTo>
                  <a:pt x="1743075" y="0"/>
                </a:lnTo>
                <a:cubicBezTo>
                  <a:pt x="1874588" y="0"/>
                  <a:pt x="1981200" y="106612"/>
                  <a:pt x="1981200" y="238125"/>
                </a:cubicBezTo>
                <a:lnTo>
                  <a:pt x="1981200" y="1409700"/>
                </a:lnTo>
                <a:cubicBezTo>
                  <a:pt x="1981200" y="1541213"/>
                  <a:pt x="1874588" y="1647825"/>
                  <a:pt x="1743075" y="1647825"/>
                </a:cubicBezTo>
                <a:lnTo>
                  <a:pt x="238125" y="1647825"/>
                </a:lnTo>
                <a:cubicBezTo>
                  <a:pt x="106612" y="1647825"/>
                  <a:pt x="0" y="1541213"/>
                  <a:pt x="0" y="1409700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595959"/>
            </a:solidFill>
            <a:prstDash val="dash"/>
          </a:ln>
        </p:spPr>
      </p:sp>
      <p:sp>
        <p:nvSpPr>
          <p:cNvPr id="28" name="Panel divider">
            <a:extLst xmlns:a="http://schemas.openxmlformats.org/drawingml/2006/main">
              <a:ext uri="{FF2B5EF4-FFF2-40B4-BE49-F238E27FC236}">
                <a16:creationId xmlns:a16="http://schemas.microsoft.com/office/drawing/2014/main" id="{1D3D932B-FA40-4A1F-BB0E-83502355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401" y="1538267"/>
            <a:ext cx="191" cy="7049339"/>
          </a:xfrm>
          <a:custGeom xmlns:a="http://schemas.openxmlformats.org/drawingml/2006/main">
            <a:pathLst>
              <a:path w="191" h="6667500">
                <a:moveTo>
                  <a:pt x="0" y="0"/>
                </a:moveTo>
                <a:lnTo>
                  <a:pt x="0" y="6667500"/>
                </a:lnTo>
              </a:path>
            </a:pathLst>
          </a:custGeom>
          <a:noFill xmlns:a="http://schemas.openxmlformats.org/drawingml/2006/main"/>
          <a:ln xmlns:a="http://schemas.openxmlformats.org/drawingml/2006/main" w="30211">
            <a:solidFill>
              <a:srgbClr val="595959"/>
            </a:solidFill>
            <a:prstDash val="dash"/>
          </a:ln>
        </p:spPr>
      </p:sp>
      <p:sp>
        <p:nvSpPr>
          <p:cNvPr id="29" name="Extracted features top">
            <a:extLst xmlns:a="http://schemas.openxmlformats.org/drawingml/2006/main">
              <a:ext uri="{FF2B5EF4-FFF2-40B4-BE49-F238E27FC236}">
                <a16:creationId xmlns:a16="http://schemas.microsoft.com/office/drawing/2014/main" id="{068C9DF1-3C7B-4AB1-9595-AFFCFB38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515" y="3189826"/>
            <a:ext cx="765357" cy="302115"/>
          </a:xfrm>
          <a:custGeom xmlns:a="http://schemas.openxmlformats.org/drawingml/2006/main">
            <a:pathLst>
              <a:path w="723900" h="285750">
                <a:moveTo>
                  <a:pt x="0" y="285750"/>
                </a:moveTo>
                <a:lnTo>
                  <a:pt x="285750" y="0"/>
                </a:lnTo>
                <a:lnTo>
                  <a:pt x="723900" y="0"/>
                </a:lnTo>
                <a:lnTo>
                  <a:pt x="438150" y="28575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30" name="Extracted features right face">
            <a:extLst xmlns:a="http://schemas.openxmlformats.org/drawingml/2006/main">
              <a:ext uri="{FF2B5EF4-FFF2-40B4-BE49-F238E27FC236}">
                <a16:creationId xmlns:a16="http://schemas.microsoft.com/office/drawing/2014/main" id="{2292A8B5-0F37-4457-B916-55B15FBE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758" y="3189826"/>
            <a:ext cx="302115" cy="785498"/>
          </a:xfrm>
          <a:custGeom xmlns:a="http://schemas.openxmlformats.org/drawingml/2006/main">
            <a:pathLst>
              <a:path w="285750" h="742950">
                <a:moveTo>
                  <a:pt x="0" y="285750"/>
                </a:moveTo>
                <a:lnTo>
                  <a:pt x="285750" y="0"/>
                </a:lnTo>
                <a:lnTo>
                  <a:pt x="285750" y="457200"/>
                </a:lnTo>
                <a:lnTo>
                  <a:pt x="0" y="742950"/>
                </a:lnTo>
                <a:close/>
              </a:path>
            </a:pathLst>
          </a:custGeom>
          <a:solidFill xmlns:a="http://schemas.openxmlformats.org/drawingml/2006/main">
            <a:srgbClr val="C6AFB6"/>
          </a:solidFill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31" name="Extracted features front">
            <a:extLst xmlns:a="http://schemas.openxmlformats.org/drawingml/2006/main">
              <a:ext uri="{FF2B5EF4-FFF2-40B4-BE49-F238E27FC236}">
                <a16:creationId xmlns:a16="http://schemas.microsoft.com/office/drawing/2014/main" id="{CA1E6CB2-B3BF-43EC-B319-C0A151A0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515" y="3491941"/>
            <a:ext cx="463242" cy="483383"/>
          </a:xfrm>
          <a:custGeom xmlns:a="http://schemas.openxmlformats.org/drawingml/2006/main">
            <a:pathLst>
              <a:path w="438150" h="457200">
                <a:moveTo>
                  <a:pt x="0" y="0"/>
                </a:moveTo>
                <a:lnTo>
                  <a:pt x="438150" y="0"/>
                </a:lnTo>
                <a:lnTo>
                  <a:pt x="438150" y="457200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32" name="Extract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DB2A2423-1A0E-4AF9-976C-650F41E0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930" y="3491941"/>
            <a:ext cx="191" cy="483383"/>
          </a:xfrm>
          <a:custGeom xmlns:a="http://schemas.openxmlformats.org/drawingml/2006/main">
            <a:pathLst>
              <a:path w="191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33" name="Extract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2120DF1A-E20D-42A0-ABA1-B4F7FA7A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515" y="3653068"/>
            <a:ext cx="463242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34" name="Extracted features top grid">
            <a:extLst xmlns:a="http://schemas.openxmlformats.org/drawingml/2006/main">
              <a:ext uri="{FF2B5EF4-FFF2-40B4-BE49-F238E27FC236}">
                <a16:creationId xmlns:a16="http://schemas.microsoft.com/office/drawing/2014/main" id="{E1225E2A-9C41-4180-B8B4-5D343677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930" y="3189826"/>
            <a:ext cx="302115" cy="302115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35" name="Extract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D0140819-9AD8-429F-826A-CCB0E6DD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344" y="3491941"/>
            <a:ext cx="191" cy="483383"/>
          </a:xfrm>
          <a:custGeom xmlns:a="http://schemas.openxmlformats.org/drawingml/2006/main">
            <a:pathLst>
              <a:path w="191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36" name="Extract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F079ED5E-7208-4144-A984-BAB884F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515" y="3814196"/>
            <a:ext cx="463242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37" name="Extracted features top grid">
            <a:extLst xmlns:a="http://schemas.openxmlformats.org/drawingml/2006/main">
              <a:ext uri="{FF2B5EF4-FFF2-40B4-BE49-F238E27FC236}">
                <a16:creationId xmlns:a16="http://schemas.microsoft.com/office/drawing/2014/main" id="{18E39A65-63F7-40B0-98A1-88D35AA2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344" y="3189826"/>
            <a:ext cx="302115" cy="302115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38" name="Batched features top">
            <a:extLst xmlns:a="http://schemas.openxmlformats.org/drawingml/2006/main">
              <a:ext uri="{FF2B5EF4-FFF2-40B4-BE49-F238E27FC236}">
                <a16:creationId xmlns:a16="http://schemas.microsoft.com/office/drawing/2014/main" id="{A7501D8D-03DE-48A2-8A0E-B7578B39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841" y="5042795"/>
            <a:ext cx="765357" cy="302115"/>
          </a:xfrm>
          <a:custGeom xmlns:a="http://schemas.openxmlformats.org/drawingml/2006/main">
            <a:pathLst>
              <a:path w="723900" h="285750">
                <a:moveTo>
                  <a:pt x="0" y="285750"/>
                </a:moveTo>
                <a:lnTo>
                  <a:pt x="285750" y="0"/>
                </a:lnTo>
                <a:lnTo>
                  <a:pt x="723900" y="0"/>
                </a:lnTo>
                <a:lnTo>
                  <a:pt x="438150" y="28575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39" name="Batched features right face">
            <a:extLst xmlns:a="http://schemas.openxmlformats.org/drawingml/2006/main">
              <a:ext uri="{FF2B5EF4-FFF2-40B4-BE49-F238E27FC236}">
                <a16:creationId xmlns:a16="http://schemas.microsoft.com/office/drawing/2014/main" id="{9C02A42F-EFF1-4B4B-B7D5-59BDA541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084" y="5042795"/>
            <a:ext cx="302115" cy="785498"/>
          </a:xfrm>
          <a:custGeom xmlns:a="http://schemas.openxmlformats.org/drawingml/2006/main">
            <a:pathLst>
              <a:path w="285750" h="742950">
                <a:moveTo>
                  <a:pt x="0" y="285750"/>
                </a:moveTo>
                <a:lnTo>
                  <a:pt x="285750" y="0"/>
                </a:lnTo>
                <a:lnTo>
                  <a:pt x="285750" y="457200"/>
                </a:lnTo>
                <a:lnTo>
                  <a:pt x="0" y="742950"/>
                </a:lnTo>
                <a:close/>
              </a:path>
            </a:pathLst>
          </a:custGeom>
          <a:solidFill xmlns:a="http://schemas.openxmlformats.org/drawingml/2006/main">
            <a:srgbClr val="C6AFB6"/>
          </a:solidFill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40" name="Batched features front">
            <a:extLst xmlns:a="http://schemas.openxmlformats.org/drawingml/2006/main">
              <a:ext uri="{FF2B5EF4-FFF2-40B4-BE49-F238E27FC236}">
                <a16:creationId xmlns:a16="http://schemas.microsoft.com/office/drawing/2014/main" id="{0F3FDD3D-A502-4E23-80E4-53ED5E48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841" y="5344910"/>
            <a:ext cx="463242" cy="483383"/>
          </a:xfrm>
          <a:custGeom xmlns:a="http://schemas.openxmlformats.org/drawingml/2006/main">
            <a:pathLst>
              <a:path w="438150" h="457200">
                <a:moveTo>
                  <a:pt x="0" y="0"/>
                </a:moveTo>
                <a:lnTo>
                  <a:pt x="438150" y="0"/>
                </a:lnTo>
                <a:lnTo>
                  <a:pt x="438150" y="457200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41" name="Batch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272F3C58-E05C-41D5-BDC8-1C35E2EA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256" y="5344910"/>
            <a:ext cx="191" cy="483383"/>
          </a:xfrm>
          <a:custGeom xmlns:a="http://schemas.openxmlformats.org/drawingml/2006/main">
            <a:pathLst>
              <a:path w="191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42" name="Batch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F870FFE4-92F9-4DEF-9260-54C16A0B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841" y="5506037"/>
            <a:ext cx="463242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43" name="Batched features top grid">
            <a:extLst xmlns:a="http://schemas.openxmlformats.org/drawingml/2006/main">
              <a:ext uri="{FF2B5EF4-FFF2-40B4-BE49-F238E27FC236}">
                <a16:creationId xmlns:a16="http://schemas.microsoft.com/office/drawing/2014/main" id="{CDAA3696-8D61-4FBC-80D4-232DC08A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256" y="5042795"/>
            <a:ext cx="302115" cy="302115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44" name="Batch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0F6940AD-EE85-4B03-953A-B1F4F5C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670" y="5344910"/>
            <a:ext cx="191" cy="483383"/>
          </a:xfrm>
          <a:custGeom xmlns:a="http://schemas.openxmlformats.org/drawingml/2006/main">
            <a:pathLst>
              <a:path w="191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45" name="Batch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9CBD80B1-C3C9-4DBE-B00D-7B68A099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841" y="5667165"/>
            <a:ext cx="463242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46" name="Batched features top grid">
            <a:extLst xmlns:a="http://schemas.openxmlformats.org/drawingml/2006/main">
              <a:ext uri="{FF2B5EF4-FFF2-40B4-BE49-F238E27FC236}">
                <a16:creationId xmlns:a16="http://schemas.microsoft.com/office/drawing/2014/main" id="{3B7D3E74-60C1-4A23-8195-1968AD04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670" y="5042795"/>
            <a:ext cx="302115" cy="302115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47" name="Shuffled features top">
            <a:extLst xmlns:a="http://schemas.openxmlformats.org/drawingml/2006/main">
              <a:ext uri="{FF2B5EF4-FFF2-40B4-BE49-F238E27FC236}">
                <a16:creationId xmlns:a16="http://schemas.microsoft.com/office/drawing/2014/main" id="{E50AAFB8-40AD-4058-842B-83ABC555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912" y="6623861"/>
            <a:ext cx="765357" cy="302115"/>
          </a:xfrm>
          <a:custGeom xmlns:a="http://schemas.openxmlformats.org/drawingml/2006/main">
            <a:pathLst>
              <a:path w="723900" h="285750">
                <a:moveTo>
                  <a:pt x="0" y="285750"/>
                </a:moveTo>
                <a:lnTo>
                  <a:pt x="285750" y="0"/>
                </a:lnTo>
                <a:lnTo>
                  <a:pt x="723900" y="0"/>
                </a:lnTo>
                <a:lnTo>
                  <a:pt x="438150" y="28575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48" name="Shuffled features right face">
            <a:extLst xmlns:a="http://schemas.openxmlformats.org/drawingml/2006/main">
              <a:ext uri="{FF2B5EF4-FFF2-40B4-BE49-F238E27FC236}">
                <a16:creationId xmlns:a16="http://schemas.microsoft.com/office/drawing/2014/main" id="{1E0040F7-2832-4B3F-841A-7F449513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154" y="6623861"/>
            <a:ext cx="302115" cy="785498"/>
          </a:xfrm>
          <a:custGeom xmlns:a="http://schemas.openxmlformats.org/drawingml/2006/main">
            <a:pathLst>
              <a:path w="285750" h="742950">
                <a:moveTo>
                  <a:pt x="0" y="285750"/>
                </a:moveTo>
                <a:lnTo>
                  <a:pt x="285750" y="0"/>
                </a:lnTo>
                <a:lnTo>
                  <a:pt x="285750" y="457200"/>
                </a:lnTo>
                <a:lnTo>
                  <a:pt x="0" y="742950"/>
                </a:lnTo>
                <a:close/>
              </a:path>
            </a:pathLst>
          </a:custGeom>
          <a:solidFill xmlns:a="http://schemas.openxmlformats.org/drawingml/2006/main">
            <a:srgbClr val="C6AFB6"/>
          </a:solidFill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49" name="Shuffled features front">
            <a:extLst xmlns:a="http://schemas.openxmlformats.org/drawingml/2006/main">
              <a:ext uri="{FF2B5EF4-FFF2-40B4-BE49-F238E27FC236}">
                <a16:creationId xmlns:a16="http://schemas.microsoft.com/office/drawing/2014/main" id="{74A627FF-7025-429C-9FC0-467BCFBF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912" y="6925976"/>
            <a:ext cx="463242" cy="483383"/>
          </a:xfrm>
          <a:custGeom xmlns:a="http://schemas.openxmlformats.org/drawingml/2006/main">
            <a:pathLst>
              <a:path w="438150" h="457200">
                <a:moveTo>
                  <a:pt x="0" y="0"/>
                </a:moveTo>
                <a:lnTo>
                  <a:pt x="438150" y="0"/>
                </a:lnTo>
                <a:lnTo>
                  <a:pt x="438150" y="457200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50" name="Shuffl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E43A432A-E766-4B66-8644-5757A9A7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326" y="6925976"/>
            <a:ext cx="191" cy="483383"/>
          </a:xfrm>
          <a:custGeom xmlns:a="http://schemas.openxmlformats.org/drawingml/2006/main">
            <a:pathLst>
              <a:path w="191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51" name="Shuffl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E78EF817-2180-46B4-BC63-CD9A0521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912" y="7087104"/>
            <a:ext cx="463242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52" name="Shuffled features top grid">
            <a:extLst xmlns:a="http://schemas.openxmlformats.org/drawingml/2006/main">
              <a:ext uri="{FF2B5EF4-FFF2-40B4-BE49-F238E27FC236}">
                <a16:creationId xmlns:a16="http://schemas.microsoft.com/office/drawing/2014/main" id="{AF2B421E-0DA0-4A94-A345-32DB1127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326" y="6623861"/>
            <a:ext cx="302115" cy="302115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53" name="Shuffl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D50F5908-FC15-43A7-9ADC-EC85979B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740" y="6925976"/>
            <a:ext cx="191" cy="483383"/>
          </a:xfrm>
          <a:custGeom xmlns:a="http://schemas.openxmlformats.org/drawingml/2006/main">
            <a:pathLst>
              <a:path w="191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54" name="Shuffled features editable cell grid">
            <a:extLst xmlns:a="http://schemas.openxmlformats.org/drawingml/2006/main">
              <a:ext uri="{FF2B5EF4-FFF2-40B4-BE49-F238E27FC236}">
                <a16:creationId xmlns:a16="http://schemas.microsoft.com/office/drawing/2014/main" id="{D07D75BF-D08C-4D06-B05B-43A769D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912" y="7248231"/>
            <a:ext cx="463242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55" name="Shuffled features top grid">
            <a:extLst xmlns:a="http://schemas.openxmlformats.org/drawingml/2006/main">
              <a:ext uri="{FF2B5EF4-FFF2-40B4-BE49-F238E27FC236}">
                <a16:creationId xmlns:a16="http://schemas.microsoft.com/office/drawing/2014/main" id="{A7BE70CE-CF61-42CF-8C26-7085516D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740" y="6623861"/>
            <a:ext cx="302115" cy="302115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141">
            <a:solidFill>
              <a:srgbClr val="FFFFFF"/>
            </a:solidFill>
            <a:prstDash val="solid"/>
          </a:ln>
        </p:spPr>
      </p:sp>
      <p:sp>
        <p:nvSpPr>
          <p:cNvPr id="56" name="Observation relation vector front">
            <a:extLst xmlns:a="http://schemas.openxmlformats.org/drawingml/2006/main">
              <a:ext uri="{FF2B5EF4-FFF2-40B4-BE49-F238E27FC236}">
                <a16:creationId xmlns:a16="http://schemas.microsoft.com/office/drawing/2014/main" id="{56E56A47-F4CF-4F60-8335-03B24673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7894" y="3149544"/>
            <a:ext cx="261833" cy="241692"/>
          </a:xfrm>
          <a:custGeom xmlns:a="http://schemas.openxmlformats.org/drawingml/2006/main">
            <a:pathLst>
              <a:path w="247650" h="228600">
                <a:moveTo>
                  <a:pt x="0" y="0"/>
                </a:moveTo>
                <a:lnTo>
                  <a:pt x="247650" y="0"/>
                </a:lnTo>
                <a:lnTo>
                  <a:pt x="247650" y="2286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888888"/>
            </a:solidFill>
            <a:prstDash val="solid"/>
          </a:ln>
        </p:spPr>
      </p:sp>
      <p:sp>
        <p:nvSpPr>
          <p:cNvPr id="57" name="Observation relation vector top">
            <a:extLst xmlns:a="http://schemas.openxmlformats.org/drawingml/2006/main">
              <a:ext uri="{FF2B5EF4-FFF2-40B4-BE49-F238E27FC236}">
                <a16:creationId xmlns:a16="http://schemas.microsoft.com/office/drawing/2014/main" id="{5FD71049-0B3B-4FBF-87E2-46FBB9A7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7894" y="2545315"/>
            <a:ext cx="866062" cy="604229"/>
          </a:xfrm>
          <a:custGeom xmlns:a="http://schemas.openxmlformats.org/drawingml/2006/main">
            <a:pathLst>
              <a:path w="819150" h="571500">
                <a:moveTo>
                  <a:pt x="0" y="571500"/>
                </a:moveTo>
                <a:lnTo>
                  <a:pt x="571500" y="0"/>
                </a:lnTo>
                <a:lnTo>
                  <a:pt x="819150" y="0"/>
                </a:lnTo>
                <a:lnTo>
                  <a:pt x="247650" y="5715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888888"/>
            </a:solidFill>
            <a:prstDash val="solid"/>
          </a:ln>
        </p:spPr>
      </p:sp>
      <p:sp>
        <p:nvSpPr>
          <p:cNvPr id="58" name="Observation relation vector side">
            <a:extLst xmlns:a="http://schemas.openxmlformats.org/drawingml/2006/main">
              <a:ext uri="{FF2B5EF4-FFF2-40B4-BE49-F238E27FC236}">
                <a16:creationId xmlns:a16="http://schemas.microsoft.com/office/drawing/2014/main" id="{D8D08B4D-7D38-4046-A322-2C9C52C2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727" y="2545315"/>
            <a:ext cx="604229" cy="845921"/>
          </a:xfrm>
          <a:custGeom xmlns:a="http://schemas.openxmlformats.org/drawingml/2006/main">
            <a:pathLst>
              <a:path w="571500" h="800100">
                <a:moveTo>
                  <a:pt x="0" y="571500"/>
                </a:moveTo>
                <a:lnTo>
                  <a:pt x="571500" y="0"/>
                </a:lnTo>
                <a:lnTo>
                  <a:pt x="571500" y="228600"/>
                </a:lnTo>
                <a:lnTo>
                  <a:pt x="0" y="800100"/>
                </a:lnTo>
                <a:close/>
              </a:path>
            </a:pathLst>
          </a:custGeom>
          <a:solidFill xmlns:a="http://schemas.openxmlformats.org/drawingml/2006/main">
            <a:srgbClr val="C6B8BD"/>
          </a:solidFill>
          <a:ln xmlns:a="http://schemas.openxmlformats.org/drawingml/2006/main" w="20141">
            <a:solidFill>
              <a:srgbClr val="888888"/>
            </a:solidFill>
            <a:prstDash val="solid"/>
          </a:ln>
        </p:spPr>
      </p:sp>
      <p:sp>
        <p:nvSpPr>
          <p:cNvPr id="59" name="Goal relation vector front">
            <a:extLst xmlns:a="http://schemas.openxmlformats.org/drawingml/2006/main">
              <a:ext uri="{FF2B5EF4-FFF2-40B4-BE49-F238E27FC236}">
                <a16:creationId xmlns:a16="http://schemas.microsoft.com/office/drawing/2014/main" id="{D490E145-3098-47F8-82C0-11C1D818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7753" y="5002513"/>
            <a:ext cx="261833" cy="241692"/>
          </a:xfrm>
          <a:custGeom xmlns:a="http://schemas.openxmlformats.org/drawingml/2006/main">
            <a:pathLst>
              <a:path w="247650" h="228600">
                <a:moveTo>
                  <a:pt x="0" y="0"/>
                </a:moveTo>
                <a:lnTo>
                  <a:pt x="247650" y="0"/>
                </a:lnTo>
                <a:lnTo>
                  <a:pt x="247650" y="2286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888888"/>
            </a:solidFill>
            <a:prstDash val="solid"/>
          </a:ln>
        </p:spPr>
      </p:sp>
      <p:sp>
        <p:nvSpPr>
          <p:cNvPr id="60" name="Goal relation vector top">
            <a:extLst xmlns:a="http://schemas.openxmlformats.org/drawingml/2006/main">
              <a:ext uri="{FF2B5EF4-FFF2-40B4-BE49-F238E27FC236}">
                <a16:creationId xmlns:a16="http://schemas.microsoft.com/office/drawing/2014/main" id="{1FC043E4-40E4-4724-9B25-210CF71B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7753" y="4398284"/>
            <a:ext cx="866062" cy="604229"/>
          </a:xfrm>
          <a:custGeom xmlns:a="http://schemas.openxmlformats.org/drawingml/2006/main">
            <a:pathLst>
              <a:path w="819150" h="571500">
                <a:moveTo>
                  <a:pt x="0" y="571500"/>
                </a:moveTo>
                <a:lnTo>
                  <a:pt x="571500" y="0"/>
                </a:lnTo>
                <a:lnTo>
                  <a:pt x="819150" y="0"/>
                </a:lnTo>
                <a:lnTo>
                  <a:pt x="247650" y="571500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888888"/>
            </a:solidFill>
            <a:prstDash val="solid"/>
          </a:ln>
        </p:spPr>
      </p:sp>
      <p:sp>
        <p:nvSpPr>
          <p:cNvPr id="61" name="Goal relation vector side">
            <a:extLst xmlns:a="http://schemas.openxmlformats.org/drawingml/2006/main">
              <a:ext uri="{FF2B5EF4-FFF2-40B4-BE49-F238E27FC236}">
                <a16:creationId xmlns:a16="http://schemas.microsoft.com/office/drawing/2014/main" id="{0A1621F7-6BBE-4B92-8DA6-BE1C180B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9586" y="4398284"/>
            <a:ext cx="604229" cy="845921"/>
          </a:xfrm>
          <a:custGeom xmlns:a="http://schemas.openxmlformats.org/drawingml/2006/main">
            <a:pathLst>
              <a:path w="571500" h="800100">
                <a:moveTo>
                  <a:pt x="0" y="571500"/>
                </a:moveTo>
                <a:lnTo>
                  <a:pt x="571500" y="0"/>
                </a:lnTo>
                <a:lnTo>
                  <a:pt x="571500" y="228600"/>
                </a:lnTo>
                <a:lnTo>
                  <a:pt x="0" y="800100"/>
                </a:lnTo>
                <a:close/>
              </a:path>
            </a:pathLst>
          </a:custGeom>
          <a:solidFill xmlns:a="http://schemas.openxmlformats.org/drawingml/2006/main">
            <a:srgbClr val="C6B8BD"/>
          </a:solidFill>
          <a:ln xmlns:a="http://schemas.openxmlformats.org/drawingml/2006/main" w="20141">
            <a:solidFill>
              <a:srgbClr val="888888"/>
            </a:solidFill>
            <a:prstDash val="solid"/>
          </a:ln>
        </p:spPr>
      </p:sp>
      <p:sp>
        <p:nvSpPr>
          <p:cNvPr id="62" name="Visual feature vector front">
            <a:extLst xmlns:a="http://schemas.openxmlformats.org/drawingml/2006/main">
              <a:ext uri="{FF2B5EF4-FFF2-40B4-BE49-F238E27FC236}">
                <a16:creationId xmlns:a16="http://schemas.microsoft.com/office/drawing/2014/main" id="{CAAFDDDB-D50C-4F0C-AFA1-E500960C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7612" y="7328795"/>
            <a:ext cx="261833" cy="241692"/>
          </a:xfrm>
          <a:custGeom xmlns:a="http://schemas.openxmlformats.org/drawingml/2006/main">
            <a:pathLst>
              <a:path w="247650" h="228600">
                <a:moveTo>
                  <a:pt x="0" y="0"/>
                </a:moveTo>
                <a:lnTo>
                  <a:pt x="247650" y="0"/>
                </a:lnTo>
                <a:lnTo>
                  <a:pt x="247650" y="2286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C4DBEC"/>
          </a:solidFill>
          <a:ln xmlns:a="http://schemas.openxmlformats.org/drawingml/2006/main" w="20141">
            <a:solidFill>
              <a:srgbClr val="888888"/>
            </a:solidFill>
            <a:prstDash val="solid"/>
          </a:ln>
        </p:spPr>
      </p:sp>
      <p:sp>
        <p:nvSpPr>
          <p:cNvPr id="63" name="Visual feature vector top">
            <a:extLst xmlns:a="http://schemas.openxmlformats.org/drawingml/2006/main">
              <a:ext uri="{FF2B5EF4-FFF2-40B4-BE49-F238E27FC236}">
                <a16:creationId xmlns:a16="http://schemas.microsoft.com/office/drawing/2014/main" id="{7DD0C41B-B612-4883-A812-7D111E54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7612" y="6724566"/>
            <a:ext cx="866062" cy="604229"/>
          </a:xfrm>
          <a:custGeom xmlns:a="http://schemas.openxmlformats.org/drawingml/2006/main">
            <a:pathLst>
              <a:path w="819150" h="571500">
                <a:moveTo>
                  <a:pt x="0" y="571500"/>
                </a:moveTo>
                <a:lnTo>
                  <a:pt x="571500" y="0"/>
                </a:lnTo>
                <a:lnTo>
                  <a:pt x="819150" y="0"/>
                </a:lnTo>
                <a:lnTo>
                  <a:pt x="247650" y="571500"/>
                </a:lnTo>
                <a:close/>
              </a:path>
            </a:pathLst>
          </a:custGeom>
          <a:solidFill xmlns:a="http://schemas.openxmlformats.org/drawingml/2006/main">
            <a:srgbClr val="C4DBEC"/>
          </a:solidFill>
          <a:ln xmlns:a="http://schemas.openxmlformats.org/drawingml/2006/main" w="20141">
            <a:solidFill>
              <a:srgbClr val="888888"/>
            </a:solidFill>
            <a:prstDash val="solid"/>
          </a:ln>
        </p:spPr>
      </p:sp>
      <p:sp>
        <p:nvSpPr>
          <p:cNvPr id="64" name="Visual feature vector side">
            <a:extLst xmlns:a="http://schemas.openxmlformats.org/drawingml/2006/main">
              <a:ext uri="{FF2B5EF4-FFF2-40B4-BE49-F238E27FC236}">
                <a16:creationId xmlns:a16="http://schemas.microsoft.com/office/drawing/2014/main" id="{6E5AF808-EFC7-411B-83E7-31B2D76A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445" y="6724566"/>
            <a:ext cx="604229" cy="845921"/>
          </a:xfrm>
          <a:custGeom xmlns:a="http://schemas.openxmlformats.org/drawingml/2006/main">
            <a:pathLst>
              <a:path w="571500" h="800100">
                <a:moveTo>
                  <a:pt x="0" y="571500"/>
                </a:moveTo>
                <a:lnTo>
                  <a:pt x="571500" y="0"/>
                </a:lnTo>
                <a:lnTo>
                  <a:pt x="571500" y="228600"/>
                </a:lnTo>
                <a:lnTo>
                  <a:pt x="0" y="800100"/>
                </a:lnTo>
                <a:close/>
              </a:path>
            </a:pathLst>
          </a:custGeom>
          <a:solidFill xmlns:a="http://schemas.openxmlformats.org/drawingml/2006/main">
            <a:srgbClr val="B8CBDC"/>
          </a:solidFill>
          <a:ln xmlns:a="http://schemas.openxmlformats.org/drawingml/2006/main" w="20141">
            <a:solidFill>
              <a:srgbClr val="888888"/>
            </a:solidFill>
            <a:prstDash val="solid"/>
          </a:ln>
        </p:spPr>
      </p:sp>
      <p:sp>
        <p:nvSpPr>
          <p:cNvPr id="65" name="Distance matrix cell 1-1">
            <a:extLst xmlns:a="http://schemas.openxmlformats.org/drawingml/2006/main">
              <a:ext uri="{FF2B5EF4-FFF2-40B4-BE49-F238E27FC236}">
                <a16:creationId xmlns:a16="http://schemas.microsoft.com/office/drawing/2014/main" id="{E9E04897-C4E6-4043-91DE-DC362AA8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67" y="2998487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395723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66" name="Distance matrix cell 1-2">
            <a:extLst xmlns:a="http://schemas.openxmlformats.org/drawingml/2006/main">
              <a:ext uri="{FF2B5EF4-FFF2-40B4-BE49-F238E27FC236}">
                <a16:creationId xmlns:a16="http://schemas.microsoft.com/office/drawing/2014/main" id="{BDDE9BDF-E61D-49D5-B15A-78800934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388" y="2998487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538234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67" name="Distance matrix cell 1-3">
            <a:extLst xmlns:a="http://schemas.openxmlformats.org/drawingml/2006/main">
              <a:ext uri="{FF2B5EF4-FFF2-40B4-BE49-F238E27FC236}">
                <a16:creationId xmlns:a16="http://schemas.microsoft.com/office/drawing/2014/main" id="{FDADED25-4036-45B7-B753-78AB2AD5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009" y="2998487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A8D18D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68" name="Distance matrix cell 1-4">
            <a:extLst xmlns:a="http://schemas.openxmlformats.org/drawingml/2006/main">
              <a:ext uri="{FF2B5EF4-FFF2-40B4-BE49-F238E27FC236}">
                <a16:creationId xmlns:a16="http://schemas.microsoft.com/office/drawing/2014/main" id="{153C0ABE-261D-40FA-AA1C-3C654463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630" y="2998487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C5E0B5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69" name="Distance matrix cell 1-5">
            <a:extLst xmlns:a="http://schemas.openxmlformats.org/drawingml/2006/main">
              <a:ext uri="{FF2B5EF4-FFF2-40B4-BE49-F238E27FC236}">
                <a16:creationId xmlns:a16="http://schemas.microsoft.com/office/drawing/2014/main" id="{3127BDFE-2F02-42DF-83A1-454A396E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251" y="2998487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70" name="Distance matrix cell 2-1">
            <a:extLst xmlns:a="http://schemas.openxmlformats.org/drawingml/2006/main">
              <a:ext uri="{FF2B5EF4-FFF2-40B4-BE49-F238E27FC236}">
                <a16:creationId xmlns:a16="http://schemas.microsoft.com/office/drawing/2014/main" id="{84F21D05-8DB2-481B-BE87-63AF71E0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67" y="3230108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203864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71" name="Distance matrix cell 2-2">
            <a:extLst xmlns:a="http://schemas.openxmlformats.org/drawingml/2006/main">
              <a:ext uri="{FF2B5EF4-FFF2-40B4-BE49-F238E27FC236}">
                <a16:creationId xmlns:a16="http://schemas.microsoft.com/office/drawing/2014/main" id="{5DD0E78D-1BBC-4600-A322-7C94B92F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388" y="3230108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2F5596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72" name="Distance matrix cell 2-3">
            <a:extLst xmlns:a="http://schemas.openxmlformats.org/drawingml/2006/main">
              <a:ext uri="{FF2B5EF4-FFF2-40B4-BE49-F238E27FC236}">
                <a16:creationId xmlns:a16="http://schemas.microsoft.com/office/drawing/2014/main" id="{B7FB4FCD-8925-4359-B450-F48568B8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009" y="3230108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8FABDD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73" name="Distance matrix cell 2-4">
            <a:extLst xmlns:a="http://schemas.openxmlformats.org/drawingml/2006/main">
              <a:ext uri="{FF2B5EF4-FFF2-40B4-BE49-F238E27FC236}">
                <a16:creationId xmlns:a16="http://schemas.microsoft.com/office/drawing/2014/main" id="{8FE6D3AD-22FF-46AD-BBBA-5B059AC6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630" y="3230108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74" name="Distance matrix cell 2-5">
            <a:extLst xmlns:a="http://schemas.openxmlformats.org/drawingml/2006/main">
              <a:ext uri="{FF2B5EF4-FFF2-40B4-BE49-F238E27FC236}">
                <a16:creationId xmlns:a16="http://schemas.microsoft.com/office/drawing/2014/main" id="{8C64A41D-FF28-4A34-B7F1-F2F8FB2A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251" y="3230108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DAE3F4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75" name="Distance matrix cell 3-1">
            <a:extLst xmlns:a="http://schemas.openxmlformats.org/drawingml/2006/main">
              <a:ext uri="{FF2B5EF4-FFF2-40B4-BE49-F238E27FC236}">
                <a16:creationId xmlns:a16="http://schemas.microsoft.com/office/drawing/2014/main" id="{6E6AB042-31F4-420D-A40B-0A3B8888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67" y="3461729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7E6000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76" name="Distance matrix cell 3-2">
            <a:extLst xmlns:a="http://schemas.openxmlformats.org/drawingml/2006/main">
              <a:ext uri="{FF2B5EF4-FFF2-40B4-BE49-F238E27FC236}">
                <a16:creationId xmlns:a16="http://schemas.microsoft.com/office/drawing/2014/main" id="{3A81AF56-68D1-4E19-9C9C-D47C8991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388" y="3461729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BF9100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77" name="Distance matrix cell 3-3">
            <a:extLst xmlns:a="http://schemas.openxmlformats.org/drawingml/2006/main">
              <a:ext uri="{FF2B5EF4-FFF2-40B4-BE49-F238E27FC236}">
                <a16:creationId xmlns:a16="http://schemas.microsoft.com/office/drawing/2014/main" id="{1E61F287-8B12-4C37-9823-B24D7872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009" y="3461729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ED966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78" name="Distance matrix cell 3-4">
            <a:extLst xmlns:a="http://schemas.openxmlformats.org/drawingml/2006/main">
              <a:ext uri="{FF2B5EF4-FFF2-40B4-BE49-F238E27FC236}">
                <a16:creationId xmlns:a16="http://schemas.microsoft.com/office/drawing/2014/main" id="{7E608B9E-D08C-4A39-8284-56E35523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630" y="3461729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FE699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79" name="Distance matrix cell 3-5">
            <a:extLst xmlns:a="http://schemas.openxmlformats.org/drawingml/2006/main">
              <a:ext uri="{FF2B5EF4-FFF2-40B4-BE49-F238E27FC236}">
                <a16:creationId xmlns:a16="http://schemas.microsoft.com/office/drawing/2014/main" id="{BFDAC051-72A4-419E-B4A7-90E996B8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251" y="3461729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FF2CD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80" name="Distance matrix cell 4-1">
            <a:extLst xmlns:a="http://schemas.openxmlformats.org/drawingml/2006/main">
              <a:ext uri="{FF2B5EF4-FFF2-40B4-BE49-F238E27FC236}">
                <a16:creationId xmlns:a16="http://schemas.microsoft.com/office/drawing/2014/main" id="{B63B7647-DA83-469E-B47A-3ACC5D6C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67" y="3693350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81" name="Distance matrix cell 4-2">
            <a:extLst xmlns:a="http://schemas.openxmlformats.org/drawingml/2006/main">
              <a:ext uri="{FF2B5EF4-FFF2-40B4-BE49-F238E27FC236}">
                <a16:creationId xmlns:a16="http://schemas.microsoft.com/office/drawing/2014/main" id="{E3822DCD-DCF2-4A2A-BBFA-BB27250B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388" y="3693350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C55B11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82" name="Distance matrix cell 4-3">
            <a:extLst xmlns:a="http://schemas.openxmlformats.org/drawingml/2006/main">
              <a:ext uri="{FF2B5EF4-FFF2-40B4-BE49-F238E27FC236}">
                <a16:creationId xmlns:a16="http://schemas.microsoft.com/office/drawing/2014/main" id="{234FB857-39ED-4220-8953-584460E9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009" y="3693350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4B184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83" name="Distance matrix cell 4-4">
            <a:extLst xmlns:a="http://schemas.openxmlformats.org/drawingml/2006/main">
              <a:ext uri="{FF2B5EF4-FFF2-40B4-BE49-F238E27FC236}">
                <a16:creationId xmlns:a16="http://schemas.microsoft.com/office/drawing/2014/main" id="{D1E0559E-1FC8-4231-A613-E783FEEE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630" y="3693350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8CBAC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84" name="Distance matrix cell 4-5">
            <a:extLst xmlns:a="http://schemas.openxmlformats.org/drawingml/2006/main">
              <a:ext uri="{FF2B5EF4-FFF2-40B4-BE49-F238E27FC236}">
                <a16:creationId xmlns:a16="http://schemas.microsoft.com/office/drawing/2014/main" id="{B690967A-DC88-4DDC-834C-E7546368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251" y="3693350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BE5D7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85" name="Distance matrix cell 5-1">
            <a:extLst xmlns:a="http://schemas.openxmlformats.org/drawingml/2006/main">
              <a:ext uri="{FF2B5EF4-FFF2-40B4-BE49-F238E27FC236}">
                <a16:creationId xmlns:a16="http://schemas.microsoft.com/office/drawing/2014/main" id="{2A3BCE7F-04EA-4755-BF0F-BD27524B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67" y="3924971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86" name="Distance matrix cell 5-2">
            <a:extLst xmlns:a="http://schemas.openxmlformats.org/drawingml/2006/main">
              <a:ext uri="{FF2B5EF4-FFF2-40B4-BE49-F238E27FC236}">
                <a16:creationId xmlns:a16="http://schemas.microsoft.com/office/drawing/2014/main" id="{92185D07-EC07-4611-A68A-C6D1EC84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388" y="3924971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87" name="Distance matrix cell 5-3">
            <a:extLst xmlns:a="http://schemas.openxmlformats.org/drawingml/2006/main">
              <a:ext uri="{FF2B5EF4-FFF2-40B4-BE49-F238E27FC236}">
                <a16:creationId xmlns:a16="http://schemas.microsoft.com/office/drawing/2014/main" id="{F4815645-63FF-461F-AD48-0073E90E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009" y="3924971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88" name="Distance matrix cell 5-4">
            <a:extLst xmlns:a="http://schemas.openxmlformats.org/drawingml/2006/main">
              <a:ext uri="{FF2B5EF4-FFF2-40B4-BE49-F238E27FC236}">
                <a16:creationId xmlns:a16="http://schemas.microsoft.com/office/drawing/2014/main" id="{4A6A6CC4-3AB9-44AA-81F3-8956FB64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630" y="3924971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89" name="Distance matrix cell 5-5">
            <a:extLst xmlns:a="http://schemas.openxmlformats.org/drawingml/2006/main">
              <a:ext uri="{FF2B5EF4-FFF2-40B4-BE49-F238E27FC236}">
                <a16:creationId xmlns:a16="http://schemas.microsoft.com/office/drawing/2014/main" id="{00DEACAF-9399-4A8A-B5CE-99C4FE09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251" y="3924971"/>
            <a:ext cx="231621" cy="231621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8056">
            <a:solidFill>
              <a:srgbClr val="595959"/>
            </a:solidFill>
            <a:prstDash val="solid"/>
          </a:ln>
        </p:spPr>
      </p:sp>
      <p:sp>
        <p:nvSpPr>
          <p:cNvPr id="90" name="Cluster assignment stripes">
            <a:extLst xmlns:a="http://schemas.openxmlformats.org/drawingml/2006/main">
              <a:ext uri="{FF2B5EF4-FFF2-40B4-BE49-F238E27FC236}">
                <a16:creationId xmlns:a16="http://schemas.microsoft.com/office/drawing/2014/main" id="{67B6F808-B787-430F-9794-7DCA7A96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339" y="3068980"/>
            <a:ext cx="574018" cy="1027189"/>
          </a:xfrm>
          <a:custGeom xmlns:a="http://schemas.openxmlformats.org/drawingml/2006/main">
            <a:pathLst>
              <a:path w="542925" h="971550">
                <a:moveTo>
                  <a:pt x="85725" y="0"/>
                </a:moveTo>
                <a:lnTo>
                  <a:pt x="457200" y="0"/>
                </a:lnTo>
                <a:cubicBezTo>
                  <a:pt x="504545" y="0"/>
                  <a:pt x="542925" y="38380"/>
                  <a:pt x="542925" y="85725"/>
                </a:cubicBezTo>
                <a:lnTo>
                  <a:pt x="542925" y="885825"/>
                </a:lnTo>
                <a:cubicBezTo>
                  <a:pt x="542925" y="933170"/>
                  <a:pt x="504545" y="971550"/>
                  <a:pt x="457200" y="971550"/>
                </a:cubicBezTo>
                <a:lnTo>
                  <a:pt x="85725" y="971550"/>
                </a:lnTo>
                <a:cubicBezTo>
                  <a:pt x="38380" y="971550"/>
                  <a:pt x="0" y="933170"/>
                  <a:pt x="0" y="88582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141">
            <a:solidFill>
              <a:srgbClr val="888888"/>
            </a:solidFill>
            <a:prstDash val="solid"/>
          </a:ln>
        </p:spPr>
      </p:sp>
      <p:sp>
        <p:nvSpPr>
          <p:cNvPr id="91" name="Cluster assignment stripe 1">
            <a:extLst xmlns:a="http://schemas.openxmlformats.org/drawingml/2006/main">
              <a:ext uri="{FF2B5EF4-FFF2-40B4-BE49-F238E27FC236}">
                <a16:creationId xmlns:a16="http://schemas.microsoft.com/office/drawing/2014/main" id="{16EBC665-627F-4E89-BEED-C9F30217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762" y="3159615"/>
            <a:ext cx="453172" cy="50352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A7D08E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92" name="Cluster assignment stripe 2">
            <a:extLst xmlns:a="http://schemas.openxmlformats.org/drawingml/2006/main">
              <a:ext uri="{FF2B5EF4-FFF2-40B4-BE49-F238E27FC236}">
                <a16:creationId xmlns:a16="http://schemas.microsoft.com/office/drawing/2014/main" id="{4969DE97-72BE-411A-A570-0342B43B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762" y="3280460"/>
            <a:ext cx="453172" cy="50352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9DC3E7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93" name="Cluster assignment stripe 3">
            <a:extLst xmlns:a="http://schemas.openxmlformats.org/drawingml/2006/main">
              <a:ext uri="{FF2B5EF4-FFF2-40B4-BE49-F238E27FC236}">
                <a16:creationId xmlns:a16="http://schemas.microsoft.com/office/drawing/2014/main" id="{E68DBB33-2C15-4BBE-8D2C-6E6CC21A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762" y="3401306"/>
            <a:ext cx="453172" cy="50352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FEE697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94" name="Cluster assignment stripe 4">
            <a:extLst xmlns:a="http://schemas.openxmlformats.org/drawingml/2006/main">
              <a:ext uri="{FF2B5EF4-FFF2-40B4-BE49-F238E27FC236}">
                <a16:creationId xmlns:a16="http://schemas.microsoft.com/office/drawing/2014/main" id="{BDF5DFD4-3F1E-4472-96CD-571E169A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762" y="3522152"/>
            <a:ext cx="453172" cy="50352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F3B182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95" name="Cluster assignment stripe 5">
            <a:extLst xmlns:a="http://schemas.openxmlformats.org/drawingml/2006/main">
              <a:ext uri="{FF2B5EF4-FFF2-40B4-BE49-F238E27FC236}">
                <a16:creationId xmlns:a16="http://schemas.microsoft.com/office/drawing/2014/main" id="{8CE372D0-6870-4AF6-821B-20AA32C9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762" y="3642998"/>
            <a:ext cx="453172" cy="50352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96" name="Cluster assignment stripe 6">
            <a:extLst xmlns:a="http://schemas.openxmlformats.org/drawingml/2006/main">
              <a:ext uri="{FF2B5EF4-FFF2-40B4-BE49-F238E27FC236}">
                <a16:creationId xmlns:a16="http://schemas.microsoft.com/office/drawing/2014/main" id="{26029A8B-2AA3-4505-A008-ADF901C9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762" y="3763844"/>
            <a:ext cx="453172" cy="50352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8497AF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97" name="Cluster assignment stripe 7">
            <a:extLst xmlns:a="http://schemas.openxmlformats.org/drawingml/2006/main">
              <a:ext uri="{FF2B5EF4-FFF2-40B4-BE49-F238E27FC236}">
                <a16:creationId xmlns:a16="http://schemas.microsoft.com/office/drawing/2014/main" id="{EB5B973F-3C3F-4240-A11C-6C8A00F1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762" y="3884689"/>
            <a:ext cx="453172" cy="50352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A7D18F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98" name="Cluster assignment stripe 8">
            <a:extLst xmlns:a="http://schemas.openxmlformats.org/drawingml/2006/main">
              <a:ext uri="{FF2B5EF4-FFF2-40B4-BE49-F238E27FC236}">
                <a16:creationId xmlns:a16="http://schemas.microsoft.com/office/drawing/2014/main" id="{CE018E02-6F56-4203-8E81-E8B78A82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762" y="4005535"/>
            <a:ext cx="453172" cy="50352"/>
          </a:xfrm>
          <a:custGeom xmlns:a="http://schemas.openxmlformats.org/drawingml/2006/main">
            <a:pathLst>
              <a:path w="428625" h="47625">
                <a:moveTo>
                  <a:pt x="0" y="0"/>
                </a:moveTo>
                <a:lnTo>
                  <a:pt x="428625" y="0"/>
                </a:lnTo>
                <a:lnTo>
                  <a:pt x="4286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99" name="Constraint relation edge">
            <a:extLst xmlns:a="http://schemas.openxmlformats.org/drawingml/2006/main">
              <a:ext uri="{FF2B5EF4-FFF2-40B4-BE49-F238E27FC236}">
                <a16:creationId xmlns:a16="http://schemas.microsoft.com/office/drawing/2014/main" id="{73869DB3-8CDB-4943-A7C5-1B937F5E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811" y="2142496"/>
            <a:ext cx="372608" cy="120846"/>
          </a:xfrm>
          <a:custGeom xmlns:a="http://schemas.openxmlformats.org/drawingml/2006/main">
            <a:pathLst>
              <a:path w="352425" h="114300">
                <a:moveTo>
                  <a:pt x="0" y="11430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06">
            <a:solidFill>
              <a:srgbClr val="777777"/>
            </a:solidFill>
            <a:prstDash val="solid"/>
          </a:ln>
        </p:spPr>
      </p:sp>
      <p:sp>
        <p:nvSpPr>
          <p:cNvPr id="100" name="Constraint relation edge">
            <a:extLst xmlns:a="http://schemas.openxmlformats.org/drawingml/2006/main">
              <a:ext uri="{FF2B5EF4-FFF2-40B4-BE49-F238E27FC236}">
                <a16:creationId xmlns:a16="http://schemas.microsoft.com/office/drawing/2014/main" id="{52AAE372-3B69-4216-BD02-23D0D855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419" y="2142496"/>
            <a:ext cx="563947" cy="40282"/>
          </a:xfrm>
          <a:custGeom xmlns:a="http://schemas.openxmlformats.org/drawingml/2006/main">
            <a:pathLst>
              <a:path w="533400" h="38100">
                <a:moveTo>
                  <a:pt x="0" y="0"/>
                </a:moveTo>
                <a:lnTo>
                  <a:pt x="53340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5106">
            <a:solidFill>
              <a:srgbClr val="777777"/>
            </a:solidFill>
            <a:prstDash val="solid"/>
          </a:ln>
        </p:spPr>
      </p:sp>
      <p:sp>
        <p:nvSpPr>
          <p:cNvPr id="101" name="Constraint relation edge">
            <a:extLst xmlns:a="http://schemas.openxmlformats.org/drawingml/2006/main">
              <a:ext uri="{FF2B5EF4-FFF2-40B4-BE49-F238E27FC236}">
                <a16:creationId xmlns:a16="http://schemas.microsoft.com/office/drawing/2014/main" id="{20EDCB8A-60FC-44AE-987D-E5A82CF9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811" y="2515104"/>
            <a:ext cx="372608" cy="100705"/>
          </a:xfrm>
          <a:custGeom xmlns:a="http://schemas.openxmlformats.org/drawingml/2006/main">
            <a:pathLst>
              <a:path w="352425" h="95250">
                <a:moveTo>
                  <a:pt x="0" y="0"/>
                </a:moveTo>
                <a:lnTo>
                  <a:pt x="352425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5106">
            <a:solidFill>
              <a:srgbClr val="777777"/>
            </a:solidFill>
            <a:prstDash val="solid"/>
          </a:ln>
        </p:spPr>
      </p:sp>
      <p:sp>
        <p:nvSpPr>
          <p:cNvPr id="102" name="Constraint relation edge">
            <a:extLst xmlns:a="http://schemas.openxmlformats.org/drawingml/2006/main">
              <a:ext uri="{FF2B5EF4-FFF2-40B4-BE49-F238E27FC236}">
                <a16:creationId xmlns:a16="http://schemas.microsoft.com/office/drawing/2014/main" id="{56D1E453-B4B8-4B51-B5DF-E778C7C9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969" y="2464751"/>
            <a:ext cx="352467" cy="181269"/>
          </a:xfrm>
          <a:custGeom xmlns:a="http://schemas.openxmlformats.org/drawingml/2006/main">
            <a:pathLst>
              <a:path w="333375" h="171450">
                <a:moveTo>
                  <a:pt x="0" y="0"/>
                </a:moveTo>
                <a:lnTo>
                  <a:pt x="333375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106">
            <a:solidFill>
              <a:srgbClr val="777777"/>
            </a:solidFill>
            <a:prstDash val="solid"/>
          </a:ln>
        </p:spPr>
      </p:sp>
      <p:sp>
        <p:nvSpPr>
          <p:cNvPr id="103" name="Constraint node 1">
            <a:extLst xmlns:a="http://schemas.openxmlformats.org/drawingml/2006/main">
              <a:ext uri="{FF2B5EF4-FFF2-40B4-BE49-F238E27FC236}">
                <a16:creationId xmlns:a16="http://schemas.microsoft.com/office/drawing/2014/main" id="{85562E89-F13B-4879-8B69-60CEF070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76" y="2172707"/>
            <a:ext cx="181269" cy="181269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04" name="Constraint node 2">
            <a:extLst xmlns:a="http://schemas.openxmlformats.org/drawingml/2006/main">
              <a:ext uri="{FF2B5EF4-FFF2-40B4-BE49-F238E27FC236}">
                <a16:creationId xmlns:a16="http://schemas.microsoft.com/office/drawing/2014/main" id="{A018FC5B-171E-41AE-AEE6-9C081C58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84" y="2051861"/>
            <a:ext cx="181269" cy="181269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05" name="Constraint node 3">
            <a:extLst xmlns:a="http://schemas.openxmlformats.org/drawingml/2006/main">
              <a:ext uri="{FF2B5EF4-FFF2-40B4-BE49-F238E27FC236}">
                <a16:creationId xmlns:a16="http://schemas.microsoft.com/office/drawing/2014/main" id="{3380F013-073B-472C-9A30-47A44513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982" y="2152566"/>
            <a:ext cx="181269" cy="181269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06" name="Constraint node 4">
            <a:extLst xmlns:a="http://schemas.openxmlformats.org/drawingml/2006/main">
              <a:ext uri="{FF2B5EF4-FFF2-40B4-BE49-F238E27FC236}">
                <a16:creationId xmlns:a16="http://schemas.microsoft.com/office/drawing/2014/main" id="{D546F1E4-4C6E-4F01-ADEE-0ED254C8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731" y="2092143"/>
            <a:ext cx="181269" cy="181269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07" name="Constraint node 5">
            <a:extLst xmlns:a="http://schemas.openxmlformats.org/drawingml/2006/main">
              <a:ext uri="{FF2B5EF4-FFF2-40B4-BE49-F238E27FC236}">
                <a16:creationId xmlns:a16="http://schemas.microsoft.com/office/drawing/2014/main" id="{247F2F39-7F4E-47E5-A555-E80BD38B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176" y="2424469"/>
            <a:ext cx="181269" cy="181269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08" name="Constraint node 6">
            <a:extLst xmlns:a="http://schemas.openxmlformats.org/drawingml/2006/main">
              <a:ext uri="{FF2B5EF4-FFF2-40B4-BE49-F238E27FC236}">
                <a16:creationId xmlns:a16="http://schemas.microsoft.com/office/drawing/2014/main" id="{339EA8A3-5824-4021-9EAE-E097ADE1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335" y="2374117"/>
            <a:ext cx="181269" cy="181269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09" name="Constraint node 7">
            <a:extLst xmlns:a="http://schemas.openxmlformats.org/drawingml/2006/main">
              <a:ext uri="{FF2B5EF4-FFF2-40B4-BE49-F238E27FC236}">
                <a16:creationId xmlns:a16="http://schemas.microsoft.com/office/drawing/2014/main" id="{207C6645-3B68-482D-8960-0BB5E546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802" y="2555385"/>
            <a:ext cx="181269" cy="181269"/>
          </a:xfrm>
          <a:custGeom xmlns:a="http://schemas.openxmlformats.org/drawingml/2006/main">
            <a:pathLst>
              <a:path w="171450" h="171450">
                <a:moveTo>
                  <a:pt x="171450" y="85725"/>
                </a:moveTo>
                <a:cubicBezTo>
                  <a:pt x="171450" y="133070"/>
                  <a:pt x="133070" y="171450"/>
                  <a:pt x="85725" y="171450"/>
                </a:cubicBezTo>
                <a:cubicBezTo>
                  <a:pt x="38380" y="171450"/>
                  <a:pt x="0" y="133070"/>
                  <a:pt x="0" y="85725"/>
                </a:cubicBezTo>
                <a:cubicBezTo>
                  <a:pt x="0" y="38380"/>
                  <a:pt x="38380" y="0"/>
                  <a:pt x="85725" y="0"/>
                </a:cubicBezTo>
                <a:cubicBezTo>
                  <a:pt x="133070" y="0"/>
                  <a:pt x="171450" y="38380"/>
                  <a:pt x="171450" y="85725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10" name="Constraint yellow diamond">
            <a:extLst xmlns:a="http://schemas.openxmlformats.org/drawingml/2006/main">
              <a:ext uri="{FF2B5EF4-FFF2-40B4-BE49-F238E27FC236}">
                <a16:creationId xmlns:a16="http://schemas.microsoft.com/office/drawing/2014/main" id="{B59A8F29-1034-404C-AA73-2890C3FA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855" y="2505033"/>
            <a:ext cx="161128" cy="171198"/>
          </a:xfrm>
          <a:custGeom xmlns:a="http://schemas.openxmlformats.org/drawingml/2006/main">
            <a:pathLst>
              <a:path w="152400" h="161925">
                <a:moveTo>
                  <a:pt x="76200" y="0"/>
                </a:moveTo>
                <a:lnTo>
                  <a:pt x="152400" y="76200"/>
                </a:lnTo>
                <a:lnTo>
                  <a:pt x="76200" y="161925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11" name="Relation prediction card 1">
            <a:extLst xmlns:a="http://schemas.openxmlformats.org/drawingml/2006/main">
              <a:ext uri="{FF2B5EF4-FFF2-40B4-BE49-F238E27FC236}">
                <a16:creationId xmlns:a16="http://schemas.microsoft.com/office/drawing/2014/main" id="{B4837885-725A-44D2-B7AB-EE4D100F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242" y="5657095"/>
            <a:ext cx="342396" cy="855991"/>
          </a:xfrm>
          <a:custGeom xmlns:a="http://schemas.openxmlformats.org/drawingml/2006/main">
            <a:pathLst>
              <a:path w="323850" h="809625">
                <a:moveTo>
                  <a:pt x="0" y="0"/>
                </a:moveTo>
                <a:lnTo>
                  <a:pt x="323850" y="0"/>
                </a:lnTo>
                <a:lnTo>
                  <a:pt x="323850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12" name="Relation prediction card pink region 1">
            <a:extLst xmlns:a="http://schemas.openxmlformats.org/drawingml/2006/main">
              <a:ext uri="{FF2B5EF4-FFF2-40B4-BE49-F238E27FC236}">
                <a16:creationId xmlns:a16="http://schemas.microsoft.com/office/drawing/2014/main" id="{B7F6AEBE-13BF-49BE-AC1A-8EF9FFD5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242" y="6100196"/>
            <a:ext cx="342396" cy="412890"/>
          </a:xfrm>
          <a:custGeom xmlns:a="http://schemas.openxmlformats.org/drawingml/2006/main">
            <a:pathLst>
              <a:path w="323850" h="390525">
                <a:moveTo>
                  <a:pt x="0" y="0"/>
                </a:moveTo>
                <a:lnTo>
                  <a:pt x="323850" y="0"/>
                </a:lnTo>
                <a:lnTo>
                  <a:pt x="323850" y="390525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13" name="Relation prediction card 2">
            <a:extLst xmlns:a="http://schemas.openxmlformats.org/drawingml/2006/main">
              <a:ext uri="{FF2B5EF4-FFF2-40B4-BE49-F238E27FC236}">
                <a16:creationId xmlns:a16="http://schemas.microsoft.com/office/drawing/2014/main" id="{97FD32FC-687B-48FE-AC15-BDA49ACC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67" y="5757800"/>
            <a:ext cx="342396" cy="855991"/>
          </a:xfrm>
          <a:custGeom xmlns:a="http://schemas.openxmlformats.org/drawingml/2006/main">
            <a:pathLst>
              <a:path w="323850" h="809625">
                <a:moveTo>
                  <a:pt x="0" y="0"/>
                </a:moveTo>
                <a:lnTo>
                  <a:pt x="323850" y="0"/>
                </a:lnTo>
                <a:lnTo>
                  <a:pt x="323850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14" name="Relation prediction card pink region 2">
            <a:extLst xmlns:a="http://schemas.openxmlformats.org/drawingml/2006/main">
              <a:ext uri="{FF2B5EF4-FFF2-40B4-BE49-F238E27FC236}">
                <a16:creationId xmlns:a16="http://schemas.microsoft.com/office/drawing/2014/main" id="{EEA3C446-FC78-404A-8315-F0C33959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67" y="6200901"/>
            <a:ext cx="342396" cy="412890"/>
          </a:xfrm>
          <a:custGeom xmlns:a="http://schemas.openxmlformats.org/drawingml/2006/main">
            <a:pathLst>
              <a:path w="323850" h="390525">
                <a:moveTo>
                  <a:pt x="0" y="0"/>
                </a:moveTo>
                <a:lnTo>
                  <a:pt x="323850" y="0"/>
                </a:lnTo>
                <a:lnTo>
                  <a:pt x="323850" y="390525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15" name="Relation prediction card 3">
            <a:extLst xmlns:a="http://schemas.openxmlformats.org/drawingml/2006/main">
              <a:ext uri="{FF2B5EF4-FFF2-40B4-BE49-F238E27FC236}">
                <a16:creationId xmlns:a16="http://schemas.microsoft.com/office/drawing/2014/main" id="{687F5C34-46D7-4227-A334-0629E70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692" y="5858504"/>
            <a:ext cx="342396" cy="855991"/>
          </a:xfrm>
          <a:custGeom xmlns:a="http://schemas.openxmlformats.org/drawingml/2006/main">
            <a:pathLst>
              <a:path w="323850" h="809625">
                <a:moveTo>
                  <a:pt x="0" y="0"/>
                </a:moveTo>
                <a:lnTo>
                  <a:pt x="323850" y="0"/>
                </a:lnTo>
                <a:lnTo>
                  <a:pt x="323850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16" name="Relation prediction card pink region 3">
            <a:extLst xmlns:a="http://schemas.openxmlformats.org/drawingml/2006/main">
              <a:ext uri="{FF2B5EF4-FFF2-40B4-BE49-F238E27FC236}">
                <a16:creationId xmlns:a16="http://schemas.microsoft.com/office/drawing/2014/main" id="{95E7A15B-B113-46F8-AF84-CA52CB51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692" y="6301606"/>
            <a:ext cx="342396" cy="412890"/>
          </a:xfrm>
          <a:custGeom xmlns:a="http://schemas.openxmlformats.org/drawingml/2006/main">
            <a:pathLst>
              <a:path w="323850" h="390525">
                <a:moveTo>
                  <a:pt x="0" y="0"/>
                </a:moveTo>
                <a:lnTo>
                  <a:pt x="323850" y="0"/>
                </a:lnTo>
                <a:lnTo>
                  <a:pt x="323850" y="390525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17" name="Relation prediction card 4">
            <a:extLst xmlns:a="http://schemas.openxmlformats.org/drawingml/2006/main">
              <a:ext uri="{FF2B5EF4-FFF2-40B4-BE49-F238E27FC236}">
                <a16:creationId xmlns:a16="http://schemas.microsoft.com/office/drawing/2014/main" id="{44636D63-F05F-43AA-947E-4C4289A5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916" y="5959209"/>
            <a:ext cx="342396" cy="855991"/>
          </a:xfrm>
          <a:custGeom xmlns:a="http://schemas.openxmlformats.org/drawingml/2006/main">
            <a:pathLst>
              <a:path w="323850" h="809625">
                <a:moveTo>
                  <a:pt x="0" y="0"/>
                </a:moveTo>
                <a:lnTo>
                  <a:pt x="323850" y="0"/>
                </a:lnTo>
                <a:lnTo>
                  <a:pt x="323850" y="809625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18" name="Relation prediction card pink region 4">
            <a:extLst xmlns:a="http://schemas.openxmlformats.org/drawingml/2006/main">
              <a:ext uri="{FF2B5EF4-FFF2-40B4-BE49-F238E27FC236}">
                <a16:creationId xmlns:a16="http://schemas.microsoft.com/office/drawing/2014/main" id="{A01C19D7-E461-49A0-8BA3-F8CEEF41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916" y="6402311"/>
            <a:ext cx="342396" cy="412890"/>
          </a:xfrm>
          <a:custGeom xmlns:a="http://schemas.openxmlformats.org/drawingml/2006/main">
            <a:pathLst>
              <a:path w="323850" h="390525">
                <a:moveTo>
                  <a:pt x="0" y="0"/>
                </a:moveTo>
                <a:lnTo>
                  <a:pt x="323850" y="0"/>
                </a:lnTo>
                <a:lnTo>
                  <a:pt x="323850" y="390525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19" name="Room relation output vector">
            <a:extLst xmlns:a="http://schemas.openxmlformats.org/drawingml/2006/main">
              <a:ext uri="{FF2B5EF4-FFF2-40B4-BE49-F238E27FC236}">
                <a16:creationId xmlns:a16="http://schemas.microsoft.com/office/drawing/2014/main" id="{4C337B92-E3CD-49EB-9114-44C08949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4881" y="3481870"/>
            <a:ext cx="352467" cy="866062"/>
          </a:xfrm>
          <a:custGeom xmlns:a="http://schemas.openxmlformats.org/drawingml/2006/main">
            <a:pathLst>
              <a:path w="333375" h="819150">
                <a:moveTo>
                  <a:pt x="0" y="0"/>
                </a:moveTo>
                <a:lnTo>
                  <a:pt x="333375" y="0"/>
                </a:lnTo>
                <a:lnTo>
                  <a:pt x="333375" y="819150"/>
                </a:lnTo>
                <a:lnTo>
                  <a:pt x="0" y="819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20" name="Room relation output pink segment">
            <a:extLst xmlns:a="http://schemas.openxmlformats.org/drawingml/2006/main">
              <a:ext uri="{FF2B5EF4-FFF2-40B4-BE49-F238E27FC236}">
                <a16:creationId xmlns:a16="http://schemas.microsoft.com/office/drawing/2014/main" id="{35D0B2B6-7133-4E6C-A134-B98EDBD7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4881" y="3914901"/>
            <a:ext cx="352467" cy="433031"/>
          </a:xfrm>
          <a:custGeom xmlns:a="http://schemas.openxmlformats.org/drawingml/2006/main">
            <a:pathLst>
              <a:path w="333375" h="409575">
                <a:moveTo>
                  <a:pt x="0" y="0"/>
                </a:moveTo>
                <a:lnTo>
                  <a:pt x="333375" y="0"/>
                </a:lnTo>
                <a:lnTo>
                  <a:pt x="333375" y="409575"/>
                </a:lnTo>
                <a:lnTo>
                  <a:pt x="0" y="409575"/>
                </a:lnTo>
                <a:close/>
              </a:path>
            </a:pathLst>
          </a:custGeom>
          <a:solidFill xmlns:a="http://schemas.openxmlformats.org/drawingml/2006/main">
            <a:srgbClr val="FDD5DE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21" name="Visual feature output segment 1">
            <a:extLst xmlns:a="http://schemas.openxmlformats.org/drawingml/2006/main">
              <a:ext uri="{FF2B5EF4-FFF2-40B4-BE49-F238E27FC236}">
                <a16:creationId xmlns:a16="http://schemas.microsoft.com/office/drawing/2014/main" id="{F645724E-84BB-4788-AF57-E97B410D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4388" y="6281465"/>
            <a:ext cx="362537" cy="422960"/>
          </a:xfrm>
          <a:custGeom xmlns:a="http://schemas.openxmlformats.org/drawingml/2006/main">
            <a:pathLst>
              <a:path w="342900" h="400050">
                <a:moveTo>
                  <a:pt x="0" y="0"/>
                </a:moveTo>
                <a:lnTo>
                  <a:pt x="342900" y="0"/>
                </a:lnTo>
                <a:lnTo>
                  <a:pt x="342900" y="400050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DEEAF6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22" name="Visual feature output segment 2">
            <a:extLst xmlns:a="http://schemas.openxmlformats.org/drawingml/2006/main">
              <a:ext uri="{FF2B5EF4-FFF2-40B4-BE49-F238E27FC236}">
                <a16:creationId xmlns:a16="http://schemas.microsoft.com/office/drawing/2014/main" id="{DD012340-8669-4978-8A34-5FF1AA8F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4388" y="6704425"/>
            <a:ext cx="362537" cy="422960"/>
          </a:xfrm>
          <a:custGeom xmlns:a="http://schemas.openxmlformats.org/drawingml/2006/main">
            <a:pathLst>
              <a:path w="342900" h="400050">
                <a:moveTo>
                  <a:pt x="0" y="0"/>
                </a:moveTo>
                <a:lnTo>
                  <a:pt x="342900" y="0"/>
                </a:lnTo>
                <a:lnTo>
                  <a:pt x="342900" y="400050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23" name="Visual feature output segment 3">
            <a:extLst xmlns:a="http://schemas.openxmlformats.org/drawingml/2006/main">
              <a:ext uri="{FF2B5EF4-FFF2-40B4-BE49-F238E27FC236}">
                <a16:creationId xmlns:a16="http://schemas.microsoft.com/office/drawing/2014/main" id="{2ADBBE77-DC7B-4B25-9E43-0FB1EB86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4388" y="7137456"/>
            <a:ext cx="362537" cy="422960"/>
          </a:xfrm>
          <a:custGeom xmlns:a="http://schemas.openxmlformats.org/drawingml/2006/main">
            <a:pathLst>
              <a:path w="342900" h="400050">
                <a:moveTo>
                  <a:pt x="0" y="0"/>
                </a:moveTo>
                <a:lnTo>
                  <a:pt x="342900" y="0"/>
                </a:lnTo>
                <a:lnTo>
                  <a:pt x="342900" y="400050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9DC3E7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24" name="Visual feature output segment 4">
            <a:extLst xmlns:a="http://schemas.openxmlformats.org/drawingml/2006/main">
              <a:ext uri="{FF2B5EF4-FFF2-40B4-BE49-F238E27FC236}">
                <a16:creationId xmlns:a16="http://schemas.microsoft.com/office/drawing/2014/main" id="{275D6B7A-78F2-4648-803D-C4703BA1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4388" y="7570487"/>
            <a:ext cx="362537" cy="422960"/>
          </a:xfrm>
          <a:custGeom xmlns:a="http://schemas.openxmlformats.org/drawingml/2006/main">
            <a:pathLst>
              <a:path w="342900" h="400050">
                <a:moveTo>
                  <a:pt x="0" y="0"/>
                </a:moveTo>
                <a:lnTo>
                  <a:pt x="342900" y="0"/>
                </a:lnTo>
                <a:lnTo>
                  <a:pt x="342900" y="400050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2E75B5"/>
          </a:solidFill>
          <a:ln xmlns:a="http://schemas.openxmlformats.org/drawingml/2006/main" w="20141">
            <a:solidFill>
              <a:srgbClr val="000000"/>
            </a:solidFill>
            <a:prstDash val="solid"/>
          </a:ln>
        </p:spPr>
      </p:sp>
      <p:sp>
        <p:nvSpPr>
          <p:cNvPr id="125" name="Pseudo-label feedback">
            <a:extLst xmlns:a="http://schemas.openxmlformats.org/drawingml/2006/main">
              <a:ext uri="{FF2B5EF4-FFF2-40B4-BE49-F238E27FC236}">
                <a16:creationId xmlns:a16="http://schemas.microsoft.com/office/drawing/2014/main" id="{EB60904B-411C-4692-A27F-E6384C84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388" y="1739676"/>
            <a:ext cx="6132925" cy="1319233"/>
          </a:xfrm>
          <a:custGeom xmlns:a="http://schemas.openxmlformats.org/drawingml/2006/main">
            <a:pathLst>
              <a:path w="5800725" h="1247775">
                <a:moveTo>
                  <a:pt x="5800725" y="1247775"/>
                </a:moveTo>
                <a:lnTo>
                  <a:pt x="5800725" y="0"/>
                </a:lnTo>
                <a:lnTo>
                  <a:pt x="0" y="0"/>
                </a:ln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26" name="Pseudo-label feedback arrowhead">
            <a:extLst xmlns:a="http://schemas.openxmlformats.org/drawingml/2006/main">
              <a:ext uri="{FF2B5EF4-FFF2-40B4-BE49-F238E27FC236}">
                <a16:creationId xmlns:a16="http://schemas.microsoft.com/office/drawing/2014/main" id="{DF1EDF5D-A596-4E90-8227-A8F6E9C1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035" y="2293553"/>
            <a:ext cx="100705" cy="110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27" name="Unlabeled constraint features">
            <a:extLst xmlns:a="http://schemas.openxmlformats.org/drawingml/2006/main">
              <a:ext uri="{FF2B5EF4-FFF2-40B4-BE49-F238E27FC236}">
                <a16:creationId xmlns:a16="http://schemas.microsoft.com/office/drawing/2014/main" id="{EECE7142-6A81-4D3E-9FA2-2B5336CF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661" y="2394258"/>
            <a:ext cx="1258811" cy="1248740"/>
          </a:xfrm>
          <a:custGeom xmlns:a="http://schemas.openxmlformats.org/drawingml/2006/main">
            <a:pathLst>
              <a:path w="1190625" h="1181100">
                <a:moveTo>
                  <a:pt x="0" y="1181100"/>
                </a:moveTo>
                <a:lnTo>
                  <a:pt x="95250" y="1181100"/>
                </a:lnTo>
                <a:lnTo>
                  <a:pt x="95250" y="0"/>
                </a:lnTo>
                <a:lnTo>
                  <a:pt x="1190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28" name="Unlabeled constraint features arrowhead">
            <a:extLst xmlns:a="http://schemas.openxmlformats.org/drawingml/2006/main">
              <a:ext uri="{FF2B5EF4-FFF2-40B4-BE49-F238E27FC236}">
                <a16:creationId xmlns:a16="http://schemas.microsoft.com/office/drawing/2014/main" id="{CAA8FA14-E464-4A51-A329-F75933A3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696" y="2343905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29" name="Extract features">
            <a:extLst xmlns:a="http://schemas.openxmlformats.org/drawingml/2006/main">
              <a:ext uri="{FF2B5EF4-FFF2-40B4-BE49-F238E27FC236}">
                <a16:creationId xmlns:a16="http://schemas.microsoft.com/office/drawing/2014/main" id="{349176C9-AD2A-424A-95BE-6FCC06C8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661" y="3642998"/>
            <a:ext cx="1540784" cy="191"/>
          </a:xfrm>
          <a:custGeom xmlns:a="http://schemas.openxmlformats.org/drawingml/2006/main">
            <a:pathLst>
              <a:path w="1457325" h="191">
                <a:moveTo>
                  <a:pt x="0" y="0"/>
                </a:moveTo>
                <a:lnTo>
                  <a:pt x="1457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30" name="Extract features arrowhead">
            <a:extLst xmlns:a="http://schemas.openxmlformats.org/drawingml/2006/main">
              <a:ext uri="{FF2B5EF4-FFF2-40B4-BE49-F238E27FC236}">
                <a16:creationId xmlns:a16="http://schemas.microsoft.com/office/drawing/2014/main" id="{F951B46C-ECE6-4829-ADF9-D99D6E98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70" y="3592645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31" name="Feature to distance">
            <a:extLst xmlns:a="http://schemas.openxmlformats.org/drawingml/2006/main">
              <a:ext uri="{FF2B5EF4-FFF2-40B4-BE49-F238E27FC236}">
                <a16:creationId xmlns:a16="http://schemas.microsoft.com/office/drawing/2014/main" id="{1CE36D22-D232-433B-A794-AE01D618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943" y="3632927"/>
            <a:ext cx="886203" cy="191"/>
          </a:xfrm>
          <a:custGeom xmlns:a="http://schemas.openxmlformats.org/drawingml/2006/main">
            <a:pathLst>
              <a:path w="838200" h="191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32" name="Feature to distance arrowhead">
            <a:extLst xmlns:a="http://schemas.openxmlformats.org/drawingml/2006/main">
              <a:ext uri="{FF2B5EF4-FFF2-40B4-BE49-F238E27FC236}">
                <a16:creationId xmlns:a16="http://schemas.microsoft.com/office/drawing/2014/main" id="{AD9278CC-6D1A-48AE-96FC-A73ABB70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370" y="3582575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33" name="Refined distance matrix">
            <a:extLst xmlns:a="http://schemas.openxmlformats.org/drawingml/2006/main">
              <a:ext uri="{FF2B5EF4-FFF2-40B4-BE49-F238E27FC236}">
                <a16:creationId xmlns:a16="http://schemas.microsoft.com/office/drawing/2014/main" id="{8CC73003-4D0E-4F16-926C-FCF58655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352" y="2394258"/>
            <a:ext cx="1500502" cy="332326"/>
          </a:xfrm>
          <a:custGeom xmlns:a="http://schemas.openxmlformats.org/drawingml/2006/main">
            <a:pathLst>
              <a:path w="1419225" h="314325">
                <a:moveTo>
                  <a:pt x="0" y="0"/>
                </a:moveTo>
                <a:lnTo>
                  <a:pt x="1419225" y="0"/>
                </a:lnTo>
                <a:lnTo>
                  <a:pt x="1419225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34" name="Refined distance matrix arrowhead">
            <a:extLst xmlns:a="http://schemas.openxmlformats.org/drawingml/2006/main">
              <a:ext uri="{FF2B5EF4-FFF2-40B4-BE49-F238E27FC236}">
                <a16:creationId xmlns:a16="http://schemas.microsoft.com/office/drawing/2014/main" id="{2A953064-A539-4730-B092-B5CA5375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502" y="2615808"/>
            <a:ext cx="100705" cy="110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35" name="Matrix to clusters">
            <a:extLst xmlns:a="http://schemas.openxmlformats.org/drawingml/2006/main">
              <a:ext uri="{FF2B5EF4-FFF2-40B4-BE49-F238E27FC236}">
                <a16:creationId xmlns:a16="http://schemas.microsoft.com/office/drawing/2014/main" id="{31111C58-88C8-43C8-8B5E-9A4F9CCB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943" y="3572504"/>
            <a:ext cx="342396" cy="191"/>
          </a:xfrm>
          <a:custGeom xmlns:a="http://schemas.openxmlformats.org/drawingml/2006/main">
            <a:pathLst>
              <a:path w="323850" h="191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36" name="Matrix to clusters arrowhead">
            <a:extLst xmlns:a="http://schemas.openxmlformats.org/drawingml/2006/main">
              <a:ext uri="{FF2B5EF4-FFF2-40B4-BE49-F238E27FC236}">
                <a16:creationId xmlns:a16="http://schemas.microsoft.com/office/drawing/2014/main" id="{46797D53-9B60-4E80-B7D1-7BB5642A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564" y="3522152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37" name="Batching arrow">
            <a:extLst xmlns:a="http://schemas.openxmlformats.org/drawingml/2006/main">
              <a:ext uri="{FF2B5EF4-FFF2-40B4-BE49-F238E27FC236}">
                <a16:creationId xmlns:a16="http://schemas.microsoft.com/office/drawing/2014/main" id="{5B1F597B-283F-47A6-B8A9-2BC4DAB2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29" y="4539271"/>
            <a:ext cx="191" cy="412890"/>
          </a:xfrm>
          <a:custGeom xmlns:a="http://schemas.openxmlformats.org/drawingml/2006/main">
            <a:pathLst>
              <a:path w="191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38" name="Batching arrow arrowhead">
            <a:extLst xmlns:a="http://schemas.openxmlformats.org/drawingml/2006/main">
              <a:ext uri="{FF2B5EF4-FFF2-40B4-BE49-F238E27FC236}">
                <a16:creationId xmlns:a16="http://schemas.microsoft.com/office/drawing/2014/main" id="{F49A4F71-E859-497F-AD4D-F9E3F1B8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176" y="4841385"/>
            <a:ext cx="100705" cy="110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39" name="Shuffle arrow">
            <a:extLst xmlns:a="http://schemas.openxmlformats.org/drawingml/2006/main">
              <a:ext uri="{FF2B5EF4-FFF2-40B4-BE49-F238E27FC236}">
                <a16:creationId xmlns:a16="http://schemas.microsoft.com/office/drawing/2014/main" id="{D92A851D-2350-4229-97F7-0D07ACA9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952" y="6100196"/>
            <a:ext cx="191" cy="392749"/>
          </a:xfrm>
          <a:custGeom xmlns:a="http://schemas.openxmlformats.org/drawingml/2006/main">
            <a:pathLst>
              <a:path w="191"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40" name="Shuffle arrow arrowhead">
            <a:extLst xmlns:a="http://schemas.openxmlformats.org/drawingml/2006/main">
              <a:ext uri="{FF2B5EF4-FFF2-40B4-BE49-F238E27FC236}">
                <a16:creationId xmlns:a16="http://schemas.microsoft.com/office/drawing/2014/main" id="{83FFD3E2-AC05-48CC-AE66-63230DE7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99" y="6382170"/>
            <a:ext cx="100705" cy="110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41" name="Batch image to style encoder">
            <a:extLst xmlns:a="http://schemas.openxmlformats.org/drawingml/2006/main">
              <a:ext uri="{FF2B5EF4-FFF2-40B4-BE49-F238E27FC236}">
                <a16:creationId xmlns:a16="http://schemas.microsoft.com/office/drawing/2014/main" id="{A36E2FBD-F5F6-40A1-AD64-B51113D2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828" y="5526178"/>
            <a:ext cx="453172" cy="191"/>
          </a:xfrm>
          <a:custGeom xmlns:a="http://schemas.openxmlformats.org/drawingml/2006/main">
            <a:pathLst>
              <a:path w="428625" h="191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42" name="Batch image to style encoder arrowhead">
            <a:extLst xmlns:a="http://schemas.openxmlformats.org/drawingml/2006/main">
              <a:ext uri="{FF2B5EF4-FFF2-40B4-BE49-F238E27FC236}">
                <a16:creationId xmlns:a16="http://schemas.microsoft.com/office/drawing/2014/main" id="{72744BB1-E540-425D-AC31-73411624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225" y="5475826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43" name="Style encoder to feature">
            <a:extLst xmlns:a="http://schemas.openxmlformats.org/drawingml/2006/main">
              <a:ext uri="{FF2B5EF4-FFF2-40B4-BE49-F238E27FC236}">
                <a16:creationId xmlns:a16="http://schemas.microsoft.com/office/drawing/2014/main" id="{98A65896-4CD9-47C4-99EC-6B32DCBE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515" y="5526178"/>
            <a:ext cx="332326" cy="191"/>
          </a:xfrm>
          <a:custGeom xmlns:a="http://schemas.openxmlformats.org/drawingml/2006/main">
            <a:pathLst>
              <a:path w="314325" h="191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44" name="Style encoder to feature arrowhead">
            <a:extLst xmlns:a="http://schemas.openxmlformats.org/drawingml/2006/main">
              <a:ext uri="{FF2B5EF4-FFF2-40B4-BE49-F238E27FC236}">
                <a16:creationId xmlns:a16="http://schemas.microsoft.com/office/drawing/2014/main" id="{0F6A605D-2C43-421F-857E-3A6B0E74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066" y="5475826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45" name="Shuffled image to style encoder">
            <a:extLst xmlns:a="http://schemas.openxmlformats.org/drawingml/2006/main">
              <a:ext uri="{FF2B5EF4-FFF2-40B4-BE49-F238E27FC236}">
                <a16:creationId xmlns:a16="http://schemas.microsoft.com/office/drawing/2014/main" id="{79E7073E-9EF5-4DAC-881F-C1FFBA29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546" y="7056892"/>
            <a:ext cx="513595" cy="191"/>
          </a:xfrm>
          <a:custGeom xmlns:a="http://schemas.openxmlformats.org/drawingml/2006/main">
            <a:pathLst>
              <a:path w="485775" h="191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46" name="Shuffled image to style encoder arrowhead">
            <a:extLst xmlns:a="http://schemas.openxmlformats.org/drawingml/2006/main">
              <a:ext uri="{FF2B5EF4-FFF2-40B4-BE49-F238E27FC236}">
                <a16:creationId xmlns:a16="http://schemas.microsoft.com/office/drawing/2014/main" id="{DE55694C-EBF2-4BD4-9B69-84B79A1C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366" y="7006540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47" name="Shuffled encoder to feature">
            <a:extLst xmlns:a="http://schemas.openxmlformats.org/drawingml/2006/main">
              <a:ext uri="{FF2B5EF4-FFF2-40B4-BE49-F238E27FC236}">
                <a16:creationId xmlns:a16="http://schemas.microsoft.com/office/drawing/2014/main" id="{659AC405-0460-4C54-9AF0-2C389EAC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586" y="7056892"/>
            <a:ext cx="332326" cy="191"/>
          </a:xfrm>
          <a:custGeom xmlns:a="http://schemas.openxmlformats.org/drawingml/2006/main">
            <a:pathLst>
              <a:path w="314325" h="191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48" name="Shuffled encoder to feature arrowhead">
            <a:extLst xmlns:a="http://schemas.openxmlformats.org/drawingml/2006/main">
              <a:ext uri="{FF2B5EF4-FFF2-40B4-BE49-F238E27FC236}">
                <a16:creationId xmlns:a16="http://schemas.microsoft.com/office/drawing/2014/main" id="{9B0E8D92-4D0E-4A04-9DF4-0D1D16FE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137" y="7006540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49" name="Upper feature fusion">
            <a:extLst xmlns:a="http://schemas.openxmlformats.org/drawingml/2006/main">
              <a:ext uri="{FF2B5EF4-FFF2-40B4-BE49-F238E27FC236}">
                <a16:creationId xmlns:a16="http://schemas.microsoft.com/office/drawing/2014/main" id="{08DE7C03-1878-4A0E-8149-534315B3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269" y="5375121"/>
            <a:ext cx="362537" cy="644511"/>
          </a:xfrm>
          <a:custGeom xmlns:a="http://schemas.openxmlformats.org/drawingml/2006/main">
            <a:pathLst>
              <a:path w="342900" h="609600">
                <a:moveTo>
                  <a:pt x="0" y="0"/>
                </a:moveTo>
                <a:lnTo>
                  <a:pt x="342900" y="0"/>
                </a:lnTo>
                <a:lnTo>
                  <a:pt x="342900" y="60960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50" name="Upper feature fusion arrowhead">
            <a:extLst xmlns:a="http://schemas.openxmlformats.org/drawingml/2006/main">
              <a:ext uri="{FF2B5EF4-FFF2-40B4-BE49-F238E27FC236}">
                <a16:creationId xmlns:a16="http://schemas.microsoft.com/office/drawing/2014/main" id="{F12D5E0B-E5CE-480F-B462-549D8D6E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454" y="5908857"/>
            <a:ext cx="100705" cy="110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51" name="Lower feature fusion">
            <a:extLst xmlns:a="http://schemas.openxmlformats.org/drawingml/2006/main">
              <a:ext uri="{FF2B5EF4-FFF2-40B4-BE49-F238E27FC236}">
                <a16:creationId xmlns:a16="http://schemas.microsoft.com/office/drawing/2014/main" id="{F37A80F3-9A0A-4AA8-87E4-8B578A4C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269" y="6422452"/>
            <a:ext cx="362537" cy="553877"/>
          </a:xfrm>
          <a:custGeom xmlns:a="http://schemas.openxmlformats.org/drawingml/2006/main">
            <a:pathLst>
              <a:path w="342900" h="523875">
                <a:moveTo>
                  <a:pt x="0" y="523875"/>
                </a:moveTo>
                <a:lnTo>
                  <a:pt x="342900" y="523875"/>
                </a:ln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52" name="Lower feature fusion arrowhead">
            <a:extLst xmlns:a="http://schemas.openxmlformats.org/drawingml/2006/main">
              <a:ext uri="{FF2B5EF4-FFF2-40B4-BE49-F238E27FC236}">
                <a16:creationId xmlns:a16="http://schemas.microsoft.com/office/drawing/2014/main" id="{2485AB00-636B-4C21-8E69-C691BF80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454" y="6422452"/>
            <a:ext cx="100705" cy="110775"/>
          </a:xfrm>
          <a:custGeom xmlns:a="http://schemas.openxmlformats.org/drawingml/2006/main">
            <a:pathLst>
              <a:path w="95250" h="104775">
                <a:moveTo>
                  <a:pt x="47625" y="0"/>
                </a:moveTo>
                <a:lnTo>
                  <a:pt x="95250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53" name="Fused features to relation network">
            <a:extLst xmlns:a="http://schemas.openxmlformats.org/drawingml/2006/main">
              <a:ext uri="{FF2B5EF4-FFF2-40B4-BE49-F238E27FC236}">
                <a16:creationId xmlns:a16="http://schemas.microsoft.com/office/drawing/2014/main" id="{1A590392-A93C-4850-B83E-C0A16CD4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075" y="6221042"/>
            <a:ext cx="372608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54" name="Fused features to relation network arrowhead">
            <a:extLst xmlns:a="http://schemas.openxmlformats.org/drawingml/2006/main">
              <a:ext uri="{FF2B5EF4-FFF2-40B4-BE49-F238E27FC236}">
                <a16:creationId xmlns:a16="http://schemas.microsoft.com/office/drawing/2014/main" id="{32301122-461A-4771-ABE1-3A857551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907" y="6170689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55" name="Relation output">
            <a:extLst xmlns:a="http://schemas.openxmlformats.org/drawingml/2006/main">
              <a:ext uri="{FF2B5EF4-FFF2-40B4-BE49-F238E27FC236}">
                <a16:creationId xmlns:a16="http://schemas.microsoft.com/office/drawing/2014/main" id="{D455CBC9-B181-4937-A68F-0274FB31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449" y="6221042"/>
            <a:ext cx="352467" cy="191"/>
          </a:xfrm>
          <a:custGeom xmlns:a="http://schemas.openxmlformats.org/drawingml/2006/main">
            <a:pathLst>
              <a:path w="333375" h="191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56" name="Relation output arrowhead">
            <a:extLst xmlns:a="http://schemas.openxmlformats.org/drawingml/2006/main">
              <a:ext uri="{FF2B5EF4-FFF2-40B4-BE49-F238E27FC236}">
                <a16:creationId xmlns:a16="http://schemas.microsoft.com/office/drawing/2014/main" id="{7954642C-E2B0-4C64-BFDB-6070D9A4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1" y="6170689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57" name="Environment observation feedback">
            <a:extLst xmlns:a="http://schemas.openxmlformats.org/drawingml/2006/main">
              <a:ext uri="{FF2B5EF4-FFF2-40B4-BE49-F238E27FC236}">
                <a16:creationId xmlns:a16="http://schemas.microsoft.com/office/drawing/2014/main" id="{832C5C52-EC9F-4BF5-99CF-7875A22D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128" y="1538267"/>
            <a:ext cx="2930511" cy="372608"/>
          </a:xfrm>
          <a:custGeom xmlns:a="http://schemas.openxmlformats.org/drawingml/2006/main">
            <a:pathLst>
              <a:path w="2771775" h="352425">
                <a:moveTo>
                  <a:pt x="2771775" y="0"/>
                </a:moveTo>
                <a:lnTo>
                  <a:pt x="0" y="0"/>
                </a:lnTo>
                <a:lnTo>
                  <a:pt x="0" y="352425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58" name="Environment observation feedback arrowhead">
            <a:extLst xmlns:a="http://schemas.openxmlformats.org/drawingml/2006/main">
              <a:ext uri="{FF2B5EF4-FFF2-40B4-BE49-F238E27FC236}">
                <a16:creationId xmlns:a16="http://schemas.microsoft.com/office/drawing/2014/main" id="{084025DE-FB93-4E0A-922F-D94C4FBC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775" y="1800099"/>
            <a:ext cx="100705" cy="110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59" name="Observation to style encoder">
            <a:extLst xmlns:a="http://schemas.openxmlformats.org/drawingml/2006/main">
              <a:ext uri="{FF2B5EF4-FFF2-40B4-BE49-F238E27FC236}">
                <a16:creationId xmlns:a16="http://schemas.microsoft.com/office/drawing/2014/main" id="{7986A86D-F6FA-456B-B0F8-BF802E95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485" y="2988416"/>
            <a:ext cx="624370" cy="191"/>
          </a:xfrm>
          <a:custGeom xmlns:a="http://schemas.openxmlformats.org/drawingml/2006/main">
            <a:pathLst>
              <a:path w="590550" h="191">
                <a:moveTo>
                  <a:pt x="0" y="0"/>
                </a:moveTo>
                <a:lnTo>
                  <a:pt x="59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60" name="Observation to style encoder arrowhead">
            <a:extLst xmlns:a="http://schemas.openxmlformats.org/drawingml/2006/main">
              <a:ext uri="{FF2B5EF4-FFF2-40B4-BE49-F238E27FC236}">
                <a16:creationId xmlns:a16="http://schemas.microsoft.com/office/drawing/2014/main" id="{986134E8-B76F-4111-AA02-D0ED99BE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079" y="2938064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61" name="Goal to style encoder">
            <a:extLst xmlns:a="http://schemas.openxmlformats.org/drawingml/2006/main">
              <a:ext uri="{FF2B5EF4-FFF2-40B4-BE49-F238E27FC236}">
                <a16:creationId xmlns:a16="http://schemas.microsoft.com/office/drawing/2014/main" id="{C8DCB99D-9114-47E7-9E81-4825F92C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485" y="4851456"/>
            <a:ext cx="624370" cy="191"/>
          </a:xfrm>
          <a:custGeom xmlns:a="http://schemas.openxmlformats.org/drawingml/2006/main">
            <a:pathLst>
              <a:path w="590550" h="191">
                <a:moveTo>
                  <a:pt x="0" y="0"/>
                </a:moveTo>
                <a:lnTo>
                  <a:pt x="59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62" name="Goal to style encoder arrowhead">
            <a:extLst xmlns:a="http://schemas.openxmlformats.org/drawingml/2006/main">
              <a:ext uri="{FF2B5EF4-FFF2-40B4-BE49-F238E27FC236}">
                <a16:creationId xmlns:a16="http://schemas.microsoft.com/office/drawing/2014/main" id="{A40A7464-3D1A-4982-B038-B5957DD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079" y="4801104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63" name="Observation style vector">
            <a:extLst xmlns:a="http://schemas.openxmlformats.org/drawingml/2006/main">
              <a:ext uri="{FF2B5EF4-FFF2-40B4-BE49-F238E27FC236}">
                <a16:creationId xmlns:a16="http://schemas.microsoft.com/office/drawing/2014/main" id="{8CDD4A4B-AED6-4F80-8BFA-5A0CF6C6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5216" y="2958205"/>
            <a:ext cx="483383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64" name="Observation style vector arrowhead">
            <a:extLst xmlns:a="http://schemas.openxmlformats.org/drawingml/2006/main">
              <a:ext uri="{FF2B5EF4-FFF2-40B4-BE49-F238E27FC236}">
                <a16:creationId xmlns:a16="http://schemas.microsoft.com/office/drawing/2014/main" id="{1AF301CD-2044-41E0-9FBE-995C04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7824" y="2907852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65" name="Goal style vector">
            <a:extLst xmlns:a="http://schemas.openxmlformats.org/drawingml/2006/main">
              <a:ext uri="{FF2B5EF4-FFF2-40B4-BE49-F238E27FC236}">
                <a16:creationId xmlns:a16="http://schemas.microsoft.com/office/drawing/2014/main" id="{A45409E0-38A4-49DD-A47C-CC6F8DD2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5216" y="4811174"/>
            <a:ext cx="483383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66" name="Goal style vector arrowhead">
            <a:extLst xmlns:a="http://schemas.openxmlformats.org/drawingml/2006/main">
              <a:ext uri="{FF2B5EF4-FFF2-40B4-BE49-F238E27FC236}">
                <a16:creationId xmlns:a16="http://schemas.microsoft.com/office/drawing/2014/main" id="{96D5B503-6FE4-4A43-90A6-2FF991FE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7824" y="4760822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67" name="Observation vector to relation">
            <a:extLst xmlns:a="http://schemas.openxmlformats.org/drawingml/2006/main">
              <a:ext uri="{FF2B5EF4-FFF2-40B4-BE49-F238E27FC236}">
                <a16:creationId xmlns:a16="http://schemas.microsoft.com/office/drawing/2014/main" id="{35A56FC6-E162-4FB3-A3C5-60FC4F96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026" y="2938064"/>
            <a:ext cx="553877" cy="302115"/>
          </a:xfrm>
          <a:custGeom xmlns:a="http://schemas.openxmlformats.org/drawingml/2006/main">
            <a:pathLst>
              <a:path w="523875" h="285750">
                <a:moveTo>
                  <a:pt x="0" y="0"/>
                </a:moveTo>
                <a:lnTo>
                  <a:pt x="523875" y="0"/>
                </a:lnTo>
                <a:lnTo>
                  <a:pt x="523875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68" name="Observation vector to relation arrowhead">
            <a:extLst xmlns:a="http://schemas.openxmlformats.org/drawingml/2006/main">
              <a:ext uri="{FF2B5EF4-FFF2-40B4-BE49-F238E27FC236}">
                <a16:creationId xmlns:a16="http://schemas.microsoft.com/office/drawing/2014/main" id="{6B098BB8-1928-45AB-9C65-F3AD4B1B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7551" y="3129403"/>
            <a:ext cx="100705" cy="110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69" name="Goal vector to relation">
            <a:extLst xmlns:a="http://schemas.openxmlformats.org/drawingml/2006/main">
              <a:ext uri="{FF2B5EF4-FFF2-40B4-BE49-F238E27FC236}">
                <a16:creationId xmlns:a16="http://schemas.microsoft.com/office/drawing/2014/main" id="{733D2979-0270-493C-8B27-1C298964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026" y="4579553"/>
            <a:ext cx="553877" cy="372608"/>
          </a:xfrm>
          <a:custGeom xmlns:a="http://schemas.openxmlformats.org/drawingml/2006/main">
            <a:pathLst>
              <a:path w="523875" h="352425">
                <a:moveTo>
                  <a:pt x="0" y="352425"/>
                </a:moveTo>
                <a:lnTo>
                  <a:pt x="523875" y="352425"/>
                </a:ln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70" name="Goal vector to relation arrowhead">
            <a:extLst xmlns:a="http://schemas.openxmlformats.org/drawingml/2006/main">
              <a:ext uri="{FF2B5EF4-FFF2-40B4-BE49-F238E27FC236}">
                <a16:creationId xmlns:a16="http://schemas.microsoft.com/office/drawing/2014/main" id="{71A8BBAF-7BE3-47BC-B631-00387F90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7551" y="4579553"/>
            <a:ext cx="100705" cy="110775"/>
          </a:xfrm>
          <a:custGeom xmlns:a="http://schemas.openxmlformats.org/drawingml/2006/main">
            <a:pathLst>
              <a:path w="95250" h="104775">
                <a:moveTo>
                  <a:pt x="47625" y="0"/>
                </a:moveTo>
                <a:lnTo>
                  <a:pt x="95250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71" name="Room relation output">
            <a:extLst xmlns:a="http://schemas.openxmlformats.org/drawingml/2006/main">
              <a:ext uri="{FF2B5EF4-FFF2-40B4-BE49-F238E27FC236}">
                <a16:creationId xmlns:a16="http://schemas.microsoft.com/office/drawing/2014/main" id="{8C59B9BE-EC19-4F6C-ADE8-657D2463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1357" y="3924971"/>
            <a:ext cx="503524" cy="191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72" name="Room relation output arrowhead">
            <a:extLst xmlns:a="http://schemas.openxmlformats.org/drawingml/2006/main">
              <a:ext uri="{FF2B5EF4-FFF2-40B4-BE49-F238E27FC236}">
                <a16:creationId xmlns:a16="http://schemas.microsoft.com/office/drawing/2014/main" id="{A3361973-4E6E-4F95-AACE-F27619DF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4106" y="3874619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73" name="Room feature to policy fusion">
            <a:extLst xmlns:a="http://schemas.openxmlformats.org/drawingml/2006/main">
              <a:ext uri="{FF2B5EF4-FFF2-40B4-BE49-F238E27FC236}">
                <a16:creationId xmlns:a16="http://schemas.microsoft.com/office/drawing/2014/main" id="{1E998B5A-877D-443F-A5F2-2FCFFE52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7419" y="3914901"/>
            <a:ext cx="312185" cy="1490432"/>
          </a:xfrm>
          <a:custGeom xmlns:a="http://schemas.openxmlformats.org/drawingml/2006/main">
            <a:pathLst>
              <a:path w="295275" h="1409700">
                <a:moveTo>
                  <a:pt x="0" y="0"/>
                </a:moveTo>
                <a:lnTo>
                  <a:pt x="295275" y="0"/>
                </a:lnTo>
                <a:lnTo>
                  <a:pt x="295275" y="140970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74" name="Room feature to policy fusion arrowhead">
            <a:extLst xmlns:a="http://schemas.openxmlformats.org/drawingml/2006/main">
              <a:ext uri="{FF2B5EF4-FFF2-40B4-BE49-F238E27FC236}">
                <a16:creationId xmlns:a16="http://schemas.microsoft.com/office/drawing/2014/main" id="{7F8F77B4-929F-4A25-9E2C-A64C67B0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9251" y="5294557"/>
            <a:ext cx="100705" cy="110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75" name="Channel concatenation to ResNet">
            <a:extLst xmlns:a="http://schemas.openxmlformats.org/drawingml/2006/main">
              <a:ext uri="{FF2B5EF4-FFF2-40B4-BE49-F238E27FC236}">
                <a16:creationId xmlns:a16="http://schemas.microsoft.com/office/drawing/2014/main" id="{1D33C432-3146-4771-AD92-5B7DD393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2458" y="7147526"/>
            <a:ext cx="412890" cy="191"/>
          </a:xfrm>
          <a:custGeom xmlns:a="http://schemas.openxmlformats.org/drawingml/2006/main">
            <a:pathLst>
              <a:path w="390525" h="191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76" name="Channel concatenation to ResNet arrowhead">
            <a:extLst xmlns:a="http://schemas.openxmlformats.org/drawingml/2006/main">
              <a:ext uri="{FF2B5EF4-FFF2-40B4-BE49-F238E27FC236}">
                <a16:creationId xmlns:a16="http://schemas.microsoft.com/office/drawing/2014/main" id="{831EA917-231C-42F6-9FBD-BA0E520A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573" y="7097174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77" name="ResNet to feature">
            <a:extLst xmlns:a="http://schemas.openxmlformats.org/drawingml/2006/main">
              <a:ext uri="{FF2B5EF4-FFF2-40B4-BE49-F238E27FC236}">
                <a16:creationId xmlns:a16="http://schemas.microsoft.com/office/drawing/2014/main" id="{1CA34BEA-58FE-4D12-ABAF-728323D3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709" y="7117315"/>
            <a:ext cx="392749" cy="191"/>
          </a:xfrm>
          <a:custGeom xmlns:a="http://schemas.openxmlformats.org/drawingml/2006/main">
            <a:pathLst>
              <a:path w="371475" h="191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78" name="ResNet to feature arrowhead">
            <a:extLst xmlns:a="http://schemas.openxmlformats.org/drawingml/2006/main">
              <a:ext uri="{FF2B5EF4-FFF2-40B4-BE49-F238E27FC236}">
                <a16:creationId xmlns:a16="http://schemas.microsoft.com/office/drawing/2014/main" id="{8BAF38E9-87E2-47AB-B870-8A363F22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683" y="7066963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79" name="Feature to flatten">
            <a:extLst xmlns:a="http://schemas.openxmlformats.org/drawingml/2006/main">
              <a:ext uri="{FF2B5EF4-FFF2-40B4-BE49-F238E27FC236}">
                <a16:creationId xmlns:a16="http://schemas.microsoft.com/office/drawing/2014/main" id="{AB4281F5-5CB3-4638-8580-6DF29F2C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744" y="7117315"/>
            <a:ext cx="483383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80" name="Feature to flatten arrowhead">
            <a:extLst xmlns:a="http://schemas.openxmlformats.org/drawingml/2006/main">
              <a:ext uri="{FF2B5EF4-FFF2-40B4-BE49-F238E27FC236}">
                <a16:creationId xmlns:a16="http://schemas.microsoft.com/office/drawing/2014/main" id="{700C1D25-AEA9-4B35-AF4F-EB2F9D8F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6352" y="7066963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81" name="Flatten to visual vector">
            <a:extLst xmlns:a="http://schemas.openxmlformats.org/drawingml/2006/main">
              <a:ext uri="{FF2B5EF4-FFF2-40B4-BE49-F238E27FC236}">
                <a16:creationId xmlns:a16="http://schemas.microsoft.com/office/drawing/2014/main" id="{EAFE0A12-8680-4F93-91F7-D83905B5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0863" y="7117315"/>
            <a:ext cx="503524" cy="191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82" name="Flatten to visual vector arrowhead">
            <a:extLst xmlns:a="http://schemas.openxmlformats.org/drawingml/2006/main">
              <a:ext uri="{FF2B5EF4-FFF2-40B4-BE49-F238E27FC236}">
                <a16:creationId xmlns:a16="http://schemas.microsoft.com/office/drawing/2014/main" id="{5AB3FA95-7E7B-4594-8B10-262DA1DE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3612" y="7066963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83" name="Visual vector to policy fusion">
            <a:extLst xmlns:a="http://schemas.openxmlformats.org/drawingml/2006/main">
              <a:ext uri="{FF2B5EF4-FFF2-40B4-BE49-F238E27FC236}">
                <a16:creationId xmlns:a16="http://schemas.microsoft.com/office/drawing/2014/main" id="{81DFECED-98E9-4F94-A87D-4CCBF4FF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6996" y="5788011"/>
            <a:ext cx="372608" cy="1359515"/>
          </a:xfrm>
          <a:custGeom xmlns:a="http://schemas.openxmlformats.org/drawingml/2006/main">
            <a:pathLst>
              <a:path w="352425" h="1285875">
                <a:moveTo>
                  <a:pt x="0" y="1285875"/>
                </a:moveTo>
                <a:lnTo>
                  <a:pt x="352425" y="1285875"/>
                </a:ln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84" name="Visual vector to policy fusion arrowhead">
            <a:extLst xmlns:a="http://schemas.openxmlformats.org/drawingml/2006/main">
              <a:ext uri="{FF2B5EF4-FFF2-40B4-BE49-F238E27FC236}">
                <a16:creationId xmlns:a16="http://schemas.microsoft.com/office/drawing/2014/main" id="{32BE377A-4CBD-4197-8555-B63E6511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9251" y="5788011"/>
            <a:ext cx="100705" cy="110775"/>
          </a:xfrm>
          <a:custGeom xmlns:a="http://schemas.openxmlformats.org/drawingml/2006/main">
            <a:pathLst>
              <a:path w="95250" h="104775">
                <a:moveTo>
                  <a:pt x="47625" y="0"/>
                </a:moveTo>
                <a:lnTo>
                  <a:pt x="95250" y="10477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85" name="Fused navigation vector">
            <a:extLst xmlns:a="http://schemas.openxmlformats.org/drawingml/2006/main">
              <a:ext uri="{FF2B5EF4-FFF2-40B4-BE49-F238E27FC236}">
                <a16:creationId xmlns:a16="http://schemas.microsoft.com/office/drawing/2014/main" id="{C88B205E-FE48-4383-A64A-733C2C01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0943" y="5596672"/>
            <a:ext cx="443101" cy="191"/>
          </a:xfrm>
          <a:custGeom xmlns:a="http://schemas.openxmlformats.org/drawingml/2006/main">
            <a:pathLst>
              <a:path w="419100" h="191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86" name="Fused navigation vector arrowhead">
            <a:extLst xmlns:a="http://schemas.openxmlformats.org/drawingml/2006/main">
              <a:ext uri="{FF2B5EF4-FFF2-40B4-BE49-F238E27FC236}">
                <a16:creationId xmlns:a16="http://schemas.microsoft.com/office/drawing/2014/main" id="{4C861365-6CB9-47B9-B35A-240DC995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3269" y="5546319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87" name="Environment action loop without an invented arrowhead">
            <a:extLst xmlns:a="http://schemas.openxmlformats.org/drawingml/2006/main">
              <a:ext uri="{FF2B5EF4-FFF2-40B4-BE49-F238E27FC236}">
                <a16:creationId xmlns:a16="http://schemas.microsoft.com/office/drawing/2014/main" id="{4F70BC0E-1CE1-485E-BFBA-0DCF4CE6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0441" y="1538267"/>
            <a:ext cx="2789524" cy="1037260"/>
          </a:xfrm>
          <a:custGeom xmlns:a="http://schemas.openxmlformats.org/drawingml/2006/main">
            <a:pathLst>
              <a:path w="2638425" h="981075">
                <a:moveTo>
                  <a:pt x="0" y="0"/>
                </a:moveTo>
                <a:lnTo>
                  <a:pt x="2638425" y="0"/>
                </a:lnTo>
                <a:lnTo>
                  <a:pt x="2638425" y="981075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solid"/>
          </a:ln>
        </p:spPr>
      </p:sp>
      <p:sp>
        <p:nvSpPr>
          <p:cNvPr id="188" name="Batch feature cluster loss">
            <a:extLst xmlns:a="http://schemas.openxmlformats.org/drawingml/2006/main">
              <a:ext uri="{FF2B5EF4-FFF2-40B4-BE49-F238E27FC236}">
                <a16:creationId xmlns:a16="http://schemas.microsoft.com/office/drawing/2014/main" id="{3D03BFB2-2829-4DC9-A433-A399F9B0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577" y="4841385"/>
            <a:ext cx="916414" cy="181269"/>
          </a:xfrm>
          <a:custGeom xmlns:a="http://schemas.openxmlformats.org/drawingml/2006/main">
            <a:pathLst>
              <a:path w="866775" h="171450">
                <a:moveTo>
                  <a:pt x="0" y="171450"/>
                </a:moveTo>
                <a:lnTo>
                  <a:pt x="0" y="0"/>
                </a:lnTo>
                <a:lnTo>
                  <a:pt x="866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dash"/>
          </a:ln>
        </p:spPr>
      </p:sp>
      <p:sp>
        <p:nvSpPr>
          <p:cNvPr id="189" name="Batch feature cluster loss arrowhead">
            <a:extLst xmlns:a="http://schemas.openxmlformats.org/drawingml/2006/main">
              <a:ext uri="{FF2B5EF4-FFF2-40B4-BE49-F238E27FC236}">
                <a16:creationId xmlns:a16="http://schemas.microsoft.com/office/drawing/2014/main" id="{2AD39946-A74C-4343-8B88-764C6135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216" y="4791033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90" name="Clusters to clustering loss">
            <a:extLst xmlns:a="http://schemas.openxmlformats.org/drawingml/2006/main">
              <a:ext uri="{FF2B5EF4-FFF2-40B4-BE49-F238E27FC236}">
                <a16:creationId xmlns:a16="http://schemas.microsoft.com/office/drawing/2014/main" id="{FF4D90E6-5A46-43CB-BB5E-1BEB39CF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577" y="4549341"/>
            <a:ext cx="584088" cy="292044"/>
          </a:xfrm>
          <a:custGeom xmlns:a="http://schemas.openxmlformats.org/drawingml/2006/main">
            <a:pathLst>
              <a:path w="552450" h="276225">
                <a:moveTo>
                  <a:pt x="552450" y="0"/>
                </a:moveTo>
                <a:lnTo>
                  <a:pt x="552450" y="276225"/>
                </a:ln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dash"/>
          </a:ln>
        </p:spPr>
      </p:sp>
      <p:sp>
        <p:nvSpPr>
          <p:cNvPr id="191" name="Clusters to clustering loss arrowhead">
            <a:extLst xmlns:a="http://schemas.openxmlformats.org/drawingml/2006/main">
              <a:ext uri="{FF2B5EF4-FFF2-40B4-BE49-F238E27FC236}">
                <a16:creationId xmlns:a16="http://schemas.microsoft.com/office/drawing/2014/main" id="{3BECF81E-8561-4D72-90C5-C7DE93E9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577" y="4791033"/>
            <a:ext cx="110775" cy="100705"/>
          </a:xfrm>
          <a:custGeom xmlns:a="http://schemas.openxmlformats.org/drawingml/2006/main">
            <a:pathLst>
              <a:path w="104775" h="95250">
                <a:moveTo>
                  <a:pt x="0" y="47625"/>
                </a:moveTo>
                <a:lnTo>
                  <a:pt x="104775" y="0"/>
                </a:lnTo>
                <a:lnTo>
                  <a:pt x="104775" y="9525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92" name="Relation prediction loss">
            <a:extLst xmlns:a="http://schemas.openxmlformats.org/drawingml/2006/main">
              <a:ext uri="{FF2B5EF4-FFF2-40B4-BE49-F238E27FC236}">
                <a16:creationId xmlns:a16="http://schemas.microsoft.com/office/drawing/2014/main" id="{EF487913-5193-4290-B9CB-75765EE4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996" y="6855482"/>
            <a:ext cx="1238670" cy="1299093"/>
          </a:xfrm>
          <a:custGeom xmlns:a="http://schemas.openxmlformats.org/drawingml/2006/main">
            <a:pathLst>
              <a:path w="1171575" h="1228725">
                <a:moveTo>
                  <a:pt x="1171575" y="0"/>
                </a:moveTo>
                <a:lnTo>
                  <a:pt x="1171575" y="1228725"/>
                </a:lnTo>
                <a:lnTo>
                  <a:pt x="0" y="1228725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dash"/>
          </a:ln>
        </p:spPr>
      </p:sp>
      <p:sp>
        <p:nvSpPr>
          <p:cNvPr id="193" name="Relation prediction loss arrowhead">
            <a:extLst xmlns:a="http://schemas.openxmlformats.org/drawingml/2006/main">
              <a:ext uri="{FF2B5EF4-FFF2-40B4-BE49-F238E27FC236}">
                <a16:creationId xmlns:a16="http://schemas.microsoft.com/office/drawing/2014/main" id="{356CCF37-FC4F-4E7A-8725-D4E44F8E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996" y="8104222"/>
            <a:ext cx="110775" cy="100705"/>
          </a:xfrm>
          <a:custGeom xmlns:a="http://schemas.openxmlformats.org/drawingml/2006/main">
            <a:pathLst>
              <a:path w="104775" h="95250">
                <a:moveTo>
                  <a:pt x="0" y="47625"/>
                </a:moveTo>
                <a:lnTo>
                  <a:pt x="104775" y="0"/>
                </a:lnTo>
                <a:lnTo>
                  <a:pt x="104775" y="9525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94" name="Relation labels loss">
            <a:extLst xmlns:a="http://schemas.openxmlformats.org/drawingml/2006/main">
              <a:ext uri="{FF2B5EF4-FFF2-40B4-BE49-F238E27FC236}">
                <a16:creationId xmlns:a16="http://schemas.microsoft.com/office/drawing/2014/main" id="{B12201F4-77F9-48B1-97AA-0E9ABBE3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80" y="8154575"/>
            <a:ext cx="2275930" cy="191"/>
          </a:xfrm>
          <a:custGeom xmlns:a="http://schemas.openxmlformats.org/drawingml/2006/main">
            <a:pathLst>
              <a:path w="2152650" h="191">
                <a:moveTo>
                  <a:pt x="0" y="0"/>
                </a:moveTo>
                <a:lnTo>
                  <a:pt x="2152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54">
            <a:solidFill>
              <a:srgbClr val="595959"/>
            </a:solidFill>
            <a:prstDash val="dash"/>
          </a:ln>
        </p:spPr>
      </p:sp>
      <p:sp>
        <p:nvSpPr>
          <p:cNvPr id="195" name="Relation labels loss arrowhead">
            <a:extLst xmlns:a="http://schemas.openxmlformats.org/drawingml/2006/main">
              <a:ext uri="{FF2B5EF4-FFF2-40B4-BE49-F238E27FC236}">
                <a16:creationId xmlns:a16="http://schemas.microsoft.com/office/drawing/2014/main" id="{F8040522-7E43-4E9D-AEEF-61B0765E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634" y="8104222"/>
            <a:ext cx="110775" cy="100705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196" name="Shared style weights">
            <a:extLst xmlns:a="http://schemas.openxmlformats.org/drawingml/2006/main">
              <a:ext uri="{FF2B5EF4-FFF2-40B4-BE49-F238E27FC236}">
                <a16:creationId xmlns:a16="http://schemas.microsoft.com/office/drawing/2014/main" id="{FA8601B7-02E7-4073-94C6-F439C50C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2256" y="3431518"/>
            <a:ext cx="191" cy="916414"/>
          </a:xfrm>
          <a:custGeom xmlns:a="http://schemas.openxmlformats.org/drawingml/2006/main">
            <a:pathLst>
              <a:path w="191" h="866775">
                <a:moveTo>
                  <a:pt x="0" y="0"/>
                </a:moveTo>
                <a:lnTo>
                  <a:pt x="0" y="314325"/>
                </a:lnTo>
                <a:moveTo>
                  <a:pt x="0" y="638175"/>
                </a:moveTo>
                <a:lnTo>
                  <a:pt x="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30211">
            <a:solidFill>
              <a:srgbClr val="777777"/>
            </a:solidFill>
            <a:prstDash val="dash"/>
          </a:ln>
        </p:spPr>
      </p:sp>
      <p:sp>
        <p:nvSpPr>
          <p:cNvPr id="197" name="Relation label supervision">
            <a:extLst xmlns:a="http://schemas.openxmlformats.org/drawingml/2006/main">
              <a:ext uri="{FF2B5EF4-FFF2-40B4-BE49-F238E27FC236}">
                <a16:creationId xmlns:a16="http://schemas.microsoft.com/office/drawing/2014/main" id="{14BB9D43-269C-40C4-AC0F-8F62FD82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4" y="5495967"/>
            <a:ext cx="715004" cy="2658608"/>
          </a:xfrm>
          <a:custGeom xmlns:a="http://schemas.openxmlformats.org/drawingml/2006/main">
            <a:pathLst>
              <a:path w="676275" h="2514600">
                <a:moveTo>
                  <a:pt x="676275" y="0"/>
                </a:moveTo>
                <a:lnTo>
                  <a:pt x="457200" y="0"/>
                </a:lnTo>
                <a:lnTo>
                  <a:pt x="457200" y="838200"/>
                </a:lnTo>
                <a:lnTo>
                  <a:pt x="0" y="838200"/>
                </a:lnTo>
                <a:lnTo>
                  <a:pt x="0" y="2514600"/>
                </a:lnTo>
                <a:lnTo>
                  <a:pt x="447675" y="2514600"/>
                </a:lnTo>
              </a:path>
            </a:pathLst>
          </a:custGeom>
          <a:noFill xmlns:a="http://schemas.openxmlformats.org/drawingml/2006/main"/>
          <a:ln xmlns:a="http://schemas.openxmlformats.org/drawingml/2006/main" w="40282">
            <a:solidFill>
              <a:srgbClr val="595959"/>
            </a:solidFill>
            <a:prstDash val="solid"/>
          </a:ln>
        </p:spPr>
      </p:sp>
      <p:sp>
        <p:nvSpPr>
          <p:cNvPr id="198" name="Relation label supervision lower branch">
            <a:extLst xmlns:a="http://schemas.openxmlformats.org/drawingml/2006/main">
              <a:ext uri="{FF2B5EF4-FFF2-40B4-BE49-F238E27FC236}">
                <a16:creationId xmlns:a16="http://schemas.microsoft.com/office/drawing/2014/main" id="{75FC9C5C-2865-4066-BA76-CBB88D82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18" y="6382170"/>
            <a:ext cx="120846" cy="886203"/>
          </a:xfrm>
          <a:custGeom xmlns:a="http://schemas.openxmlformats.org/drawingml/2006/main">
            <a:pathLst>
              <a:path w="114300" h="838200">
                <a:moveTo>
                  <a:pt x="0" y="0"/>
                </a:moveTo>
                <a:lnTo>
                  <a:pt x="0" y="838200"/>
                </a:lnTo>
                <a:lnTo>
                  <a:pt x="11430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40282">
            <a:solidFill>
              <a:srgbClr val="595959"/>
            </a:solidFill>
            <a:prstDash val="solid"/>
          </a:ln>
        </p:spPr>
      </p:sp>
      <p:sp>
        <p:nvSpPr>
          <p:cNvPr id="199" name="Offline feature fusion">
            <a:extLst xmlns:a="http://schemas.openxmlformats.org/drawingml/2006/main">
              <a:ext uri="{FF2B5EF4-FFF2-40B4-BE49-F238E27FC236}">
                <a16:creationId xmlns:a16="http://schemas.microsoft.com/office/drawing/2014/main" id="{85E110EC-4C88-4475-9CB2-DA13A6C7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608" y="6049844"/>
            <a:ext cx="342396" cy="342396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0211">
            <a:solidFill>
              <a:srgbClr val="285A82"/>
            </a:solidFill>
            <a:prstDash val="solid"/>
          </a:ln>
        </p:spPr>
      </p:sp>
      <p:sp>
        <p:nvSpPr>
          <p:cNvPr id="200" name="Offline feature fusion cross">
            <a:extLst xmlns:a="http://schemas.openxmlformats.org/drawingml/2006/main">
              <a:ext uri="{FF2B5EF4-FFF2-40B4-BE49-F238E27FC236}">
                <a16:creationId xmlns:a16="http://schemas.microsoft.com/office/drawing/2014/main" id="{7A0553D3-F20E-42ED-9848-441F9AC1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678" y="6059914"/>
            <a:ext cx="322256" cy="322256"/>
          </a:xfrm>
          <a:custGeom xmlns:a="http://schemas.openxmlformats.org/drawingml/2006/main">
            <a:pathLst>
              <a:path w="304800" h="304800">
                <a:moveTo>
                  <a:pt x="0" y="152400"/>
                </a:moveTo>
                <a:lnTo>
                  <a:pt x="304800" y="152400"/>
                </a:lnTo>
                <a:moveTo>
                  <a:pt x="152400" y="0"/>
                </a:moveTo>
                <a:lnTo>
                  <a:pt x="1524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30211">
            <a:solidFill>
              <a:srgbClr val="285A82"/>
            </a:solidFill>
            <a:prstDash val="solid"/>
          </a:ln>
        </p:spPr>
      </p:sp>
      <p:sp>
        <p:nvSpPr>
          <p:cNvPr id="201" name="Navigation feature fusion">
            <a:extLst xmlns:a="http://schemas.openxmlformats.org/drawingml/2006/main">
              <a:ext uri="{FF2B5EF4-FFF2-40B4-BE49-F238E27FC236}">
                <a16:creationId xmlns:a16="http://schemas.microsoft.com/office/drawing/2014/main" id="{67B889E7-0E74-4B23-863C-226A5224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8405" y="5425474"/>
            <a:ext cx="342396" cy="342396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0211">
            <a:solidFill>
              <a:srgbClr val="285A82"/>
            </a:solidFill>
            <a:prstDash val="solid"/>
          </a:ln>
        </p:spPr>
      </p:sp>
      <p:sp>
        <p:nvSpPr>
          <p:cNvPr id="202" name="Navigation feature fusion cross">
            <a:extLst xmlns:a="http://schemas.openxmlformats.org/drawingml/2006/main">
              <a:ext uri="{FF2B5EF4-FFF2-40B4-BE49-F238E27FC236}">
                <a16:creationId xmlns:a16="http://schemas.microsoft.com/office/drawing/2014/main" id="{2468C7BF-F764-4F5D-8A5C-CC401D8C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8476" y="5435544"/>
            <a:ext cx="322256" cy="322256"/>
          </a:xfrm>
          <a:custGeom xmlns:a="http://schemas.openxmlformats.org/drawingml/2006/main">
            <a:pathLst>
              <a:path w="304800" h="304800">
                <a:moveTo>
                  <a:pt x="0" y="152400"/>
                </a:moveTo>
                <a:lnTo>
                  <a:pt x="304800" y="152400"/>
                </a:lnTo>
                <a:moveTo>
                  <a:pt x="152400" y="0"/>
                </a:moveTo>
                <a:lnTo>
                  <a:pt x="15240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30211">
            <a:solidFill>
              <a:srgbClr val="285A82"/>
            </a:solidFill>
            <a:prstDash val="solid"/>
          </a:ln>
        </p:spPr>
      </p:sp>
      <p:sp>
        <p:nvSpPr>
          <p:cNvPr id="203" name="Goal concatenate arrow">
            <a:extLst xmlns:a="http://schemas.openxmlformats.org/drawingml/2006/main">
              <a:ext uri="{FF2B5EF4-FFF2-40B4-BE49-F238E27FC236}">
                <a16:creationId xmlns:a16="http://schemas.microsoft.com/office/drawing/2014/main" id="{413B91B4-1A1E-42C2-BA65-D2D4E3CB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3225" y="5818222"/>
            <a:ext cx="463242" cy="412890"/>
          </a:xfrm>
          <a:custGeom xmlns:a="http://schemas.openxmlformats.org/drawingml/2006/main">
            <a:pathLst>
              <a:path w="438150" h="390525">
                <a:moveTo>
                  <a:pt x="76200" y="0"/>
                </a:moveTo>
                <a:lnTo>
                  <a:pt x="361950" y="0"/>
                </a:lnTo>
                <a:lnTo>
                  <a:pt x="361950" y="238125"/>
                </a:lnTo>
                <a:lnTo>
                  <a:pt x="438150" y="238125"/>
                </a:lnTo>
                <a:lnTo>
                  <a:pt x="219075" y="390525"/>
                </a:lnTo>
                <a:lnTo>
                  <a:pt x="0" y="238125"/>
                </a:lnTo>
                <a:lnTo>
                  <a:pt x="76200" y="23812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04" name="Policy learning arrow">
            <a:extLst xmlns:a="http://schemas.openxmlformats.org/drawingml/2006/main">
              <a:ext uri="{FF2B5EF4-FFF2-40B4-BE49-F238E27FC236}">
                <a16:creationId xmlns:a16="http://schemas.microsoft.com/office/drawing/2014/main" id="{A0FCE61A-1864-49DF-AD9B-FB43B9DA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8414" y="6059914"/>
            <a:ext cx="453172" cy="422960"/>
          </a:xfrm>
          <a:custGeom xmlns:a="http://schemas.openxmlformats.org/drawingml/2006/main">
            <a:pathLst>
              <a:path w="428625" h="400050">
                <a:moveTo>
                  <a:pt x="66675" y="400050"/>
                </a:moveTo>
                <a:lnTo>
                  <a:pt x="361950" y="400050"/>
                </a:lnTo>
                <a:lnTo>
                  <a:pt x="361950" y="142875"/>
                </a:lnTo>
                <a:lnTo>
                  <a:pt x="428625" y="142875"/>
                </a:lnTo>
                <a:lnTo>
                  <a:pt x="214313" y="0"/>
                </a:lnTo>
                <a:lnTo>
                  <a:pt x="0" y="142875"/>
                </a:lnTo>
                <a:lnTo>
                  <a:pt x="66675" y="14287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05" name="Actor-critic to actions arrow">
            <a:extLst xmlns:a="http://schemas.openxmlformats.org/drawingml/2006/main">
              <a:ext uri="{FF2B5EF4-FFF2-40B4-BE49-F238E27FC236}">
                <a16:creationId xmlns:a16="http://schemas.microsoft.com/office/drawing/2014/main" id="{D8D96C4C-95EB-4D75-8EFD-D8AA07AF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8414" y="4045817"/>
            <a:ext cx="453172" cy="402819"/>
          </a:xfrm>
          <a:custGeom xmlns:a="http://schemas.openxmlformats.org/drawingml/2006/main">
            <a:pathLst>
              <a:path w="428625" h="381000">
                <a:moveTo>
                  <a:pt x="66675" y="381000"/>
                </a:moveTo>
                <a:lnTo>
                  <a:pt x="361950" y="381000"/>
                </a:lnTo>
                <a:lnTo>
                  <a:pt x="361950" y="142875"/>
                </a:lnTo>
                <a:lnTo>
                  <a:pt x="428625" y="142875"/>
                </a:lnTo>
                <a:lnTo>
                  <a:pt x="214313" y="0"/>
                </a:lnTo>
                <a:lnTo>
                  <a:pt x="0" y="142875"/>
                </a:lnTo>
                <a:lnTo>
                  <a:pt x="66675" y="14287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06" name="Action icon white tile">
            <a:extLst xmlns:a="http://schemas.openxmlformats.org/drawingml/2006/main">
              <a:ext uri="{FF2B5EF4-FFF2-40B4-BE49-F238E27FC236}">
                <a16:creationId xmlns:a16="http://schemas.microsoft.com/office/drawing/2014/main" id="{D9B14696-70B0-44D5-9EF3-77930B62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5031" y="2927993"/>
            <a:ext cx="433031" cy="453172"/>
          </a:xfrm>
          <a:custGeom xmlns:a="http://schemas.openxmlformats.org/drawingml/2006/main">
            <a:pathLst>
              <a:path w="409575" h="428625">
                <a:moveTo>
                  <a:pt x="0" y="0"/>
                </a:moveTo>
                <a:lnTo>
                  <a:pt x="409575" y="0"/>
                </a:lnTo>
                <a:lnTo>
                  <a:pt x="409575" y="428625"/>
                </a:lnTo>
                <a:lnTo>
                  <a:pt x="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07" name="Action icon white tile">
            <a:extLst xmlns:a="http://schemas.openxmlformats.org/drawingml/2006/main">
              <a:ext uri="{FF2B5EF4-FFF2-40B4-BE49-F238E27FC236}">
                <a16:creationId xmlns:a16="http://schemas.microsoft.com/office/drawing/2014/main" id="{08AE44A4-D9F5-4199-A5C0-AF68E1EC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132" y="2656090"/>
            <a:ext cx="473313" cy="453172"/>
          </a:xfrm>
          <a:custGeom xmlns:a="http://schemas.openxmlformats.org/drawingml/2006/main"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08" name="Action icon white tile">
            <a:extLst xmlns:a="http://schemas.openxmlformats.org/drawingml/2006/main">
              <a:ext uri="{FF2B5EF4-FFF2-40B4-BE49-F238E27FC236}">
                <a16:creationId xmlns:a16="http://schemas.microsoft.com/office/drawing/2014/main" id="{09F381A8-F118-498C-BE2F-F4916584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1727" y="2927993"/>
            <a:ext cx="433031" cy="453172"/>
          </a:xfrm>
          <a:custGeom xmlns:a="http://schemas.openxmlformats.org/drawingml/2006/main">
            <a:pathLst>
              <a:path w="409575" h="428625">
                <a:moveTo>
                  <a:pt x="0" y="0"/>
                </a:moveTo>
                <a:lnTo>
                  <a:pt x="409575" y="0"/>
                </a:lnTo>
                <a:lnTo>
                  <a:pt x="409575" y="428625"/>
                </a:lnTo>
                <a:lnTo>
                  <a:pt x="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09" name="Forward action arrow">
            <a:extLst xmlns:a="http://schemas.openxmlformats.org/drawingml/2006/main">
              <a:ext uri="{FF2B5EF4-FFF2-40B4-BE49-F238E27FC236}">
                <a16:creationId xmlns:a16="http://schemas.microsoft.com/office/drawing/2014/main" id="{1AF5CA03-9516-4D14-B3B8-9CBC6C92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67" y="2706443"/>
            <a:ext cx="342396" cy="332326"/>
          </a:xfrm>
          <a:custGeom xmlns:a="http://schemas.openxmlformats.org/drawingml/2006/main">
            <a:pathLst>
              <a:path w="323850" h="314325">
                <a:moveTo>
                  <a:pt x="66675" y="314325"/>
                </a:moveTo>
                <a:lnTo>
                  <a:pt x="66675" y="104775"/>
                </a:lnTo>
                <a:lnTo>
                  <a:pt x="0" y="104775"/>
                </a:lnTo>
                <a:lnTo>
                  <a:pt x="161925" y="0"/>
                </a:lnTo>
                <a:lnTo>
                  <a:pt x="323850" y="104775"/>
                </a:lnTo>
                <a:lnTo>
                  <a:pt x="257175" y="104775"/>
                </a:lnTo>
                <a:lnTo>
                  <a:pt x="257175" y="314325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10" name="Left action curved arrow">
            <a:extLst xmlns:a="http://schemas.openxmlformats.org/drawingml/2006/main">
              <a:ext uri="{FF2B5EF4-FFF2-40B4-BE49-F238E27FC236}">
                <a16:creationId xmlns:a16="http://schemas.microsoft.com/office/drawing/2014/main" id="{ACBD07E5-7F7C-4D94-97E8-533D391A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5454" y="3119333"/>
            <a:ext cx="292044" cy="161128"/>
          </a:xfrm>
          <a:custGeom xmlns:a="http://schemas.openxmlformats.org/drawingml/2006/main">
            <a:pathLst>
              <a:path w="276225" h="152400">
                <a:moveTo>
                  <a:pt x="276225" y="152400"/>
                </a:moveTo>
                <a:cubicBezTo>
                  <a:pt x="200025" y="28575"/>
                  <a:pt x="95250" y="0"/>
                  <a:pt x="0" y="381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634">
            <a:solidFill>
              <a:srgbClr val="548235"/>
            </a:solidFill>
            <a:prstDash val="solid"/>
          </a:ln>
        </p:spPr>
      </p:sp>
      <p:sp>
        <p:nvSpPr>
          <p:cNvPr id="211" name="Left action arrowhead">
            <a:extLst xmlns:a="http://schemas.openxmlformats.org/drawingml/2006/main">
              <a:ext uri="{FF2B5EF4-FFF2-40B4-BE49-F238E27FC236}">
                <a16:creationId xmlns:a16="http://schemas.microsoft.com/office/drawing/2014/main" id="{1144C0A0-7544-40E4-B6B4-D0B86AE5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5172" y="3028698"/>
            <a:ext cx="130916" cy="241692"/>
          </a:xfrm>
          <a:custGeom xmlns:a="http://schemas.openxmlformats.org/drawingml/2006/main">
            <a:pathLst>
              <a:path w="123825" h="228600">
                <a:moveTo>
                  <a:pt x="0" y="123825"/>
                </a:moveTo>
                <a:lnTo>
                  <a:pt x="123825" y="0"/>
                </a:lnTo>
                <a:lnTo>
                  <a:pt x="123825" y="22860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12" name="Right action curved arrow">
            <a:extLst xmlns:a="http://schemas.openxmlformats.org/drawingml/2006/main">
              <a:ext uri="{FF2B5EF4-FFF2-40B4-BE49-F238E27FC236}">
                <a16:creationId xmlns:a16="http://schemas.microsoft.com/office/drawing/2014/main" id="{D277F1F3-899C-442C-929F-4636A8A8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2220" y="3119333"/>
            <a:ext cx="292044" cy="161128"/>
          </a:xfrm>
          <a:custGeom xmlns:a="http://schemas.openxmlformats.org/drawingml/2006/main">
            <a:pathLst>
              <a:path w="276225" h="152400">
                <a:moveTo>
                  <a:pt x="0" y="152400"/>
                </a:moveTo>
                <a:cubicBezTo>
                  <a:pt x="76200" y="28575"/>
                  <a:pt x="180975" y="0"/>
                  <a:pt x="276225" y="381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634">
            <a:solidFill>
              <a:srgbClr val="548235"/>
            </a:solidFill>
            <a:prstDash val="solid"/>
          </a:ln>
        </p:spPr>
      </p:sp>
      <p:sp>
        <p:nvSpPr>
          <p:cNvPr id="213" name="Right action arrowhead">
            <a:extLst xmlns:a="http://schemas.openxmlformats.org/drawingml/2006/main">
              <a:ext uri="{FF2B5EF4-FFF2-40B4-BE49-F238E27FC236}">
                <a16:creationId xmlns:a16="http://schemas.microsoft.com/office/drawing/2014/main" id="{543E0E45-01A6-4AF7-9493-018DE986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3700" y="3028698"/>
            <a:ext cx="130916" cy="241692"/>
          </a:xfrm>
          <a:custGeom xmlns:a="http://schemas.openxmlformats.org/drawingml/2006/main">
            <a:pathLst>
              <a:path w="123825" h="228600">
                <a:moveTo>
                  <a:pt x="123825" y="123825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14" name="Stop action">
            <a:extLst xmlns:a="http://schemas.openxmlformats.org/drawingml/2006/main">
              <a:ext uri="{FF2B5EF4-FFF2-40B4-BE49-F238E27FC236}">
                <a16:creationId xmlns:a16="http://schemas.microsoft.com/office/drawing/2014/main" id="{BE284FB4-C7D7-4C76-9B01-85737235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8696" y="3189826"/>
            <a:ext cx="362537" cy="362537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15" name="Stop action horizontal bar">
            <a:extLst xmlns:a="http://schemas.openxmlformats.org/drawingml/2006/main">
              <a:ext uri="{FF2B5EF4-FFF2-40B4-BE49-F238E27FC236}">
                <a16:creationId xmlns:a16="http://schemas.microsoft.com/office/drawing/2014/main" id="{3369E67B-B792-4F5E-B172-5232B706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9119" y="3340883"/>
            <a:ext cx="241692" cy="60423"/>
          </a:xfrm>
          <a:custGeom xmlns:a="http://schemas.openxmlformats.org/drawingml/2006/main">
            <a:pathLst>
              <a:path w="228600" h="57150">
                <a:moveTo>
                  <a:pt x="0" y="0"/>
                </a:moveTo>
                <a:lnTo>
                  <a:pt x="228600" y="0"/>
                </a:lnTo>
                <a:lnTo>
                  <a:pt x="2286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16" name="Trainable visual extractor flame contour 1">
            <a:extLst xmlns:a="http://schemas.openxmlformats.org/drawingml/2006/main">
              <a:ext uri="{FF2B5EF4-FFF2-40B4-BE49-F238E27FC236}">
                <a16:creationId xmlns:a16="http://schemas.microsoft.com/office/drawing/2014/main" id="{DCD709D9-B5CD-4F4E-97AC-AD0A0C53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700" y="6553368"/>
            <a:ext cx="201410" cy="292044"/>
          </a:xfrm>
          <a:custGeom xmlns:a="http://schemas.openxmlformats.org/drawingml/2006/main">
            <a:pathLst>
              <a:path w="190500" h="276225">
                <a:moveTo>
                  <a:pt x="95250" y="0"/>
                </a:moveTo>
                <a:lnTo>
                  <a:pt x="95250" y="28575"/>
                </a:lnTo>
                <a:lnTo>
                  <a:pt x="76200" y="66675"/>
                </a:lnTo>
                <a:lnTo>
                  <a:pt x="9525" y="133350"/>
                </a:lnTo>
                <a:lnTo>
                  <a:pt x="0" y="152400"/>
                </a:lnTo>
                <a:lnTo>
                  <a:pt x="0" y="209550"/>
                </a:lnTo>
                <a:lnTo>
                  <a:pt x="19050" y="238125"/>
                </a:lnTo>
                <a:lnTo>
                  <a:pt x="19050" y="200025"/>
                </a:lnTo>
                <a:lnTo>
                  <a:pt x="28575" y="190500"/>
                </a:lnTo>
                <a:lnTo>
                  <a:pt x="28575" y="171450"/>
                </a:lnTo>
                <a:lnTo>
                  <a:pt x="47625" y="152400"/>
                </a:lnTo>
                <a:lnTo>
                  <a:pt x="57150" y="161925"/>
                </a:lnTo>
                <a:lnTo>
                  <a:pt x="57150" y="190500"/>
                </a:lnTo>
                <a:lnTo>
                  <a:pt x="66675" y="200025"/>
                </a:lnTo>
                <a:lnTo>
                  <a:pt x="66675" y="219075"/>
                </a:lnTo>
                <a:lnTo>
                  <a:pt x="85725" y="238125"/>
                </a:lnTo>
                <a:lnTo>
                  <a:pt x="95250" y="266700"/>
                </a:lnTo>
                <a:lnTo>
                  <a:pt x="104775" y="276225"/>
                </a:lnTo>
                <a:lnTo>
                  <a:pt x="123825" y="276225"/>
                </a:lnTo>
                <a:lnTo>
                  <a:pt x="142875" y="266700"/>
                </a:lnTo>
                <a:lnTo>
                  <a:pt x="180975" y="228600"/>
                </a:lnTo>
                <a:lnTo>
                  <a:pt x="180975" y="209550"/>
                </a:lnTo>
                <a:lnTo>
                  <a:pt x="190500" y="200025"/>
                </a:lnTo>
                <a:lnTo>
                  <a:pt x="190500" y="152400"/>
                </a:lnTo>
                <a:lnTo>
                  <a:pt x="190500" y="161925"/>
                </a:lnTo>
                <a:lnTo>
                  <a:pt x="152400" y="190500"/>
                </a:lnTo>
                <a:lnTo>
                  <a:pt x="114300" y="161925"/>
                </a:lnTo>
                <a:lnTo>
                  <a:pt x="114300" y="123825"/>
                </a:lnTo>
                <a:lnTo>
                  <a:pt x="133350" y="95250"/>
                </a:lnTo>
                <a:lnTo>
                  <a:pt x="133350" y="47625"/>
                </a:lnTo>
                <a:lnTo>
                  <a:pt x="123825" y="28575"/>
                </a:lnTo>
                <a:close/>
              </a:path>
            </a:pathLst>
          </a:custGeom>
          <a:solidFill xmlns:a="http://schemas.openxmlformats.org/drawingml/2006/main">
            <a:srgbClr val="EF5E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Trainable navigation policy flame contour 1">
            <a:extLst xmlns:a="http://schemas.openxmlformats.org/drawingml/2006/main">
              <a:ext uri="{FF2B5EF4-FFF2-40B4-BE49-F238E27FC236}">
                <a16:creationId xmlns:a16="http://schemas.microsoft.com/office/drawing/2014/main" id="{4C665EA5-AE59-4703-B976-081405F4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3489" y="5606742"/>
            <a:ext cx="211480" cy="292044"/>
          </a:xfrm>
          <a:custGeom xmlns:a="http://schemas.openxmlformats.org/drawingml/2006/main">
            <a:pathLst>
              <a:path w="200025" h="276225">
                <a:moveTo>
                  <a:pt x="95250" y="0"/>
                </a:moveTo>
                <a:lnTo>
                  <a:pt x="95250" y="38100"/>
                </a:lnTo>
                <a:lnTo>
                  <a:pt x="66675" y="76200"/>
                </a:lnTo>
                <a:lnTo>
                  <a:pt x="66675" y="85725"/>
                </a:lnTo>
                <a:lnTo>
                  <a:pt x="47625" y="95250"/>
                </a:lnTo>
                <a:lnTo>
                  <a:pt x="19050" y="123825"/>
                </a:lnTo>
                <a:lnTo>
                  <a:pt x="0" y="161925"/>
                </a:lnTo>
                <a:lnTo>
                  <a:pt x="0" y="200025"/>
                </a:lnTo>
                <a:lnTo>
                  <a:pt x="9525" y="209550"/>
                </a:lnTo>
                <a:lnTo>
                  <a:pt x="9525" y="228600"/>
                </a:lnTo>
                <a:lnTo>
                  <a:pt x="28575" y="247650"/>
                </a:lnTo>
                <a:lnTo>
                  <a:pt x="28575" y="190500"/>
                </a:lnTo>
                <a:lnTo>
                  <a:pt x="47625" y="161925"/>
                </a:lnTo>
                <a:lnTo>
                  <a:pt x="104775" y="276225"/>
                </a:lnTo>
                <a:lnTo>
                  <a:pt x="123825" y="276225"/>
                </a:lnTo>
                <a:lnTo>
                  <a:pt x="161925" y="257175"/>
                </a:lnTo>
                <a:lnTo>
                  <a:pt x="180975" y="238125"/>
                </a:lnTo>
                <a:lnTo>
                  <a:pt x="190500" y="219075"/>
                </a:lnTo>
                <a:lnTo>
                  <a:pt x="190500" y="190500"/>
                </a:lnTo>
                <a:lnTo>
                  <a:pt x="200025" y="180975"/>
                </a:lnTo>
                <a:lnTo>
                  <a:pt x="190500" y="161925"/>
                </a:lnTo>
                <a:lnTo>
                  <a:pt x="171450" y="180975"/>
                </a:lnTo>
                <a:lnTo>
                  <a:pt x="133350" y="180975"/>
                </a:lnTo>
                <a:lnTo>
                  <a:pt x="123825" y="171450"/>
                </a:lnTo>
                <a:lnTo>
                  <a:pt x="114300" y="142875"/>
                </a:lnTo>
                <a:lnTo>
                  <a:pt x="133350" y="114300"/>
                </a:lnTo>
                <a:lnTo>
                  <a:pt x="133350" y="47625"/>
                </a:lnTo>
                <a:lnTo>
                  <a:pt x="123825" y="28575"/>
                </a:lnTo>
                <a:close/>
              </a:path>
            </a:pathLst>
          </a:custGeom>
          <a:solidFill xmlns:a="http://schemas.openxmlformats.org/drawingml/2006/main">
            <a:srgbClr val="EF5E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Navigation robot artwork contour 1">
            <a:extLst xmlns:a="http://schemas.openxmlformats.org/drawingml/2006/main">
              <a:ext uri="{FF2B5EF4-FFF2-40B4-BE49-F238E27FC236}">
                <a16:creationId xmlns:a16="http://schemas.microsoft.com/office/drawing/2014/main" id="{DA09EB9A-4C1E-40BF-B741-10AE46A1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8273" y="7933024"/>
            <a:ext cx="483383" cy="151057"/>
          </a:xfrm>
          <a:custGeom xmlns:a="http://schemas.openxmlformats.org/drawingml/2006/main">
            <a:pathLst>
              <a:path w="457200" h="142875">
                <a:moveTo>
                  <a:pt x="0" y="47625"/>
                </a:moveTo>
                <a:lnTo>
                  <a:pt x="0" y="85725"/>
                </a:lnTo>
                <a:lnTo>
                  <a:pt x="28575" y="123825"/>
                </a:lnTo>
                <a:lnTo>
                  <a:pt x="47625" y="133350"/>
                </a:lnTo>
                <a:lnTo>
                  <a:pt x="104775" y="133350"/>
                </a:lnTo>
                <a:lnTo>
                  <a:pt x="114300" y="142875"/>
                </a:lnTo>
                <a:lnTo>
                  <a:pt x="390525" y="142875"/>
                </a:lnTo>
                <a:lnTo>
                  <a:pt x="400050" y="133350"/>
                </a:lnTo>
                <a:lnTo>
                  <a:pt x="419100" y="133350"/>
                </a:lnTo>
                <a:lnTo>
                  <a:pt x="438150" y="123825"/>
                </a:lnTo>
                <a:lnTo>
                  <a:pt x="457200" y="95250"/>
                </a:lnTo>
                <a:lnTo>
                  <a:pt x="457200" y="38100"/>
                </a:lnTo>
                <a:lnTo>
                  <a:pt x="447675" y="19050"/>
                </a:lnTo>
                <a:lnTo>
                  <a:pt x="438150" y="19050"/>
                </a:lnTo>
                <a:lnTo>
                  <a:pt x="419100" y="0"/>
                </a:lnTo>
                <a:lnTo>
                  <a:pt x="47625" y="0"/>
                </a:lnTo>
                <a:lnTo>
                  <a:pt x="28575" y="9525"/>
                </a:lnTo>
                <a:close/>
              </a:path>
            </a:pathLst>
          </a:custGeom>
          <a:solidFill xmlns:a="http://schemas.openxmlformats.org/drawingml/2006/main">
            <a:srgbClr val="385C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Navigation robot artwork contour 2">
            <a:extLst xmlns:a="http://schemas.openxmlformats.org/drawingml/2006/main">
              <a:ext uri="{FF2B5EF4-FFF2-40B4-BE49-F238E27FC236}">
                <a16:creationId xmlns:a16="http://schemas.microsoft.com/office/drawing/2014/main" id="{1F2E61E0-875C-4560-936E-CECFDF9F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7709" y="7489923"/>
            <a:ext cx="634441" cy="402819"/>
          </a:xfrm>
          <a:custGeom xmlns:a="http://schemas.openxmlformats.org/drawingml/2006/main">
            <a:pathLst>
              <a:path w="600075" h="381000">
                <a:moveTo>
                  <a:pt x="0" y="9525"/>
                </a:moveTo>
                <a:lnTo>
                  <a:pt x="0" y="47625"/>
                </a:lnTo>
                <a:lnTo>
                  <a:pt x="38100" y="95250"/>
                </a:lnTo>
                <a:lnTo>
                  <a:pt x="38100" y="180975"/>
                </a:lnTo>
                <a:lnTo>
                  <a:pt x="76200" y="209550"/>
                </a:lnTo>
                <a:lnTo>
                  <a:pt x="142875" y="209550"/>
                </a:lnTo>
                <a:lnTo>
                  <a:pt x="152400" y="219075"/>
                </a:lnTo>
                <a:lnTo>
                  <a:pt x="152400" y="371475"/>
                </a:lnTo>
                <a:lnTo>
                  <a:pt x="161925" y="381000"/>
                </a:lnTo>
                <a:lnTo>
                  <a:pt x="457200" y="381000"/>
                </a:lnTo>
                <a:lnTo>
                  <a:pt x="457200" y="209550"/>
                </a:lnTo>
                <a:lnTo>
                  <a:pt x="466725" y="200025"/>
                </a:lnTo>
                <a:lnTo>
                  <a:pt x="514350" y="200025"/>
                </a:lnTo>
                <a:lnTo>
                  <a:pt x="523875" y="209550"/>
                </a:lnTo>
                <a:lnTo>
                  <a:pt x="523875" y="276225"/>
                </a:lnTo>
                <a:lnTo>
                  <a:pt x="485775" y="314325"/>
                </a:lnTo>
                <a:lnTo>
                  <a:pt x="485775" y="342900"/>
                </a:lnTo>
                <a:lnTo>
                  <a:pt x="476250" y="361950"/>
                </a:lnTo>
                <a:lnTo>
                  <a:pt x="495300" y="381000"/>
                </a:lnTo>
                <a:lnTo>
                  <a:pt x="504825" y="381000"/>
                </a:lnTo>
                <a:lnTo>
                  <a:pt x="514350" y="371475"/>
                </a:lnTo>
                <a:lnTo>
                  <a:pt x="514350" y="342900"/>
                </a:lnTo>
                <a:lnTo>
                  <a:pt x="533400" y="323850"/>
                </a:lnTo>
                <a:lnTo>
                  <a:pt x="552450" y="323850"/>
                </a:lnTo>
                <a:lnTo>
                  <a:pt x="561975" y="333375"/>
                </a:lnTo>
                <a:lnTo>
                  <a:pt x="561975" y="361950"/>
                </a:lnTo>
                <a:lnTo>
                  <a:pt x="581025" y="381000"/>
                </a:lnTo>
                <a:lnTo>
                  <a:pt x="590550" y="381000"/>
                </a:lnTo>
                <a:lnTo>
                  <a:pt x="600075" y="361950"/>
                </a:lnTo>
                <a:lnTo>
                  <a:pt x="600075" y="333375"/>
                </a:lnTo>
                <a:lnTo>
                  <a:pt x="590550" y="314325"/>
                </a:lnTo>
                <a:lnTo>
                  <a:pt x="561975" y="285750"/>
                </a:lnTo>
                <a:lnTo>
                  <a:pt x="561975" y="209550"/>
                </a:lnTo>
                <a:lnTo>
                  <a:pt x="552450" y="200025"/>
                </a:lnTo>
                <a:lnTo>
                  <a:pt x="552450" y="180975"/>
                </a:lnTo>
                <a:lnTo>
                  <a:pt x="533400" y="171450"/>
                </a:lnTo>
                <a:lnTo>
                  <a:pt x="495300" y="171450"/>
                </a:lnTo>
                <a:lnTo>
                  <a:pt x="485775" y="161925"/>
                </a:lnTo>
                <a:lnTo>
                  <a:pt x="466725" y="161925"/>
                </a:lnTo>
                <a:lnTo>
                  <a:pt x="457200" y="152400"/>
                </a:lnTo>
                <a:lnTo>
                  <a:pt x="457200" y="114300"/>
                </a:lnTo>
                <a:lnTo>
                  <a:pt x="390525" y="114300"/>
                </a:lnTo>
                <a:lnTo>
                  <a:pt x="381000" y="123825"/>
                </a:lnTo>
                <a:lnTo>
                  <a:pt x="361950" y="114300"/>
                </a:lnTo>
                <a:lnTo>
                  <a:pt x="323850" y="114300"/>
                </a:lnTo>
                <a:lnTo>
                  <a:pt x="314325" y="123825"/>
                </a:lnTo>
                <a:lnTo>
                  <a:pt x="285750" y="123825"/>
                </a:lnTo>
                <a:lnTo>
                  <a:pt x="276225" y="114300"/>
                </a:lnTo>
                <a:lnTo>
                  <a:pt x="161925" y="114300"/>
                </a:lnTo>
                <a:lnTo>
                  <a:pt x="152400" y="123825"/>
                </a:lnTo>
                <a:lnTo>
                  <a:pt x="152400" y="161925"/>
                </a:lnTo>
                <a:lnTo>
                  <a:pt x="133350" y="180975"/>
                </a:lnTo>
                <a:lnTo>
                  <a:pt x="114300" y="180975"/>
                </a:lnTo>
                <a:lnTo>
                  <a:pt x="76200" y="161925"/>
                </a:lnTo>
                <a:lnTo>
                  <a:pt x="76200" y="95250"/>
                </a:lnTo>
                <a:lnTo>
                  <a:pt x="114300" y="57150"/>
                </a:lnTo>
                <a:lnTo>
                  <a:pt x="114300" y="0"/>
                </a:lnTo>
                <a:lnTo>
                  <a:pt x="95250" y="0"/>
                </a:lnTo>
                <a:lnTo>
                  <a:pt x="85725" y="9525"/>
                </a:lnTo>
                <a:lnTo>
                  <a:pt x="85725" y="38100"/>
                </a:lnTo>
                <a:lnTo>
                  <a:pt x="76200" y="47625"/>
                </a:lnTo>
                <a:lnTo>
                  <a:pt x="47625" y="47625"/>
                </a:lnTo>
                <a:lnTo>
                  <a:pt x="28575" y="28575"/>
                </a:lnTo>
                <a:lnTo>
                  <a:pt x="28575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385C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Navigation robot artwork contour 3">
            <a:extLst xmlns:a="http://schemas.openxmlformats.org/drawingml/2006/main">
              <a:ext uri="{FF2B5EF4-FFF2-40B4-BE49-F238E27FC236}">
                <a16:creationId xmlns:a16="http://schemas.microsoft.com/office/drawing/2014/main" id="{9E6CC121-038C-402A-A79E-0BA0618C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9119" y="7258302"/>
            <a:ext cx="251762" cy="322256"/>
          </a:xfrm>
          <a:custGeom xmlns:a="http://schemas.openxmlformats.org/drawingml/2006/main">
            <a:pathLst>
              <a:path w="238125" h="304800">
                <a:moveTo>
                  <a:pt x="104775" y="0"/>
                </a:moveTo>
                <a:lnTo>
                  <a:pt x="85725" y="9525"/>
                </a:lnTo>
                <a:lnTo>
                  <a:pt x="85725" y="47625"/>
                </a:lnTo>
                <a:lnTo>
                  <a:pt x="104775" y="76200"/>
                </a:lnTo>
                <a:lnTo>
                  <a:pt x="104775" y="104775"/>
                </a:lnTo>
                <a:lnTo>
                  <a:pt x="95250" y="114300"/>
                </a:lnTo>
                <a:lnTo>
                  <a:pt x="19050" y="114300"/>
                </a:lnTo>
                <a:lnTo>
                  <a:pt x="0" y="133350"/>
                </a:lnTo>
                <a:lnTo>
                  <a:pt x="0" y="285750"/>
                </a:lnTo>
                <a:lnTo>
                  <a:pt x="28575" y="304800"/>
                </a:lnTo>
                <a:lnTo>
                  <a:pt x="209550" y="304800"/>
                </a:lnTo>
                <a:lnTo>
                  <a:pt x="228600" y="285750"/>
                </a:lnTo>
                <a:lnTo>
                  <a:pt x="238125" y="285750"/>
                </a:lnTo>
                <a:lnTo>
                  <a:pt x="238125" y="133350"/>
                </a:lnTo>
                <a:lnTo>
                  <a:pt x="219075" y="114300"/>
                </a:lnTo>
                <a:lnTo>
                  <a:pt x="142875" y="114300"/>
                </a:lnTo>
                <a:lnTo>
                  <a:pt x="133350" y="104775"/>
                </a:lnTo>
                <a:lnTo>
                  <a:pt x="133350" y="66675"/>
                </a:lnTo>
                <a:lnTo>
                  <a:pt x="152400" y="47625"/>
                </a:lnTo>
                <a:lnTo>
                  <a:pt x="152400" y="1905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385C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Frozen expert snowflake">
            <a:extLst xmlns:a="http://schemas.openxmlformats.org/drawingml/2006/main">
              <a:ext uri="{FF2B5EF4-FFF2-40B4-BE49-F238E27FC236}">
                <a16:creationId xmlns:a16="http://schemas.microsoft.com/office/drawing/2014/main" id="{D10D6832-E6E7-48D2-9A71-049ABF5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207" y="2450730"/>
            <a:ext cx="241692" cy="209311"/>
          </a:xfrm>
          <a:custGeom xmlns:a="http://schemas.openxmlformats.org/drawingml/2006/main">
            <a:pathLst>
              <a:path w="228600" h="197973">
                <a:moveTo>
                  <a:pt x="114300" y="98987"/>
                </a:moveTo>
                <a:lnTo>
                  <a:pt x="228600" y="98987"/>
                </a:lnTo>
                <a:moveTo>
                  <a:pt x="142875" y="127562"/>
                </a:moveTo>
                <a:lnTo>
                  <a:pt x="180975" y="98987"/>
                </a:lnTo>
                <a:lnTo>
                  <a:pt x="142875" y="70412"/>
                </a:lnTo>
                <a:moveTo>
                  <a:pt x="114300" y="98987"/>
                </a:moveTo>
                <a:lnTo>
                  <a:pt x="171450" y="197973"/>
                </a:lnTo>
                <a:moveTo>
                  <a:pt x="103841" y="138021"/>
                </a:moveTo>
                <a:lnTo>
                  <a:pt x="147638" y="156729"/>
                </a:lnTo>
                <a:lnTo>
                  <a:pt x="153334" y="109446"/>
                </a:lnTo>
                <a:moveTo>
                  <a:pt x="114300" y="98987"/>
                </a:moveTo>
                <a:lnTo>
                  <a:pt x="57150" y="197973"/>
                </a:lnTo>
                <a:moveTo>
                  <a:pt x="75266" y="109446"/>
                </a:moveTo>
                <a:lnTo>
                  <a:pt x="80963" y="156729"/>
                </a:lnTo>
                <a:lnTo>
                  <a:pt x="124759" y="138021"/>
                </a:lnTo>
                <a:moveTo>
                  <a:pt x="114300" y="98987"/>
                </a:moveTo>
                <a:lnTo>
                  <a:pt x="0" y="98987"/>
                </a:lnTo>
                <a:moveTo>
                  <a:pt x="85725" y="70412"/>
                </a:moveTo>
                <a:lnTo>
                  <a:pt x="47625" y="98987"/>
                </a:lnTo>
                <a:lnTo>
                  <a:pt x="85725" y="127562"/>
                </a:lnTo>
                <a:moveTo>
                  <a:pt x="114300" y="98987"/>
                </a:moveTo>
                <a:lnTo>
                  <a:pt x="57150" y="0"/>
                </a:lnTo>
                <a:moveTo>
                  <a:pt x="124759" y="59953"/>
                </a:moveTo>
                <a:lnTo>
                  <a:pt x="80963" y="41244"/>
                </a:lnTo>
                <a:lnTo>
                  <a:pt x="75266" y="88528"/>
                </a:lnTo>
                <a:moveTo>
                  <a:pt x="114300" y="98987"/>
                </a:moveTo>
                <a:lnTo>
                  <a:pt x="171450" y="0"/>
                </a:lnTo>
                <a:moveTo>
                  <a:pt x="153334" y="88528"/>
                </a:moveTo>
                <a:lnTo>
                  <a:pt x="147638" y="41244"/>
                </a:lnTo>
                <a:lnTo>
                  <a:pt x="103841" y="59953"/>
                </a:lnTo>
              </a:path>
            </a:pathLst>
          </a:custGeom>
          <a:noFill xmlns:a="http://schemas.openxmlformats.org/drawingml/2006/main"/>
          <a:ln xmlns:a="http://schemas.openxmlformats.org/drawingml/2006/main" w="16113">
            <a:solidFill>
              <a:srgbClr val="9CCFE2"/>
            </a:solidFill>
            <a:prstDash val="solid"/>
          </a:ln>
        </p:spPr>
      </p:sp>
      <p:sp>
        <p:nvSpPr>
          <p:cNvPr id="222" name="Frozen expert snowflake">
            <a:extLst xmlns:a="http://schemas.openxmlformats.org/drawingml/2006/main">
              <a:ext uri="{FF2B5EF4-FFF2-40B4-BE49-F238E27FC236}">
                <a16:creationId xmlns:a16="http://schemas.microsoft.com/office/drawing/2014/main" id="{2588ABA6-0BEA-47F0-A417-37ACBE51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207" y="4313770"/>
            <a:ext cx="241692" cy="209311"/>
          </a:xfrm>
          <a:custGeom xmlns:a="http://schemas.openxmlformats.org/drawingml/2006/main">
            <a:pathLst>
              <a:path w="228600" h="197973">
                <a:moveTo>
                  <a:pt x="114300" y="98987"/>
                </a:moveTo>
                <a:lnTo>
                  <a:pt x="228600" y="98987"/>
                </a:lnTo>
                <a:moveTo>
                  <a:pt x="142875" y="127562"/>
                </a:moveTo>
                <a:lnTo>
                  <a:pt x="180975" y="98987"/>
                </a:lnTo>
                <a:lnTo>
                  <a:pt x="142875" y="70412"/>
                </a:lnTo>
                <a:moveTo>
                  <a:pt x="114300" y="98987"/>
                </a:moveTo>
                <a:lnTo>
                  <a:pt x="171450" y="197973"/>
                </a:lnTo>
                <a:moveTo>
                  <a:pt x="103841" y="138021"/>
                </a:moveTo>
                <a:lnTo>
                  <a:pt x="147638" y="156729"/>
                </a:lnTo>
                <a:lnTo>
                  <a:pt x="153334" y="109446"/>
                </a:lnTo>
                <a:moveTo>
                  <a:pt x="114300" y="98987"/>
                </a:moveTo>
                <a:lnTo>
                  <a:pt x="57150" y="197973"/>
                </a:lnTo>
                <a:moveTo>
                  <a:pt x="75266" y="109446"/>
                </a:moveTo>
                <a:lnTo>
                  <a:pt x="80963" y="156729"/>
                </a:lnTo>
                <a:lnTo>
                  <a:pt x="124759" y="138021"/>
                </a:lnTo>
                <a:moveTo>
                  <a:pt x="114300" y="98987"/>
                </a:moveTo>
                <a:lnTo>
                  <a:pt x="0" y="98987"/>
                </a:lnTo>
                <a:moveTo>
                  <a:pt x="85725" y="70412"/>
                </a:moveTo>
                <a:lnTo>
                  <a:pt x="47625" y="98987"/>
                </a:lnTo>
                <a:lnTo>
                  <a:pt x="85725" y="127562"/>
                </a:lnTo>
                <a:moveTo>
                  <a:pt x="114300" y="98987"/>
                </a:moveTo>
                <a:lnTo>
                  <a:pt x="57150" y="0"/>
                </a:lnTo>
                <a:moveTo>
                  <a:pt x="124759" y="59953"/>
                </a:moveTo>
                <a:lnTo>
                  <a:pt x="80963" y="41244"/>
                </a:lnTo>
                <a:lnTo>
                  <a:pt x="75266" y="88528"/>
                </a:lnTo>
                <a:moveTo>
                  <a:pt x="114300" y="98987"/>
                </a:moveTo>
                <a:lnTo>
                  <a:pt x="171450" y="0"/>
                </a:lnTo>
                <a:moveTo>
                  <a:pt x="153334" y="88528"/>
                </a:moveTo>
                <a:lnTo>
                  <a:pt x="147638" y="41244"/>
                </a:lnTo>
                <a:lnTo>
                  <a:pt x="103841" y="59953"/>
                </a:lnTo>
              </a:path>
            </a:pathLst>
          </a:custGeom>
          <a:noFill xmlns:a="http://schemas.openxmlformats.org/drawingml/2006/main"/>
          <a:ln xmlns:a="http://schemas.openxmlformats.org/drawingml/2006/main" w="16113">
            <a:solidFill>
              <a:srgbClr val="9CCFE2"/>
            </a:solidFill>
            <a:prstDash val="solid"/>
          </a:ln>
        </p:spPr>
      </p:sp>
      <p:sp>
        <p:nvSpPr>
          <p:cNvPr id="223" name="Frozen expert snowflake">
            <a:extLst xmlns:a="http://schemas.openxmlformats.org/drawingml/2006/main">
              <a:ext uri="{FF2B5EF4-FFF2-40B4-BE49-F238E27FC236}">
                <a16:creationId xmlns:a16="http://schemas.microsoft.com/office/drawing/2014/main" id="{CF1E877C-EAD6-456D-8FA9-6F7E17D3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9242" y="4303699"/>
            <a:ext cx="241692" cy="209311"/>
          </a:xfrm>
          <a:custGeom xmlns:a="http://schemas.openxmlformats.org/drawingml/2006/main">
            <a:pathLst>
              <a:path w="228600" h="197973">
                <a:moveTo>
                  <a:pt x="114300" y="98987"/>
                </a:moveTo>
                <a:lnTo>
                  <a:pt x="228600" y="98987"/>
                </a:lnTo>
                <a:moveTo>
                  <a:pt x="142875" y="127562"/>
                </a:moveTo>
                <a:lnTo>
                  <a:pt x="180975" y="98987"/>
                </a:lnTo>
                <a:lnTo>
                  <a:pt x="142875" y="70412"/>
                </a:lnTo>
                <a:moveTo>
                  <a:pt x="114300" y="98987"/>
                </a:moveTo>
                <a:lnTo>
                  <a:pt x="171450" y="197973"/>
                </a:lnTo>
                <a:moveTo>
                  <a:pt x="103841" y="138021"/>
                </a:moveTo>
                <a:lnTo>
                  <a:pt x="147638" y="156729"/>
                </a:lnTo>
                <a:lnTo>
                  <a:pt x="153334" y="109446"/>
                </a:lnTo>
                <a:moveTo>
                  <a:pt x="114300" y="98987"/>
                </a:moveTo>
                <a:lnTo>
                  <a:pt x="57150" y="197973"/>
                </a:lnTo>
                <a:moveTo>
                  <a:pt x="75266" y="109446"/>
                </a:moveTo>
                <a:lnTo>
                  <a:pt x="80963" y="156729"/>
                </a:lnTo>
                <a:lnTo>
                  <a:pt x="124759" y="138021"/>
                </a:lnTo>
                <a:moveTo>
                  <a:pt x="114300" y="98987"/>
                </a:moveTo>
                <a:lnTo>
                  <a:pt x="0" y="98987"/>
                </a:lnTo>
                <a:moveTo>
                  <a:pt x="85725" y="70412"/>
                </a:moveTo>
                <a:lnTo>
                  <a:pt x="47625" y="98987"/>
                </a:lnTo>
                <a:lnTo>
                  <a:pt x="85725" y="127562"/>
                </a:lnTo>
                <a:moveTo>
                  <a:pt x="114300" y="98987"/>
                </a:moveTo>
                <a:lnTo>
                  <a:pt x="57150" y="0"/>
                </a:lnTo>
                <a:moveTo>
                  <a:pt x="124759" y="59953"/>
                </a:moveTo>
                <a:lnTo>
                  <a:pt x="80963" y="41244"/>
                </a:lnTo>
                <a:lnTo>
                  <a:pt x="75266" y="88528"/>
                </a:lnTo>
                <a:moveTo>
                  <a:pt x="114300" y="98987"/>
                </a:moveTo>
                <a:lnTo>
                  <a:pt x="171450" y="0"/>
                </a:lnTo>
                <a:moveTo>
                  <a:pt x="153334" y="88528"/>
                </a:moveTo>
                <a:lnTo>
                  <a:pt x="147638" y="41244"/>
                </a:lnTo>
                <a:lnTo>
                  <a:pt x="103841" y="59953"/>
                </a:lnTo>
              </a:path>
            </a:pathLst>
          </a:custGeom>
          <a:noFill xmlns:a="http://schemas.openxmlformats.org/drawingml/2006/main"/>
          <a:ln xmlns:a="http://schemas.openxmlformats.org/drawingml/2006/main" w="16113">
            <a:solidFill>
              <a:srgbClr val="9CCFE2"/>
            </a:solidFill>
            <a:prstDash val="solid"/>
          </a:ln>
        </p:spPr>
      </p:sp>
      <p:sp>
        <p:nvSpPr>
          <p:cNvPr id="224" name="Navigation robot eye">
            <a:extLst xmlns:a="http://schemas.openxmlformats.org/drawingml/2006/main">
              <a:ext uri="{FF2B5EF4-FFF2-40B4-BE49-F238E27FC236}">
                <a16:creationId xmlns:a16="http://schemas.microsoft.com/office/drawing/2014/main" id="{380B5F2E-C182-445C-B47C-6607E8C4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1344" y="7451655"/>
            <a:ext cx="56395" cy="56395"/>
          </a:xfrm>
          <a:custGeom xmlns:a="http://schemas.openxmlformats.org/drawingml/2006/main">
            <a:pathLst>
              <a:path w="53340" h="53340">
                <a:moveTo>
                  <a:pt x="53340" y="26670"/>
                </a:moveTo>
                <a:cubicBezTo>
                  <a:pt x="53340" y="41399"/>
                  <a:pt x="41399" y="53340"/>
                  <a:pt x="26670" y="53340"/>
                </a:cubicBezTo>
                <a:cubicBezTo>
                  <a:pt x="11941" y="53340"/>
                  <a:pt x="0" y="41399"/>
                  <a:pt x="0" y="26670"/>
                </a:cubicBezTo>
                <a:cubicBezTo>
                  <a:pt x="0" y="11941"/>
                  <a:pt x="11941" y="0"/>
                  <a:pt x="26670" y="0"/>
                </a:cubicBezTo>
                <a:cubicBezTo>
                  <a:pt x="41399" y="0"/>
                  <a:pt x="53340" y="11941"/>
                  <a:pt x="53340" y="2667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25" name="Navigation robot eye">
            <a:extLst xmlns:a="http://schemas.openxmlformats.org/drawingml/2006/main">
              <a:ext uri="{FF2B5EF4-FFF2-40B4-BE49-F238E27FC236}">
                <a16:creationId xmlns:a16="http://schemas.microsoft.com/office/drawing/2014/main" id="{93E12EAC-F526-4E7C-8320-B97BDA29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331" y="7451655"/>
            <a:ext cx="56395" cy="56395"/>
          </a:xfrm>
          <a:custGeom xmlns:a="http://schemas.openxmlformats.org/drawingml/2006/main">
            <a:pathLst>
              <a:path w="53340" h="53340">
                <a:moveTo>
                  <a:pt x="53340" y="26670"/>
                </a:moveTo>
                <a:cubicBezTo>
                  <a:pt x="53340" y="41399"/>
                  <a:pt x="41399" y="53340"/>
                  <a:pt x="26670" y="53340"/>
                </a:cubicBezTo>
                <a:cubicBezTo>
                  <a:pt x="11941" y="53340"/>
                  <a:pt x="0" y="41399"/>
                  <a:pt x="0" y="26670"/>
                </a:cubicBezTo>
                <a:cubicBezTo>
                  <a:pt x="0" y="11941"/>
                  <a:pt x="11941" y="0"/>
                  <a:pt x="26670" y="0"/>
                </a:cubicBezTo>
                <a:cubicBezTo>
                  <a:pt x="41399" y="0"/>
                  <a:pt x="53340" y="11941"/>
                  <a:pt x="53340" y="2667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26" name="Navigation robot track">
            <a:extLst xmlns:a="http://schemas.openxmlformats.org/drawingml/2006/main">
              <a:ext uri="{FF2B5EF4-FFF2-40B4-BE49-F238E27FC236}">
                <a16:creationId xmlns:a16="http://schemas.microsoft.com/office/drawing/2014/main" id="{F01CE647-9C2D-4E25-9C52-745E5412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597" y="7969278"/>
            <a:ext cx="68479" cy="68479"/>
          </a:xfrm>
          <a:custGeom xmlns:a="http://schemas.openxmlformats.org/drawingml/2006/main">
            <a:pathLst>
              <a:path w="64770" h="64770">
                <a:moveTo>
                  <a:pt x="64770" y="32385"/>
                </a:moveTo>
                <a:cubicBezTo>
                  <a:pt x="64770" y="50271"/>
                  <a:pt x="50271" y="64770"/>
                  <a:pt x="32385" y="64770"/>
                </a:cubicBezTo>
                <a:cubicBezTo>
                  <a:pt x="14499" y="64770"/>
                  <a:pt x="0" y="50271"/>
                  <a:pt x="0" y="32385"/>
                </a:cubicBezTo>
                <a:cubicBezTo>
                  <a:pt x="0" y="14499"/>
                  <a:pt x="14499" y="0"/>
                  <a:pt x="32385" y="0"/>
                </a:cubicBezTo>
                <a:cubicBezTo>
                  <a:pt x="50271" y="0"/>
                  <a:pt x="64770" y="14499"/>
                  <a:pt x="64770" y="323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27" name="Navigation robot track">
            <a:extLst xmlns:a="http://schemas.openxmlformats.org/drawingml/2006/main">
              <a:ext uri="{FF2B5EF4-FFF2-40B4-BE49-F238E27FC236}">
                <a16:creationId xmlns:a16="http://schemas.microsoft.com/office/drawing/2014/main" id="{BBD8A58E-C74F-4904-9047-B1344685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5725" y="7969278"/>
            <a:ext cx="68479" cy="68479"/>
          </a:xfrm>
          <a:custGeom xmlns:a="http://schemas.openxmlformats.org/drawingml/2006/main">
            <a:pathLst>
              <a:path w="64770" h="64770">
                <a:moveTo>
                  <a:pt x="64770" y="32385"/>
                </a:moveTo>
                <a:cubicBezTo>
                  <a:pt x="64770" y="50271"/>
                  <a:pt x="50271" y="64770"/>
                  <a:pt x="32385" y="64770"/>
                </a:cubicBezTo>
                <a:cubicBezTo>
                  <a:pt x="14499" y="64770"/>
                  <a:pt x="0" y="50271"/>
                  <a:pt x="0" y="32385"/>
                </a:cubicBezTo>
                <a:cubicBezTo>
                  <a:pt x="0" y="14499"/>
                  <a:pt x="14499" y="0"/>
                  <a:pt x="32385" y="0"/>
                </a:cubicBezTo>
                <a:cubicBezTo>
                  <a:pt x="50271" y="0"/>
                  <a:pt x="64770" y="14499"/>
                  <a:pt x="64770" y="323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28" name="Navigation robot track">
            <a:extLst xmlns:a="http://schemas.openxmlformats.org/drawingml/2006/main">
              <a:ext uri="{FF2B5EF4-FFF2-40B4-BE49-F238E27FC236}">
                <a16:creationId xmlns:a16="http://schemas.microsoft.com/office/drawing/2014/main" id="{FA2059C9-0B96-4343-AF62-ECD28CF3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6853" y="7969278"/>
            <a:ext cx="68479" cy="68479"/>
          </a:xfrm>
          <a:custGeom xmlns:a="http://schemas.openxmlformats.org/drawingml/2006/main">
            <a:pathLst>
              <a:path w="64770" h="64770">
                <a:moveTo>
                  <a:pt x="64770" y="32385"/>
                </a:moveTo>
                <a:cubicBezTo>
                  <a:pt x="64770" y="50271"/>
                  <a:pt x="50271" y="64770"/>
                  <a:pt x="32385" y="64770"/>
                </a:cubicBezTo>
                <a:cubicBezTo>
                  <a:pt x="14499" y="64770"/>
                  <a:pt x="0" y="50271"/>
                  <a:pt x="0" y="32385"/>
                </a:cubicBezTo>
                <a:cubicBezTo>
                  <a:pt x="0" y="14499"/>
                  <a:pt x="14499" y="0"/>
                  <a:pt x="32385" y="0"/>
                </a:cubicBezTo>
                <a:cubicBezTo>
                  <a:pt x="50271" y="0"/>
                  <a:pt x="64770" y="14499"/>
                  <a:pt x="64770" y="323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06">
            <a:noFill/>
            <a:prstDash val="solid"/>
          </a:ln>
        </p:spPr>
      </p:sp>
      <p:sp>
        <p:nvSpPr>
          <p:cNvPr id="229" name="Navigation robot pulse">
            <a:extLst xmlns:a="http://schemas.openxmlformats.org/drawingml/2006/main">
              <a:ext uri="{FF2B5EF4-FFF2-40B4-BE49-F238E27FC236}">
                <a16:creationId xmlns:a16="http://schemas.microsoft.com/office/drawing/2014/main" id="{827CC00B-E984-415F-BA3D-1E5231BD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8978" y="7661121"/>
            <a:ext cx="322256" cy="151057"/>
          </a:xfrm>
          <a:custGeom xmlns:a="http://schemas.openxmlformats.org/drawingml/2006/main">
            <a:pathLst>
              <a:path w="304800" h="142875">
                <a:moveTo>
                  <a:pt x="0" y="57150"/>
                </a:moveTo>
                <a:lnTo>
                  <a:pt x="76200" y="57150"/>
                </a:lnTo>
                <a:lnTo>
                  <a:pt x="104775" y="0"/>
                </a:lnTo>
                <a:lnTo>
                  <a:pt x="152400" y="142875"/>
                </a:lnTo>
                <a:lnTo>
                  <a:pt x="200025" y="57150"/>
                </a:lnTo>
                <a:lnTo>
                  <a:pt x="257175" y="85725"/>
                </a:lnTo>
                <a:lnTo>
                  <a:pt x="30480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30211">
            <a:solidFill>
              <a:srgbClr val="FFFFFF"/>
            </a:solidFill>
            <a:prstDash val="solid"/>
          </a:ln>
        </p:spPr>
      </p:sp>
      <p:sp>
        <p:nvSpPr>
          <p:cNvPr id="230" name="Assign pseudo labels">
            <a:extLst xmlns:a="http://schemas.openxmlformats.org/drawingml/2006/main">
              <a:ext uri="{FF2B5EF4-FFF2-40B4-BE49-F238E27FC236}">
                <a16:creationId xmlns:a16="http://schemas.microsoft.com/office/drawing/2014/main" id="{FBE62920-4233-47AC-B89E-FF8D6C4E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2344" y="1397280"/>
            <a:ext cx="2497480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Assign pseudo labels</a:t>
            </a:r>
          </a:p>
        </p:txBody>
      </p:sp>
      <p:sp>
        <p:nvSpPr>
          <p:cNvPr id="231" name="Unlabeled data">
            <a:extLst xmlns:a="http://schemas.openxmlformats.org/drawingml/2006/main">
              <a:ext uri="{FF2B5EF4-FFF2-40B4-BE49-F238E27FC236}">
                <a16:creationId xmlns:a16="http://schemas.microsoft.com/office/drawing/2014/main" id="{2627CF1F-8FB6-40B5-975A-9B05D058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326" y="2484892"/>
            <a:ext cx="1812687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Unlabeled data</a:t>
            </a:r>
          </a:p>
        </p:txBody>
      </p:sp>
      <p:sp>
        <p:nvSpPr>
          <p:cNvPr id="232" name="Batching">
            <a:extLst xmlns:a="http://schemas.openxmlformats.org/drawingml/2006/main">
              <a:ext uri="{FF2B5EF4-FFF2-40B4-BE49-F238E27FC236}">
                <a16:creationId xmlns:a16="http://schemas.microsoft.com/office/drawing/2014/main" id="{ABC3CABB-895D-484A-9A05-17B174D5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374" y="4599694"/>
            <a:ext cx="1057401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Batching</a:t>
            </a:r>
          </a:p>
        </p:txBody>
      </p:sp>
      <p:sp>
        <p:nvSpPr>
          <p:cNvPr id="233" name="Shuffle">
            <a:extLst xmlns:a="http://schemas.openxmlformats.org/drawingml/2006/main">
              <a:ext uri="{FF2B5EF4-FFF2-40B4-BE49-F238E27FC236}">
                <a16:creationId xmlns:a16="http://schemas.microsoft.com/office/drawing/2014/main" id="{4FED471E-DA65-4359-B5EE-67119369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445" y="6110267"/>
            <a:ext cx="896273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Shuffle</a:t>
            </a:r>
          </a:p>
        </p:txBody>
      </p:sp>
      <p:sp>
        <p:nvSpPr>
          <p:cNvPr id="234" name="Relation Labels">
            <a:extLst xmlns:a="http://schemas.openxmlformats.org/drawingml/2006/main">
              <a:ext uri="{FF2B5EF4-FFF2-40B4-BE49-F238E27FC236}">
                <a16:creationId xmlns:a16="http://schemas.microsoft.com/office/drawing/2014/main" id="{75E54DB9-4790-4B90-BF32-973E0DB6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652" y="7983377"/>
            <a:ext cx="1802617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 Labels</a:t>
            </a:r>
          </a:p>
        </p:txBody>
      </p:sp>
      <p:sp>
        <p:nvSpPr>
          <p:cNvPr id="235" name="Constraints set">
            <a:extLst xmlns:a="http://schemas.openxmlformats.org/drawingml/2006/main">
              <a:ext uri="{FF2B5EF4-FFF2-40B4-BE49-F238E27FC236}">
                <a16:creationId xmlns:a16="http://schemas.microsoft.com/office/drawing/2014/main" id="{B96C947F-4BF1-4018-BE86-9766CE16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2555" y="2787007"/>
            <a:ext cx="1762335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Constraints set</a:t>
            </a:r>
          </a:p>
        </p:txBody>
      </p:sp>
      <p:sp>
        <p:nvSpPr>
          <p:cNvPr id="236" name="Refine D">
            <a:extLst xmlns:a="http://schemas.openxmlformats.org/drawingml/2006/main">
              <a:ext uri="{FF2B5EF4-FFF2-40B4-BE49-F238E27FC236}">
                <a16:creationId xmlns:a16="http://schemas.microsoft.com/office/drawing/2014/main" id="{8B81316E-3EC9-4038-BE0B-23C47643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467" y="2041791"/>
            <a:ext cx="1137965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Refine D</a:t>
            </a:r>
          </a:p>
        </p:txBody>
      </p:sp>
      <p:sp>
        <p:nvSpPr>
          <p:cNvPr id="237" name="Extract&#10;features">
            <a:extLst xmlns:a="http://schemas.openxmlformats.org/drawingml/2006/main">
              <a:ext uri="{FF2B5EF4-FFF2-40B4-BE49-F238E27FC236}">
                <a16:creationId xmlns:a16="http://schemas.microsoft.com/office/drawing/2014/main" id="{E0151DAC-F66F-4D8E-A0B8-8EBAFC05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6705" y="3300601"/>
            <a:ext cx="1137965" cy="644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Extract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238" name="Features">
            <a:extLst xmlns:a="http://schemas.openxmlformats.org/drawingml/2006/main">
              <a:ext uri="{FF2B5EF4-FFF2-40B4-BE49-F238E27FC236}">
                <a16:creationId xmlns:a16="http://schemas.microsoft.com/office/drawing/2014/main" id="{42328D37-5A98-4A60-80F0-9D7FC29F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5022" y="4146522"/>
            <a:ext cx="1127894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239" name="Distance matrix">
            <a:extLst xmlns:a="http://schemas.openxmlformats.org/drawingml/2006/main">
              <a:ext uri="{FF2B5EF4-FFF2-40B4-BE49-F238E27FC236}">
                <a16:creationId xmlns:a16="http://schemas.microsoft.com/office/drawing/2014/main" id="{6B1AB534-42F7-48C7-8651-4438D041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5877" y="4146522"/>
            <a:ext cx="1812687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Distance matrix</a:t>
            </a:r>
          </a:p>
        </p:txBody>
      </p:sp>
      <p:sp>
        <p:nvSpPr>
          <p:cNvPr id="240" name="Clusters">
            <a:extLst xmlns:a="http://schemas.openxmlformats.org/drawingml/2006/main">
              <a:ext uri="{FF2B5EF4-FFF2-40B4-BE49-F238E27FC236}">
                <a16:creationId xmlns:a16="http://schemas.microsoft.com/office/drawing/2014/main" id="{C3A84F7C-B232-40B9-BE6E-8162A27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8282" y="4146522"/>
            <a:ext cx="1007048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241" name="1  2  3 ... N">
            <a:extLst xmlns:a="http://schemas.openxmlformats.org/drawingml/2006/main">
              <a:ext uri="{FF2B5EF4-FFF2-40B4-BE49-F238E27FC236}">
                <a16:creationId xmlns:a16="http://schemas.microsoft.com/office/drawing/2014/main" id="{5AA5B6AD-CC19-415B-B8EB-31DF85D0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9119" y="2746725"/>
            <a:ext cx="1168176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 2  3 ... N</a:t>
            </a:r>
          </a:p>
        </p:txBody>
      </p:sp>
      <p:sp>
        <p:nvSpPr>
          <p:cNvPr id="242" name="1">
            <a:extLst xmlns:a="http://schemas.openxmlformats.org/drawingml/2006/main">
              <a:ext uri="{FF2B5EF4-FFF2-40B4-BE49-F238E27FC236}">
                <a16:creationId xmlns:a16="http://schemas.microsoft.com/office/drawing/2014/main" id="{62834BB1-5687-4576-B7EE-B208EFF1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7568" y="3018628"/>
            <a:ext cx="140987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3" name="2">
            <a:extLst xmlns:a="http://schemas.openxmlformats.org/drawingml/2006/main">
              <a:ext uri="{FF2B5EF4-FFF2-40B4-BE49-F238E27FC236}">
                <a16:creationId xmlns:a16="http://schemas.microsoft.com/office/drawing/2014/main" id="{849B75E0-3533-48B8-8050-34CA7FCA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7568" y="3270390"/>
            <a:ext cx="140987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4" name="3">
            <a:extLst xmlns:a="http://schemas.openxmlformats.org/drawingml/2006/main">
              <a:ext uri="{FF2B5EF4-FFF2-40B4-BE49-F238E27FC236}">
                <a16:creationId xmlns:a16="http://schemas.microsoft.com/office/drawing/2014/main" id="{CE378C61-FD62-4163-9105-4EA2CECB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7568" y="3522152"/>
            <a:ext cx="140987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5" name="...">
            <a:extLst xmlns:a="http://schemas.openxmlformats.org/drawingml/2006/main">
              <a:ext uri="{FF2B5EF4-FFF2-40B4-BE49-F238E27FC236}">
                <a16:creationId xmlns:a16="http://schemas.microsoft.com/office/drawing/2014/main" id="{184831B2-E7BA-44FB-9B2F-6D9060BC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7145" y="3753773"/>
            <a:ext cx="201410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46" name="N">
            <a:extLst xmlns:a="http://schemas.openxmlformats.org/drawingml/2006/main">
              <a:ext uri="{FF2B5EF4-FFF2-40B4-BE49-F238E27FC236}">
                <a16:creationId xmlns:a16="http://schemas.microsoft.com/office/drawing/2014/main" id="{AAF2FF7B-35AC-4546-A38D-03BACE96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7568" y="3945112"/>
            <a:ext cx="151057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47" name="√">
            <a:extLst xmlns:a="http://schemas.openxmlformats.org/drawingml/2006/main">
              <a:ext uri="{FF2B5EF4-FFF2-40B4-BE49-F238E27FC236}">
                <a16:creationId xmlns:a16="http://schemas.microsoft.com/office/drawing/2014/main" id="{828FF944-451A-42AD-BDE7-6313E959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4811" y="1981368"/>
            <a:ext cx="221551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√</a:t>
            </a:r>
          </a:p>
        </p:txBody>
      </p:sp>
      <p:sp>
        <p:nvSpPr>
          <p:cNvPr id="248" name="×">
            <a:extLst xmlns:a="http://schemas.openxmlformats.org/drawingml/2006/main">
              <a:ext uri="{FF2B5EF4-FFF2-40B4-BE49-F238E27FC236}">
                <a16:creationId xmlns:a16="http://schemas.microsoft.com/office/drawing/2014/main" id="{2F999D64-09ED-4F5E-85C2-52258958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9110" y="1991438"/>
            <a:ext cx="181269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49" name="×">
            <a:extLst xmlns:a="http://schemas.openxmlformats.org/drawingml/2006/main">
              <a:ext uri="{FF2B5EF4-FFF2-40B4-BE49-F238E27FC236}">
                <a16:creationId xmlns:a16="http://schemas.microsoft.com/office/drawing/2014/main" id="{E0956B5F-C1C5-4FE0-9B06-D95CDC1E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5515" y="2313694"/>
            <a:ext cx="191339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50" name="√">
            <a:extLst xmlns:a="http://schemas.openxmlformats.org/drawingml/2006/main">
              <a:ext uri="{FF2B5EF4-FFF2-40B4-BE49-F238E27FC236}">
                <a16:creationId xmlns:a16="http://schemas.microsoft.com/office/drawing/2014/main" id="{5A8295DE-05B5-40F0-9F2B-9718E633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9885" y="2364046"/>
            <a:ext cx="221551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√</a:t>
            </a:r>
          </a:p>
        </p:txBody>
      </p:sp>
      <p:sp>
        <p:nvSpPr>
          <p:cNvPr id="251" name="L">
            <a:extLst xmlns:a="http://schemas.openxmlformats.org/drawingml/2006/main">
              <a:ext uri="{FF2B5EF4-FFF2-40B4-BE49-F238E27FC236}">
                <a16:creationId xmlns:a16="http://schemas.microsoft.com/office/drawing/2014/main" id="{E95CB60D-0741-42E4-84DB-916E1720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9189" y="4680258"/>
            <a:ext cx="221551" cy="437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252" name="cluster">
            <a:extLst xmlns:a="http://schemas.openxmlformats.org/drawingml/2006/main">
              <a:ext uri="{FF2B5EF4-FFF2-40B4-BE49-F238E27FC236}">
                <a16:creationId xmlns:a16="http://schemas.microsoft.com/office/drawing/2014/main" id="{5EDE212A-2DA6-4D1E-8938-AF2D64A7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0529" y="4841385"/>
            <a:ext cx="755286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cluster</a:t>
            </a:r>
          </a:p>
        </p:txBody>
      </p:sp>
      <p:sp>
        <p:nvSpPr>
          <p:cNvPr id="253" name="Style&#10;Encoder">
            <a:extLst xmlns:a="http://schemas.openxmlformats.org/drawingml/2006/main">
              <a:ext uri="{FF2B5EF4-FFF2-40B4-BE49-F238E27FC236}">
                <a16:creationId xmlns:a16="http://schemas.microsoft.com/office/drawing/2014/main" id="{88AE4DD2-4B61-40E0-AE6D-ACD1FC3A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7269" y="5183782"/>
            <a:ext cx="1017119" cy="654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Style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54" name="Style&#10;Encoder">
            <a:extLst xmlns:a="http://schemas.openxmlformats.org/drawingml/2006/main">
              <a:ext uri="{FF2B5EF4-FFF2-40B4-BE49-F238E27FC236}">
                <a16:creationId xmlns:a16="http://schemas.microsoft.com/office/drawing/2014/main" id="{25BB92AE-F2D2-4F28-A3FD-F6BA8916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7339" y="6724566"/>
            <a:ext cx="1017119" cy="654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Style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55" name="E">
            <a:extLst xmlns:a="http://schemas.openxmlformats.org/drawingml/2006/main">
              <a:ext uri="{FF2B5EF4-FFF2-40B4-BE49-F238E27FC236}">
                <a16:creationId xmlns:a16="http://schemas.microsoft.com/office/drawing/2014/main" id="{4538EF4C-FCE4-44FB-8BB9-B5B8AE14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9454" y="6120337"/>
            <a:ext cx="241692" cy="40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256" name="s">
            <a:extLst xmlns:a="http://schemas.openxmlformats.org/drawingml/2006/main">
              <a:ext uri="{FF2B5EF4-FFF2-40B4-BE49-F238E27FC236}">
                <a16:creationId xmlns:a16="http://schemas.microsoft.com/office/drawing/2014/main" id="{CA0B8B1A-01BD-4E9E-A13E-2EE974A2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0722" y="6291535"/>
            <a:ext cx="140987" cy="239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257" name="Relation&#10;Network">
            <a:extLst xmlns:a="http://schemas.openxmlformats.org/drawingml/2006/main">
              <a:ext uri="{FF2B5EF4-FFF2-40B4-BE49-F238E27FC236}">
                <a16:creationId xmlns:a16="http://schemas.microsoft.com/office/drawing/2014/main" id="{7B162DB8-B3D4-4FFE-970E-A70CA67D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99189" y="5888716"/>
            <a:ext cx="1107753" cy="62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258" name="E">
            <a:extLst xmlns:a="http://schemas.openxmlformats.org/drawingml/2006/main">
              <a:ext uri="{FF2B5EF4-FFF2-40B4-BE49-F238E27FC236}">
                <a16:creationId xmlns:a16="http://schemas.microsoft.com/office/drawing/2014/main" id="{D74AD8F4-96E3-4F81-A489-E4B1EC0A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2432" y="6845412"/>
            <a:ext cx="241692" cy="40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259" name="r">
            <a:extLst xmlns:a="http://schemas.openxmlformats.org/drawingml/2006/main">
              <a:ext uri="{FF2B5EF4-FFF2-40B4-BE49-F238E27FC236}">
                <a16:creationId xmlns:a16="http://schemas.microsoft.com/office/drawing/2014/main" id="{E2548581-5A62-4247-B8BB-168B97D0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3700" y="7016610"/>
            <a:ext cx="140987" cy="239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60" name="L">
            <a:extLst xmlns:a="http://schemas.openxmlformats.org/drawingml/2006/main">
              <a:ext uri="{FF2B5EF4-FFF2-40B4-BE49-F238E27FC236}">
                <a16:creationId xmlns:a16="http://schemas.microsoft.com/office/drawing/2014/main" id="{7FF6156C-C7F9-4598-86E3-16E87A8C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4960" y="7973306"/>
            <a:ext cx="231621" cy="437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58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261" name="pred">
            <a:extLst xmlns:a="http://schemas.openxmlformats.org/drawingml/2006/main">
              <a:ext uri="{FF2B5EF4-FFF2-40B4-BE49-F238E27FC236}">
                <a16:creationId xmlns:a16="http://schemas.microsoft.com/office/drawing/2014/main" id="{152206A9-947F-4BAA-B37C-BE53237A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6370" y="8144504"/>
            <a:ext cx="574018" cy="28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pred</a:t>
            </a:r>
          </a:p>
        </p:txBody>
      </p:sp>
      <p:sp>
        <p:nvSpPr>
          <p:cNvPr id="262" name="Environment">
            <a:extLst xmlns:a="http://schemas.openxmlformats.org/drawingml/2006/main">
              <a:ext uri="{FF2B5EF4-FFF2-40B4-BE49-F238E27FC236}">
                <a16:creationId xmlns:a16="http://schemas.microsoft.com/office/drawing/2014/main" id="{85A1C92C-E678-4174-8AEA-0E5DB122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7894" y="1266363"/>
            <a:ext cx="1671700" cy="366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263" name="RGB Observation (">
            <a:extLst xmlns:a="http://schemas.openxmlformats.org/drawingml/2006/main">
              <a:ext uri="{FF2B5EF4-FFF2-40B4-BE49-F238E27FC236}">
                <a16:creationId xmlns:a16="http://schemas.microsoft.com/office/drawing/2014/main" id="{79F4805C-22CC-4A89-A48E-EA716186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6811" y="1981368"/>
            <a:ext cx="2114802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RGB Observation (</a:t>
            </a:r>
          </a:p>
        </p:txBody>
      </p:sp>
      <p:sp>
        <p:nvSpPr>
          <p:cNvPr id="264" name="I">
            <a:extLst xmlns:a="http://schemas.openxmlformats.org/drawingml/2006/main">
              <a:ext uri="{FF2B5EF4-FFF2-40B4-BE49-F238E27FC236}">
                <a16:creationId xmlns:a16="http://schemas.microsoft.com/office/drawing/2014/main" id="{0999D1BB-FC0B-4D83-A019-696A4D22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1471" y="1981368"/>
            <a:ext cx="181269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65" name="t">
            <a:extLst xmlns:a="http://schemas.openxmlformats.org/drawingml/2006/main">
              <a:ext uri="{FF2B5EF4-FFF2-40B4-BE49-F238E27FC236}">
                <a16:creationId xmlns:a16="http://schemas.microsoft.com/office/drawing/2014/main" id="{C7835A77-F0B7-412C-AF4A-6D6AB0B2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2247" y="2122355"/>
            <a:ext cx="120846" cy="225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66" name=")">
            <a:extLst xmlns:a="http://schemas.openxmlformats.org/drawingml/2006/main">
              <a:ext uri="{FF2B5EF4-FFF2-40B4-BE49-F238E27FC236}">
                <a16:creationId xmlns:a16="http://schemas.microsoft.com/office/drawing/2014/main" id="{93FE459A-76F2-42C2-A55A-F93DE2AF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3022" y="1981368"/>
            <a:ext cx="120846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267" name="Room-expert">
            <a:extLst xmlns:a="http://schemas.openxmlformats.org/drawingml/2006/main">
              <a:ext uri="{FF2B5EF4-FFF2-40B4-BE49-F238E27FC236}">
                <a16:creationId xmlns:a16="http://schemas.microsoft.com/office/drawing/2014/main" id="{37A41852-3CE0-4638-90A4-D9D01F69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5225" y="2041791"/>
            <a:ext cx="1822758" cy="4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Room-expert</a:t>
            </a:r>
          </a:p>
        </p:txBody>
      </p:sp>
      <p:sp>
        <p:nvSpPr>
          <p:cNvPr id="268" name="Style&#10;Encoder">
            <a:extLst xmlns:a="http://schemas.openxmlformats.org/drawingml/2006/main">
              <a:ext uri="{FF2B5EF4-FFF2-40B4-BE49-F238E27FC236}">
                <a16:creationId xmlns:a16="http://schemas.microsoft.com/office/drawing/2014/main" id="{F7D86666-BCA8-4DEF-B721-8AE7B61F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6828" y="2615808"/>
            <a:ext cx="1077542" cy="654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Style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69" name="Style&#10;Encoder">
            <a:extLst xmlns:a="http://schemas.openxmlformats.org/drawingml/2006/main">
              <a:ext uri="{FF2B5EF4-FFF2-40B4-BE49-F238E27FC236}">
                <a16:creationId xmlns:a16="http://schemas.microsoft.com/office/drawing/2014/main" id="{B3B0E0F7-8A88-4E93-B32B-8A790BE1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6828" y="4478848"/>
            <a:ext cx="1077542" cy="654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Style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70" name="Share weights">
            <a:extLst xmlns:a="http://schemas.openxmlformats.org/drawingml/2006/main">
              <a:ext uri="{FF2B5EF4-FFF2-40B4-BE49-F238E27FC236}">
                <a16:creationId xmlns:a16="http://schemas.microsoft.com/office/drawing/2014/main" id="{7A4E231A-4380-45C4-9B8C-A3D4AF60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670" y="3763844"/>
            <a:ext cx="1832828" cy="33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weights</a:t>
            </a:r>
          </a:p>
        </p:txBody>
      </p:sp>
      <p:sp>
        <p:nvSpPr>
          <p:cNvPr id="271" name="Relation&#10;Network">
            <a:extLst xmlns:a="http://schemas.openxmlformats.org/drawingml/2006/main">
              <a:ext uri="{FF2B5EF4-FFF2-40B4-BE49-F238E27FC236}">
                <a16:creationId xmlns:a16="http://schemas.microsoft.com/office/drawing/2014/main" id="{292C4580-80D3-4D2B-B96C-5C92896B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474308" y="3552363"/>
            <a:ext cx="1137965" cy="644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272" name="Goal Image (">
            <a:extLst xmlns:a="http://schemas.openxmlformats.org/drawingml/2006/main">
              <a:ext uri="{FF2B5EF4-FFF2-40B4-BE49-F238E27FC236}">
                <a16:creationId xmlns:a16="http://schemas.microsoft.com/office/drawing/2014/main" id="{DECBB409-C951-4808-AC79-2BA228FD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8714" y="5485896"/>
            <a:ext cx="1490432" cy="36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Goal Image (</a:t>
            </a:r>
          </a:p>
        </p:txBody>
      </p:sp>
      <p:sp>
        <p:nvSpPr>
          <p:cNvPr id="273" name="I">
            <a:extLst xmlns:a="http://schemas.openxmlformats.org/drawingml/2006/main">
              <a:ext uri="{FF2B5EF4-FFF2-40B4-BE49-F238E27FC236}">
                <a16:creationId xmlns:a16="http://schemas.microsoft.com/office/drawing/2014/main" id="{7B368EAB-317E-49B9-A035-D2E303F2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8863" y="5485896"/>
            <a:ext cx="181269" cy="36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74" name="g">
            <a:extLst xmlns:a="http://schemas.openxmlformats.org/drawingml/2006/main">
              <a:ext uri="{FF2B5EF4-FFF2-40B4-BE49-F238E27FC236}">
                <a16:creationId xmlns:a16="http://schemas.microsoft.com/office/drawing/2014/main" id="{AFD9553C-0801-49C8-9E8B-0D98D29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9568" y="5636954"/>
            <a:ext cx="151057" cy="225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275" name=")">
            <a:extLst xmlns:a="http://schemas.openxmlformats.org/drawingml/2006/main">
              <a:ext uri="{FF2B5EF4-FFF2-40B4-BE49-F238E27FC236}">
                <a16:creationId xmlns:a16="http://schemas.microsoft.com/office/drawing/2014/main" id="{991A36CB-2255-48D5-9DDA-5A3F2676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0485" y="5485896"/>
            <a:ext cx="130916" cy="36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276" name="Channel Concatenate">
            <a:extLst xmlns:a="http://schemas.openxmlformats.org/drawingml/2006/main">
              <a:ext uri="{FF2B5EF4-FFF2-40B4-BE49-F238E27FC236}">
                <a16:creationId xmlns:a16="http://schemas.microsoft.com/office/drawing/2014/main" id="{0FFD0792-7A77-4F2D-9A26-96CBE8F1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6811" y="8134434"/>
            <a:ext cx="2578044" cy="37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Channel Concatenate</a:t>
            </a:r>
          </a:p>
        </p:txBody>
      </p:sp>
      <p:sp>
        <p:nvSpPr>
          <p:cNvPr id="277" name="ResNet-9">
            <a:extLst xmlns:a="http://schemas.openxmlformats.org/drawingml/2006/main">
              <a:ext uri="{FF2B5EF4-FFF2-40B4-BE49-F238E27FC236}">
                <a16:creationId xmlns:a16="http://schemas.microsoft.com/office/drawing/2014/main" id="{8FA43529-9A1F-476B-B4E8-7DCC344A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6758" y="6966258"/>
            <a:ext cx="1218529" cy="366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ResNet-9</a:t>
            </a:r>
          </a:p>
        </p:txBody>
      </p:sp>
      <p:sp>
        <p:nvSpPr>
          <p:cNvPr id="278" name="Flatten">
            <a:extLst xmlns:a="http://schemas.openxmlformats.org/drawingml/2006/main">
              <a:ext uri="{FF2B5EF4-FFF2-40B4-BE49-F238E27FC236}">
                <a16:creationId xmlns:a16="http://schemas.microsoft.com/office/drawing/2014/main" id="{AC719BD5-F97C-41B2-8131-7CE13872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635436" y="6915905"/>
            <a:ext cx="1017119" cy="39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2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Flatten</a:t>
            </a:r>
          </a:p>
        </p:txBody>
      </p:sp>
      <p:sp>
        <p:nvSpPr>
          <p:cNvPr id="279" name="v">
            <a:extLst xmlns:a="http://schemas.openxmlformats.org/drawingml/2006/main">
              <a:ext uri="{FF2B5EF4-FFF2-40B4-BE49-F238E27FC236}">
                <a16:creationId xmlns:a16="http://schemas.microsoft.com/office/drawing/2014/main" id="{D46DFDCF-57A1-403F-B7D8-2067F76D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3894" y="5848434"/>
            <a:ext cx="201410" cy="40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280" name="vis">
            <a:extLst xmlns:a="http://schemas.openxmlformats.org/drawingml/2006/main">
              <a:ext uri="{FF2B5EF4-FFF2-40B4-BE49-F238E27FC236}">
                <a16:creationId xmlns:a16="http://schemas.microsoft.com/office/drawing/2014/main" id="{06CF5864-D1A1-4D53-AC87-AC505318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05022" y="6009562"/>
            <a:ext cx="382678" cy="25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</a:t>
            </a:r>
          </a:p>
        </p:txBody>
      </p:sp>
      <p:sp>
        <p:nvSpPr>
          <p:cNvPr id="281" name="Visual Feature Extractor">
            <a:extLst xmlns:a="http://schemas.openxmlformats.org/drawingml/2006/main">
              <a:ext uri="{FF2B5EF4-FFF2-40B4-BE49-F238E27FC236}">
                <a16:creationId xmlns:a16="http://schemas.microsoft.com/office/drawing/2014/main" id="{F9ED6A3D-7F08-4216-934E-E439417C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2326" y="8134434"/>
            <a:ext cx="3212485" cy="4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 Feature Extractor</a:t>
            </a:r>
          </a:p>
        </p:txBody>
      </p:sp>
      <p:sp>
        <p:nvSpPr>
          <p:cNvPr id="282" name="E">
            <a:extLst xmlns:a="http://schemas.openxmlformats.org/drawingml/2006/main">
              <a:ext uri="{FF2B5EF4-FFF2-40B4-BE49-F238E27FC236}">
                <a16:creationId xmlns:a16="http://schemas.microsoft.com/office/drawing/2014/main" id="{8509DA42-97CE-4325-B891-2B0C4EF0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35233" y="8134434"/>
            <a:ext cx="261833" cy="4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79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283" name="v">
            <a:extLst xmlns:a="http://schemas.openxmlformats.org/drawingml/2006/main">
              <a:ext uri="{FF2B5EF4-FFF2-40B4-BE49-F238E27FC236}">
                <a16:creationId xmlns:a16="http://schemas.microsoft.com/office/drawing/2014/main" id="{6FAA788E-FFBB-4445-9A07-8DEEF245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36643" y="8335844"/>
            <a:ext cx="201410" cy="25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284" name="Actions (aₜ)">
            <a:extLst xmlns:a="http://schemas.openxmlformats.org/drawingml/2006/main">
              <a:ext uri="{FF2B5EF4-FFF2-40B4-BE49-F238E27FC236}">
                <a16:creationId xmlns:a16="http://schemas.microsoft.com/office/drawing/2014/main" id="{8A637F33-3BD1-4F89-BA66-343184F4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15595" y="3582575"/>
            <a:ext cx="1440079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 (aₜ)</a:t>
            </a:r>
          </a:p>
        </p:txBody>
      </p:sp>
      <p:sp>
        <p:nvSpPr>
          <p:cNvPr id="285" name="Actor">
            <a:extLst xmlns:a="http://schemas.openxmlformats.org/drawingml/2006/main">
              <a:ext uri="{FF2B5EF4-FFF2-40B4-BE49-F238E27FC236}">
                <a16:creationId xmlns:a16="http://schemas.microsoft.com/office/drawing/2014/main" id="{2ED99EF1-56B0-4678-9A62-365B8C5D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3833" y="4680258"/>
            <a:ext cx="725075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Actor</a:t>
            </a:r>
          </a:p>
        </p:txBody>
      </p:sp>
      <p:sp>
        <p:nvSpPr>
          <p:cNvPr id="286" name="Critic">
            <a:extLst xmlns:a="http://schemas.openxmlformats.org/drawingml/2006/main">
              <a:ext uri="{FF2B5EF4-FFF2-40B4-BE49-F238E27FC236}">
                <a16:creationId xmlns:a16="http://schemas.microsoft.com/office/drawing/2014/main" id="{DA53743E-DCB5-4956-9DA6-6A4A2412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21938" y="4680258"/>
            <a:ext cx="644511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Critic</a:t>
            </a:r>
          </a:p>
        </p:txBody>
      </p:sp>
      <p:sp>
        <p:nvSpPr>
          <p:cNvPr id="287" name="Navigation&#10;policy π">
            <a:extLst xmlns:a="http://schemas.openxmlformats.org/drawingml/2006/main">
              <a:ext uri="{FF2B5EF4-FFF2-40B4-BE49-F238E27FC236}">
                <a16:creationId xmlns:a16="http://schemas.microsoft.com/office/drawing/2014/main" id="{51366138-72B5-4240-B90C-B2B7C798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85383" y="5274416"/>
            <a:ext cx="1379656" cy="654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Navigation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π</a:t>
            </a:r>
          </a:p>
        </p:txBody>
      </p:sp>
      <p:sp>
        <p:nvSpPr>
          <p:cNvPr id="288" name="Reward (rₜ)">
            <a:extLst xmlns:a="http://schemas.openxmlformats.org/drawingml/2006/main">
              <a:ext uri="{FF2B5EF4-FFF2-40B4-BE49-F238E27FC236}">
                <a16:creationId xmlns:a16="http://schemas.microsoft.com/office/drawing/2014/main" id="{71D45B5D-1C56-48FA-8D82-DAD29E83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15595" y="6593650"/>
            <a:ext cx="1460220" cy="35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Reward (rₜ)</a:t>
            </a:r>
          </a:p>
        </p:txBody>
      </p:sp>
      <p:sp>
        <p:nvSpPr>
          <p:cNvPr id="289" name="(a) Offline Pre-training of Room Expert">
            <a:extLst xmlns:a="http://schemas.openxmlformats.org/drawingml/2006/main">
              <a:ext uri="{FF2B5EF4-FFF2-40B4-BE49-F238E27FC236}">
                <a16:creationId xmlns:a16="http://schemas.microsoft.com/office/drawing/2014/main" id="{46087B6C-4F94-4B83-88CB-DF7B9C33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066" y="8819227"/>
            <a:ext cx="5156088" cy="4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Offline Pre-training of Room Expert</a:t>
            </a:r>
          </a:p>
        </p:txBody>
      </p:sp>
      <p:sp>
        <p:nvSpPr>
          <p:cNvPr id="290" name="(b) Image-goal Navigation Architecture with Room Expert">
            <a:extLst xmlns:a="http://schemas.openxmlformats.org/drawingml/2006/main">
              <a:ext uri="{FF2B5EF4-FFF2-40B4-BE49-F238E27FC236}">
                <a16:creationId xmlns:a16="http://schemas.microsoft.com/office/drawing/2014/main" id="{7178F0A5-27DA-4A95-84B8-3766052E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075" y="8819227"/>
            <a:ext cx="7593145" cy="4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Image-goal Navigation Architecture with Room Expert</a:t>
            </a:r>
          </a:p>
        </p:txBody>
      </p:sp>
    </p:spTree>
    <p:extLst>
      <p:ext uri="{BB962C8B-B14F-4D97-AF65-F5344CB8AC3E}">
        <p14:creationId xmlns:p14="http://schemas.microsoft.com/office/powerpoint/2010/main" val="1679496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2026-10-14T12:38:04.7360000Z</dcterms:created>
  <dcterms:modified xsi:type="dcterms:W3CDTF">2026-10-14T12:38:04.7360000Z</dcterms:modified>
</coreProperties>
</file>